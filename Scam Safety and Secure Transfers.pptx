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59" r:id="rId3"/>
    <p:sldId id="258" r:id="rId4"/>
    <p:sldId id="257" r:id="rId5"/>
    <p:sldId id="260" r:id="rId6"/>
    <p:sldId id="262" r:id="rId7"/>
    <p:sldId id="263" r:id="rId8"/>
    <p:sldId id="264" r:id="rId9"/>
    <p:sldId id="289" r:id="rId10"/>
    <p:sldId id="266" r:id="rId11"/>
    <p:sldId id="267" r:id="rId12"/>
    <p:sldId id="268" r:id="rId13"/>
    <p:sldId id="269" r:id="rId14"/>
    <p:sldId id="265" r:id="rId15"/>
    <p:sldId id="272" r:id="rId16"/>
    <p:sldId id="271" r:id="rId17"/>
    <p:sldId id="273" r:id="rId18"/>
    <p:sldId id="270" r:id="rId19"/>
    <p:sldId id="290" r:id="rId20"/>
    <p:sldId id="279" r:id="rId21"/>
    <p:sldId id="274" r:id="rId22"/>
    <p:sldId id="275" r:id="rId23"/>
    <p:sldId id="276" r:id="rId24"/>
    <p:sldId id="277" r:id="rId25"/>
    <p:sldId id="278" r:id="rId26"/>
    <p:sldId id="280" r:id="rId27"/>
    <p:sldId id="281" r:id="rId28"/>
    <p:sldId id="282" r:id="rId29"/>
    <p:sldId id="286" r:id="rId30"/>
    <p:sldId id="283" r:id="rId31"/>
    <p:sldId id="284" r:id="rId32"/>
    <p:sldId id="285" r:id="rId33"/>
    <p:sldId id="287" r:id="rId34"/>
    <p:sldId id="288" r:id="rId35"/>
    <p:sldId id="26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A0EEF-2970-41B8-A68A-A29EC3944612}" v="120" dt="2025-08-06T01:50:31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3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Fermanis" userId="031a20316c3f5b33" providerId="LiveId" clId="{206A0EEF-2970-41B8-A68A-A29EC3944612}"/>
    <pc:docChg chg="custSel addSld modSld sldOrd">
      <pc:chgData name="William Fermanis" userId="031a20316c3f5b33" providerId="LiveId" clId="{206A0EEF-2970-41B8-A68A-A29EC3944612}" dt="2025-08-06T01:50:31.905" v="430" actId="20577"/>
      <pc:docMkLst>
        <pc:docMk/>
      </pc:docMkLst>
      <pc:sldChg chg="modSp mod">
        <pc:chgData name="William Fermanis" userId="031a20316c3f5b33" providerId="LiveId" clId="{206A0EEF-2970-41B8-A68A-A29EC3944612}" dt="2025-08-06T01:50:31.905" v="430" actId="20577"/>
        <pc:sldMkLst>
          <pc:docMk/>
          <pc:sldMk cId="419258243" sldId="268"/>
        </pc:sldMkLst>
        <pc:spChg chg="mod">
          <ac:chgData name="William Fermanis" userId="031a20316c3f5b33" providerId="LiveId" clId="{206A0EEF-2970-41B8-A68A-A29EC3944612}" dt="2025-08-06T01:50:31.905" v="430" actId="20577"/>
          <ac:spMkLst>
            <pc:docMk/>
            <pc:sldMk cId="419258243" sldId="268"/>
            <ac:spMk id="6" creationId="{3AC36635-D320-BA26-4621-814641C57559}"/>
          </ac:spMkLst>
        </pc:spChg>
      </pc:sldChg>
      <pc:sldChg chg="modSp add mod ord">
        <pc:chgData name="William Fermanis" userId="031a20316c3f5b33" providerId="LiveId" clId="{206A0EEF-2970-41B8-A68A-A29EC3944612}" dt="2025-08-06T00:28:57.853" v="309" actId="20577"/>
        <pc:sldMkLst>
          <pc:docMk/>
          <pc:sldMk cId="1328195030" sldId="290"/>
        </pc:sldMkLst>
        <pc:spChg chg="mod">
          <ac:chgData name="William Fermanis" userId="031a20316c3f5b33" providerId="LiveId" clId="{206A0EEF-2970-41B8-A68A-A29EC3944612}" dt="2025-08-06T00:28:57.853" v="309" actId="20577"/>
          <ac:spMkLst>
            <pc:docMk/>
            <pc:sldMk cId="1328195030" sldId="290"/>
            <ac:spMk id="2" creationId="{A4346418-E1E9-14CC-BEE8-68B3BC1B4DBC}"/>
          </ac:spMkLst>
        </pc:spChg>
        <pc:spChg chg="mod">
          <ac:chgData name="William Fermanis" userId="031a20316c3f5b33" providerId="LiveId" clId="{206A0EEF-2970-41B8-A68A-A29EC3944612}" dt="2025-08-06T00:27:41.519" v="11" actId="20577"/>
          <ac:spMkLst>
            <pc:docMk/>
            <pc:sldMk cId="1328195030" sldId="290"/>
            <ac:spMk id="6" creationId="{4C64D6EA-0908-BB33-7E58-005C398D42EE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5BFD39-9B33-4B25-9283-65186810017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97A3B65E-7A03-45D0-9129-27C6DCF9D3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NZ"/>
            <a:t>Initial Encounters</a:t>
          </a:r>
          <a:endParaRPr lang="en-US"/>
        </a:p>
      </dgm:t>
    </dgm:pt>
    <dgm:pt modelId="{E681AA1A-7C3D-4910-9C0A-E3216B7495C6}" type="parTrans" cxnId="{CDBE7C73-2DBD-48BF-A3EF-327653937664}">
      <dgm:prSet/>
      <dgm:spPr/>
      <dgm:t>
        <a:bodyPr/>
        <a:lstStyle/>
        <a:p>
          <a:endParaRPr lang="en-US"/>
        </a:p>
      </dgm:t>
    </dgm:pt>
    <dgm:pt modelId="{60F0429C-F6A4-4B74-9F7B-A5625A0EB015}" type="sibTrans" cxnId="{CDBE7C73-2DBD-48BF-A3EF-327653937664}">
      <dgm:prSet/>
      <dgm:spPr/>
      <dgm:t>
        <a:bodyPr/>
        <a:lstStyle/>
        <a:p>
          <a:endParaRPr lang="en-US"/>
        </a:p>
      </dgm:t>
    </dgm:pt>
    <dgm:pt modelId="{FA526422-A429-43F7-A93F-7C134048615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NZ"/>
            <a:t>How to Verify</a:t>
          </a:r>
          <a:endParaRPr lang="en-US"/>
        </a:p>
      </dgm:t>
    </dgm:pt>
    <dgm:pt modelId="{440ED92B-8767-4A74-9BD6-2F0AE9A55D70}" type="parTrans" cxnId="{5D9832AA-7733-4CD3-851A-2E2DF0556675}">
      <dgm:prSet/>
      <dgm:spPr/>
      <dgm:t>
        <a:bodyPr/>
        <a:lstStyle/>
        <a:p>
          <a:endParaRPr lang="en-US"/>
        </a:p>
      </dgm:t>
    </dgm:pt>
    <dgm:pt modelId="{4D99E5B0-F78F-4FA9-989E-FD5A17D0BEDE}" type="sibTrans" cxnId="{5D9832AA-7733-4CD3-851A-2E2DF0556675}">
      <dgm:prSet/>
      <dgm:spPr/>
      <dgm:t>
        <a:bodyPr/>
        <a:lstStyle/>
        <a:p>
          <a:endParaRPr lang="en-US"/>
        </a:p>
      </dgm:t>
    </dgm:pt>
    <dgm:pt modelId="{38F37C66-327C-4334-919F-F54CAD950C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NZ" dirty="0"/>
            <a:t>Buying/Selling safely</a:t>
          </a:r>
          <a:endParaRPr lang="en-US" dirty="0"/>
        </a:p>
      </dgm:t>
    </dgm:pt>
    <dgm:pt modelId="{FC14D6F1-9431-4591-A6B3-6760DB0EDCC3}" type="parTrans" cxnId="{A16910AA-3885-4ED1-ADD0-4381B6D7A735}">
      <dgm:prSet/>
      <dgm:spPr/>
      <dgm:t>
        <a:bodyPr/>
        <a:lstStyle/>
        <a:p>
          <a:endParaRPr lang="en-US"/>
        </a:p>
      </dgm:t>
    </dgm:pt>
    <dgm:pt modelId="{A9E0A41C-28B3-47F3-A69D-4364A8FADC35}" type="sibTrans" cxnId="{A16910AA-3885-4ED1-ADD0-4381B6D7A735}">
      <dgm:prSet/>
      <dgm:spPr/>
      <dgm:t>
        <a:bodyPr/>
        <a:lstStyle/>
        <a:p>
          <a:endParaRPr lang="en-US"/>
        </a:p>
      </dgm:t>
    </dgm:pt>
    <dgm:pt modelId="{7EF2C6F7-D78E-4F4E-BCFA-16D78BB9C9DF}" type="pres">
      <dgm:prSet presAssocID="{A45BFD39-9B33-4B25-9283-65186810017D}" presName="root" presStyleCnt="0">
        <dgm:presLayoutVars>
          <dgm:dir/>
          <dgm:resizeHandles val="exact"/>
        </dgm:presLayoutVars>
      </dgm:prSet>
      <dgm:spPr/>
    </dgm:pt>
    <dgm:pt modelId="{5E872223-8FD4-470E-953E-CF35D408B24E}" type="pres">
      <dgm:prSet presAssocID="{97A3B65E-7A03-45D0-9129-27C6DCF9D374}" presName="compNode" presStyleCnt="0"/>
      <dgm:spPr/>
    </dgm:pt>
    <dgm:pt modelId="{3FE2D0D4-99FF-4E41-A63A-A3245139C3B4}" type="pres">
      <dgm:prSet presAssocID="{97A3B65E-7A03-45D0-9129-27C6DCF9D374}" presName="iconBgRect" presStyleLbl="bgShp" presStyleIdx="0" presStyleCnt="3"/>
      <dgm:spPr/>
    </dgm:pt>
    <dgm:pt modelId="{572A8201-0DC6-495B-A244-D983D5D4B47E}" type="pres">
      <dgm:prSet presAssocID="{97A3B65E-7A03-45D0-9129-27C6DCF9D37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A2583BE-B440-4A2C-BA73-E1FE17BA94B7}" type="pres">
      <dgm:prSet presAssocID="{97A3B65E-7A03-45D0-9129-27C6DCF9D374}" presName="spaceRect" presStyleCnt="0"/>
      <dgm:spPr/>
    </dgm:pt>
    <dgm:pt modelId="{4A5195B0-730D-4D67-85AA-129334778BDC}" type="pres">
      <dgm:prSet presAssocID="{97A3B65E-7A03-45D0-9129-27C6DCF9D374}" presName="textRect" presStyleLbl="revTx" presStyleIdx="0" presStyleCnt="3">
        <dgm:presLayoutVars>
          <dgm:chMax val="1"/>
          <dgm:chPref val="1"/>
        </dgm:presLayoutVars>
      </dgm:prSet>
      <dgm:spPr/>
    </dgm:pt>
    <dgm:pt modelId="{5C11A47D-E643-4594-A311-019249092F56}" type="pres">
      <dgm:prSet presAssocID="{60F0429C-F6A4-4B74-9F7B-A5625A0EB015}" presName="sibTrans" presStyleCnt="0"/>
      <dgm:spPr/>
    </dgm:pt>
    <dgm:pt modelId="{A52EAAB0-BD22-480E-B312-4F15AC2A81F7}" type="pres">
      <dgm:prSet presAssocID="{FA526422-A429-43F7-A93F-7C1340486157}" presName="compNode" presStyleCnt="0"/>
      <dgm:spPr/>
    </dgm:pt>
    <dgm:pt modelId="{B0DAC526-5B50-41F7-AC0B-1659044A6B5F}" type="pres">
      <dgm:prSet presAssocID="{FA526422-A429-43F7-A93F-7C1340486157}" presName="iconBgRect" presStyleLbl="bgShp" presStyleIdx="1" presStyleCnt="3"/>
      <dgm:spPr/>
    </dgm:pt>
    <dgm:pt modelId="{63939443-7649-4F7E-906A-C25A13ACC83C}" type="pres">
      <dgm:prSet presAssocID="{FA526422-A429-43F7-A93F-7C13404861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6AABCF66-34CA-4CD9-BE65-2CB3FD446E1C}" type="pres">
      <dgm:prSet presAssocID="{FA526422-A429-43F7-A93F-7C1340486157}" presName="spaceRect" presStyleCnt="0"/>
      <dgm:spPr/>
    </dgm:pt>
    <dgm:pt modelId="{29A0B88D-099B-4A30-A833-8CF5F9DA773E}" type="pres">
      <dgm:prSet presAssocID="{FA526422-A429-43F7-A93F-7C1340486157}" presName="textRect" presStyleLbl="revTx" presStyleIdx="1" presStyleCnt="3">
        <dgm:presLayoutVars>
          <dgm:chMax val="1"/>
          <dgm:chPref val="1"/>
        </dgm:presLayoutVars>
      </dgm:prSet>
      <dgm:spPr/>
    </dgm:pt>
    <dgm:pt modelId="{9EB7B173-7872-4007-9823-B8541116A123}" type="pres">
      <dgm:prSet presAssocID="{4D99E5B0-F78F-4FA9-989E-FD5A17D0BEDE}" presName="sibTrans" presStyleCnt="0"/>
      <dgm:spPr/>
    </dgm:pt>
    <dgm:pt modelId="{64F4925B-4A61-402E-80BC-99A4558A6056}" type="pres">
      <dgm:prSet presAssocID="{38F37C66-327C-4334-919F-F54CAD950C0B}" presName="compNode" presStyleCnt="0"/>
      <dgm:spPr/>
    </dgm:pt>
    <dgm:pt modelId="{DC730D62-F5D0-4EC9-AA53-BB122DF2C7A1}" type="pres">
      <dgm:prSet presAssocID="{38F37C66-327C-4334-919F-F54CAD950C0B}" presName="iconBgRect" presStyleLbl="bgShp" presStyleIdx="2" presStyleCnt="3" custLinFactNeighborX="1823" custLinFactNeighborY="3786"/>
      <dgm:spPr/>
    </dgm:pt>
    <dgm:pt modelId="{7430EBDD-F119-4C04-B882-17794D9C9AA5}" type="pres">
      <dgm:prSet presAssocID="{38F37C66-327C-4334-919F-F54CAD950C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C4AA817-90AA-4F98-9E8A-F586C1818CA9}" type="pres">
      <dgm:prSet presAssocID="{38F37C66-327C-4334-919F-F54CAD950C0B}" presName="spaceRect" presStyleCnt="0"/>
      <dgm:spPr/>
    </dgm:pt>
    <dgm:pt modelId="{E22B3AC0-1D97-47D9-B7E3-74E2573D4759}" type="pres">
      <dgm:prSet presAssocID="{38F37C66-327C-4334-919F-F54CAD950C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F17B74C-25A0-4C3E-90F1-88FC797D9CAB}" type="presOf" srcId="{38F37C66-327C-4334-919F-F54CAD950C0B}" destId="{E22B3AC0-1D97-47D9-B7E3-74E2573D4759}" srcOrd="0" destOrd="0" presId="urn:microsoft.com/office/officeart/2018/5/layout/IconCircleLabelList"/>
    <dgm:cxn modelId="{1840CE4C-36B9-45AD-B7E9-17E41C100033}" type="presOf" srcId="{FA526422-A429-43F7-A93F-7C1340486157}" destId="{29A0B88D-099B-4A30-A833-8CF5F9DA773E}" srcOrd="0" destOrd="0" presId="urn:microsoft.com/office/officeart/2018/5/layout/IconCircleLabelList"/>
    <dgm:cxn modelId="{CDBE7C73-2DBD-48BF-A3EF-327653937664}" srcId="{A45BFD39-9B33-4B25-9283-65186810017D}" destId="{97A3B65E-7A03-45D0-9129-27C6DCF9D374}" srcOrd="0" destOrd="0" parTransId="{E681AA1A-7C3D-4910-9C0A-E3216B7495C6}" sibTransId="{60F0429C-F6A4-4B74-9F7B-A5625A0EB015}"/>
    <dgm:cxn modelId="{98D7B190-D5AC-4242-8CC2-D4894B40B6CD}" type="presOf" srcId="{97A3B65E-7A03-45D0-9129-27C6DCF9D374}" destId="{4A5195B0-730D-4D67-85AA-129334778BDC}" srcOrd="0" destOrd="0" presId="urn:microsoft.com/office/officeart/2018/5/layout/IconCircleLabelList"/>
    <dgm:cxn modelId="{B82542A9-505B-4F39-8F0B-B947B9469E9D}" type="presOf" srcId="{A45BFD39-9B33-4B25-9283-65186810017D}" destId="{7EF2C6F7-D78E-4F4E-BCFA-16D78BB9C9DF}" srcOrd="0" destOrd="0" presId="urn:microsoft.com/office/officeart/2018/5/layout/IconCircleLabelList"/>
    <dgm:cxn modelId="{A16910AA-3885-4ED1-ADD0-4381B6D7A735}" srcId="{A45BFD39-9B33-4B25-9283-65186810017D}" destId="{38F37C66-327C-4334-919F-F54CAD950C0B}" srcOrd="2" destOrd="0" parTransId="{FC14D6F1-9431-4591-A6B3-6760DB0EDCC3}" sibTransId="{A9E0A41C-28B3-47F3-A69D-4364A8FADC35}"/>
    <dgm:cxn modelId="{5D9832AA-7733-4CD3-851A-2E2DF0556675}" srcId="{A45BFD39-9B33-4B25-9283-65186810017D}" destId="{FA526422-A429-43F7-A93F-7C1340486157}" srcOrd="1" destOrd="0" parTransId="{440ED92B-8767-4A74-9BD6-2F0AE9A55D70}" sibTransId="{4D99E5B0-F78F-4FA9-989E-FD5A17D0BEDE}"/>
    <dgm:cxn modelId="{C7913D5F-1894-4B44-AEB2-8856B8C53CB8}" type="presParOf" srcId="{7EF2C6F7-D78E-4F4E-BCFA-16D78BB9C9DF}" destId="{5E872223-8FD4-470E-953E-CF35D408B24E}" srcOrd="0" destOrd="0" presId="urn:microsoft.com/office/officeart/2018/5/layout/IconCircleLabelList"/>
    <dgm:cxn modelId="{DC461D03-BDBC-4E8E-9104-72EDA5534F4F}" type="presParOf" srcId="{5E872223-8FD4-470E-953E-CF35D408B24E}" destId="{3FE2D0D4-99FF-4E41-A63A-A3245139C3B4}" srcOrd="0" destOrd="0" presId="urn:microsoft.com/office/officeart/2018/5/layout/IconCircleLabelList"/>
    <dgm:cxn modelId="{DB985C55-4A13-4F76-8C2C-DF88FD8B8E8F}" type="presParOf" srcId="{5E872223-8FD4-470E-953E-CF35D408B24E}" destId="{572A8201-0DC6-495B-A244-D983D5D4B47E}" srcOrd="1" destOrd="0" presId="urn:microsoft.com/office/officeart/2018/5/layout/IconCircleLabelList"/>
    <dgm:cxn modelId="{616DDCA7-B1C0-4647-9A6E-3CF2A1AA573B}" type="presParOf" srcId="{5E872223-8FD4-470E-953E-CF35D408B24E}" destId="{2A2583BE-B440-4A2C-BA73-E1FE17BA94B7}" srcOrd="2" destOrd="0" presId="urn:microsoft.com/office/officeart/2018/5/layout/IconCircleLabelList"/>
    <dgm:cxn modelId="{90FD7946-DFB6-4EDD-8F39-C2D6EF20576B}" type="presParOf" srcId="{5E872223-8FD4-470E-953E-CF35D408B24E}" destId="{4A5195B0-730D-4D67-85AA-129334778BDC}" srcOrd="3" destOrd="0" presId="urn:microsoft.com/office/officeart/2018/5/layout/IconCircleLabelList"/>
    <dgm:cxn modelId="{750832FC-74F6-4B99-89C1-26100EDB8683}" type="presParOf" srcId="{7EF2C6F7-D78E-4F4E-BCFA-16D78BB9C9DF}" destId="{5C11A47D-E643-4594-A311-019249092F56}" srcOrd="1" destOrd="0" presId="urn:microsoft.com/office/officeart/2018/5/layout/IconCircleLabelList"/>
    <dgm:cxn modelId="{E5A0C230-4092-436B-8509-644EDA0AF2E2}" type="presParOf" srcId="{7EF2C6F7-D78E-4F4E-BCFA-16D78BB9C9DF}" destId="{A52EAAB0-BD22-480E-B312-4F15AC2A81F7}" srcOrd="2" destOrd="0" presId="urn:microsoft.com/office/officeart/2018/5/layout/IconCircleLabelList"/>
    <dgm:cxn modelId="{4CBD24C8-00AC-460E-B385-7925F2EAE750}" type="presParOf" srcId="{A52EAAB0-BD22-480E-B312-4F15AC2A81F7}" destId="{B0DAC526-5B50-41F7-AC0B-1659044A6B5F}" srcOrd="0" destOrd="0" presId="urn:microsoft.com/office/officeart/2018/5/layout/IconCircleLabelList"/>
    <dgm:cxn modelId="{C9EAD16E-631C-4D49-9140-849FBDD3A017}" type="presParOf" srcId="{A52EAAB0-BD22-480E-B312-4F15AC2A81F7}" destId="{63939443-7649-4F7E-906A-C25A13ACC83C}" srcOrd="1" destOrd="0" presId="urn:microsoft.com/office/officeart/2018/5/layout/IconCircleLabelList"/>
    <dgm:cxn modelId="{985BB1DE-9E31-4ADC-99BE-0309D7F07A71}" type="presParOf" srcId="{A52EAAB0-BD22-480E-B312-4F15AC2A81F7}" destId="{6AABCF66-34CA-4CD9-BE65-2CB3FD446E1C}" srcOrd="2" destOrd="0" presId="urn:microsoft.com/office/officeart/2018/5/layout/IconCircleLabelList"/>
    <dgm:cxn modelId="{6621CA40-37B9-49FC-B2D5-73AC2BF65151}" type="presParOf" srcId="{A52EAAB0-BD22-480E-B312-4F15AC2A81F7}" destId="{29A0B88D-099B-4A30-A833-8CF5F9DA773E}" srcOrd="3" destOrd="0" presId="urn:microsoft.com/office/officeart/2018/5/layout/IconCircleLabelList"/>
    <dgm:cxn modelId="{CA196E7D-3C6E-4140-9DCB-36D8B5C53F22}" type="presParOf" srcId="{7EF2C6F7-D78E-4F4E-BCFA-16D78BB9C9DF}" destId="{9EB7B173-7872-4007-9823-B8541116A123}" srcOrd="3" destOrd="0" presId="urn:microsoft.com/office/officeart/2018/5/layout/IconCircleLabelList"/>
    <dgm:cxn modelId="{F79D117E-CAA5-4156-8B1B-AE61915DA242}" type="presParOf" srcId="{7EF2C6F7-D78E-4F4E-BCFA-16D78BB9C9DF}" destId="{64F4925B-4A61-402E-80BC-99A4558A6056}" srcOrd="4" destOrd="0" presId="urn:microsoft.com/office/officeart/2018/5/layout/IconCircleLabelList"/>
    <dgm:cxn modelId="{7D6CCE41-AE89-4FD6-88AE-108D03539D3C}" type="presParOf" srcId="{64F4925B-4A61-402E-80BC-99A4558A6056}" destId="{DC730D62-F5D0-4EC9-AA53-BB122DF2C7A1}" srcOrd="0" destOrd="0" presId="urn:microsoft.com/office/officeart/2018/5/layout/IconCircleLabelList"/>
    <dgm:cxn modelId="{4B03B02B-7F45-4418-A678-A22C69E24C3F}" type="presParOf" srcId="{64F4925B-4A61-402E-80BC-99A4558A6056}" destId="{7430EBDD-F119-4C04-B882-17794D9C9AA5}" srcOrd="1" destOrd="0" presId="urn:microsoft.com/office/officeart/2018/5/layout/IconCircleLabelList"/>
    <dgm:cxn modelId="{4A8AB4A9-9A90-486E-AD9C-AC5ADE6B31C4}" type="presParOf" srcId="{64F4925B-4A61-402E-80BC-99A4558A6056}" destId="{5C4AA817-90AA-4F98-9E8A-F586C1818CA9}" srcOrd="2" destOrd="0" presId="urn:microsoft.com/office/officeart/2018/5/layout/IconCircleLabelList"/>
    <dgm:cxn modelId="{210D0AC7-CE00-433D-8F8B-F70D958F4F6C}" type="presParOf" srcId="{64F4925B-4A61-402E-80BC-99A4558A6056}" destId="{E22B3AC0-1D97-47D9-B7E3-74E2573D475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2D0D4-99FF-4E41-A63A-A3245139C3B4}">
      <dsp:nvSpPr>
        <dsp:cNvPr id="0" name=""/>
        <dsp:cNvSpPr/>
      </dsp:nvSpPr>
      <dsp:spPr>
        <a:xfrm>
          <a:off x="563316" y="539241"/>
          <a:ext cx="1749937" cy="1749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A8201-0DC6-495B-A244-D983D5D4B47E}">
      <dsp:nvSpPr>
        <dsp:cNvPr id="0" name=""/>
        <dsp:cNvSpPr/>
      </dsp:nvSpPr>
      <dsp:spPr>
        <a:xfrm>
          <a:off x="936253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195B0-730D-4D67-85AA-129334778BDC}">
      <dsp:nvSpPr>
        <dsp:cNvPr id="0" name=""/>
        <dsp:cNvSpPr/>
      </dsp:nvSpPr>
      <dsp:spPr>
        <a:xfrm>
          <a:off x="3910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NZ" sz="2400" kern="1200"/>
            <a:t>Initial Encounters</a:t>
          </a:r>
          <a:endParaRPr lang="en-US" sz="2400" kern="1200"/>
        </a:p>
      </dsp:txBody>
      <dsp:txXfrm>
        <a:off x="3910" y="2834241"/>
        <a:ext cx="2868750" cy="720000"/>
      </dsp:txXfrm>
    </dsp:sp>
    <dsp:sp modelId="{B0DAC526-5B50-41F7-AC0B-1659044A6B5F}">
      <dsp:nvSpPr>
        <dsp:cNvPr id="0" name=""/>
        <dsp:cNvSpPr/>
      </dsp:nvSpPr>
      <dsp:spPr>
        <a:xfrm>
          <a:off x="3934097" y="539241"/>
          <a:ext cx="1749937" cy="1749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39443-7649-4F7E-906A-C25A13ACC83C}">
      <dsp:nvSpPr>
        <dsp:cNvPr id="0" name=""/>
        <dsp:cNvSpPr/>
      </dsp:nvSpPr>
      <dsp:spPr>
        <a:xfrm>
          <a:off x="4307035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0B88D-099B-4A30-A833-8CF5F9DA773E}">
      <dsp:nvSpPr>
        <dsp:cNvPr id="0" name=""/>
        <dsp:cNvSpPr/>
      </dsp:nvSpPr>
      <dsp:spPr>
        <a:xfrm>
          <a:off x="3374691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NZ" sz="2400" kern="1200"/>
            <a:t>How to Verify</a:t>
          </a:r>
          <a:endParaRPr lang="en-US" sz="2400" kern="1200"/>
        </a:p>
      </dsp:txBody>
      <dsp:txXfrm>
        <a:off x="3374691" y="2834241"/>
        <a:ext cx="2868750" cy="720000"/>
      </dsp:txXfrm>
    </dsp:sp>
    <dsp:sp modelId="{DC730D62-F5D0-4EC9-AA53-BB122DF2C7A1}">
      <dsp:nvSpPr>
        <dsp:cNvPr id="0" name=""/>
        <dsp:cNvSpPr/>
      </dsp:nvSpPr>
      <dsp:spPr>
        <a:xfrm>
          <a:off x="7336780" y="605493"/>
          <a:ext cx="1749937" cy="1749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0EBDD-F119-4C04-B882-17794D9C9AA5}">
      <dsp:nvSpPr>
        <dsp:cNvPr id="0" name=""/>
        <dsp:cNvSpPr/>
      </dsp:nvSpPr>
      <dsp:spPr>
        <a:xfrm>
          <a:off x="7677816" y="912178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B3AC0-1D97-47D9-B7E3-74E2573D4759}">
      <dsp:nvSpPr>
        <dsp:cNvPr id="0" name=""/>
        <dsp:cNvSpPr/>
      </dsp:nvSpPr>
      <dsp:spPr>
        <a:xfrm>
          <a:off x="6745472" y="2834241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NZ" sz="2400" kern="1200" dirty="0"/>
            <a:t>Buying/Selling safely</a:t>
          </a:r>
          <a:endParaRPr lang="en-US" sz="2400" kern="1200" dirty="0"/>
        </a:p>
      </dsp:txBody>
      <dsp:txXfrm>
        <a:off x="6745472" y="2834241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4DC80-42B5-431F-9EF0-DE4C705E8D93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A511E-2CF4-4222-A96A-64A52415302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47289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scams include: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phishing — an email or text that tries to trick you into providing your personal details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 virus scams — where you get a phone call saying your computer has been infected with a virus, which the caller can fix, as long as you give them your credit card details and remote access to your computer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investment scams — you’re offered the chance of high returns for very little risk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inheritance or lottery and competition scams — where you’re told you’ve inherited or won money, but you need to pay a fee or taxes before you can get your winnings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 dating scams — where a person you’ve only met online and have become romantically attached to starts asking for money or wants your personal details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door-to-door scams — where someone knocks on your door and offers to do a job for you for an upfront fee, and then does it badly or not at all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phone scams — someone calls pretending to be from a government department or a well-known company, and asks for your personal information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 theft — people try to find out your personal details and passwords so they can use your details to steal money or set up fake identities.</a:t>
            </a:r>
          </a:p>
          <a:p>
            <a:br>
              <a:rPr lang="en-NZ" dirty="0"/>
            </a:br>
            <a:r>
              <a:rPr lang="en-NZ" dirty="0"/>
              <a:t>Taken from https://www.govt.nz/browse/law-crime-and-justice/scams/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A511E-2CF4-4222-A96A-64A524153023}" type="slidenum">
              <a:rPr lang="en-NZ" smtClean="0"/>
              <a:t>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45784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17E28-863F-D671-0450-4E176340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F77C6-2BC8-328E-2257-3B6134241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EE554-1ED6-6443-DF66-13910E2F4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scams include: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phishing — an email or text that tries to trick you into providing your personal details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 virus scams — where you get a phone call saying your computer has been infected with a virus, which the caller can fix, as long as you give them your credit card details and remote access to your computer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investment scams — you’re offered the chance of high returns for very little risk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inheritance or lottery and competition scams — where you’re told you’ve inherited or won money, but you need to pay a fee or taxes before you can get your winnings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 dating scams — where a person you’ve only met online and have become romantically attached to starts asking for money or wants your personal details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door-to-door scams — where someone knocks on your door and offers to do a job for you for an upfront fee, and then does it badly or not at all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phone scams — someone calls pretending to be from a government department or a well-known company, and asks for your personal information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 theft — people try to find out your personal details and passwords so they can use your details to steal money or set up fake identities.</a:t>
            </a:r>
          </a:p>
          <a:p>
            <a:br>
              <a:rPr lang="en-NZ" dirty="0"/>
            </a:br>
            <a:r>
              <a:rPr lang="en-NZ" dirty="0"/>
              <a:t>Taken from https://www.govt.nz/browse/law-crime-and-justice/scams/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D5CD6-1086-5677-4B29-7A1FB725C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A511E-2CF4-4222-A96A-64A524153023}" type="slidenum">
              <a:rPr lang="en-NZ" smtClean="0"/>
              <a:t>6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05623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FB5F-BFBE-A2A3-3765-06717E15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E588A-C721-09C5-779F-D82E5A9B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A681A-194B-8618-EC61-296952F92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scams include: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phishing — an email or text that tries to trick you into providing your personal details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 virus scams — where you get a phone call saying your computer has been infected with a virus, which the caller can fix, as long as you give them your credit card details and remote access to your computer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investment scams — you’re offered the chance of high returns for very little risk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inheritance or lottery and competition scams — where you’re told you’ve inherited or won money, but you need to pay a fee or taxes before you can get your winnings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 dating scams — where a person you’ve only met online and have become romantically attached to starts asking for money or wants your personal details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door-to-door scams — where someone knocks on your door and offers to do a job for you for an upfront fee, and then does it badly or not at all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phone scams — someone calls pretending to be from a government department or a well-known company, and asks for your personal information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 theft — people try to find out your personal details and passwords so they can use your details to steal money or set up fake identities.</a:t>
            </a:r>
          </a:p>
          <a:p>
            <a:br>
              <a:rPr lang="en-NZ" dirty="0"/>
            </a:br>
            <a:r>
              <a:rPr lang="en-NZ" dirty="0"/>
              <a:t>Taken from https://www.govt.nz/browse/law-crime-and-justice/scams/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E4029-7496-C61C-37BF-B7B3EBAD8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A511E-2CF4-4222-A96A-64A524153023}" type="slidenum">
              <a:rPr lang="en-NZ" smtClean="0"/>
              <a:t>7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9640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Starts from the Dominoes Pizza Website </a:t>
            </a:r>
          </a:p>
          <a:p>
            <a:r>
              <a:rPr lang="en-NZ" dirty="0"/>
              <a:t>Redirects us to a secure third party website that specialises in processing payment information</a:t>
            </a:r>
          </a:p>
          <a:p>
            <a:r>
              <a:rPr lang="en-NZ" dirty="0"/>
              <a:t>Both are secured via https and share legitimate URLs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A511E-2CF4-4222-A96A-64A524153023}" type="slidenum">
              <a:rPr lang="en-NZ" smtClean="0"/>
              <a:t>25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50897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F8AD4-2344-EF0F-8B29-FDE30B8A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1527E-A494-687A-B9C2-AFD2D3E19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2C460-5428-F4E5-E9AB-BE9BD1E18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Starts from the Dominoes Pizza Website </a:t>
            </a:r>
          </a:p>
          <a:p>
            <a:r>
              <a:rPr lang="en-NZ" dirty="0"/>
              <a:t>Redirects us to a secure third party website that specialises in processing payment information</a:t>
            </a:r>
          </a:p>
          <a:p>
            <a:r>
              <a:rPr lang="en-NZ" dirty="0"/>
              <a:t>Both are secured via https and share legitimate URLs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8C1E4-9AC4-CD01-3F7D-89A238433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A511E-2CF4-4222-A96A-64A524153023}" type="slidenum">
              <a:rPr lang="en-NZ" smtClean="0"/>
              <a:t>28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63020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F67E-6432-BD3F-E5C8-58A5C77B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1FC82-E97C-B6BC-A5A6-458AC5839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889F0-F800-D947-A484-110FCD050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Starts from the Dominoes Pizza Website </a:t>
            </a:r>
          </a:p>
          <a:p>
            <a:r>
              <a:rPr lang="en-NZ" dirty="0"/>
              <a:t>Redirects us to a secure third party website that specialises in processing payment information</a:t>
            </a:r>
          </a:p>
          <a:p>
            <a:r>
              <a:rPr lang="en-NZ" dirty="0"/>
              <a:t>Both are secured via https and share legitimate URLs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E268C-2D17-E3D4-E776-B6898EFB7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A511E-2CF4-4222-A96A-64A524153023}" type="slidenum">
              <a:rPr lang="en-NZ" smtClean="0"/>
              <a:t>30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05773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27617-8D95-F4DB-F645-E4EE30F59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F9402-2908-A524-EC82-F74EB58E2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3261-8C89-A0BE-643D-839BACDDD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Starts from the Dominoes Pizza Website </a:t>
            </a:r>
          </a:p>
          <a:p>
            <a:r>
              <a:rPr lang="en-NZ" dirty="0"/>
              <a:t>Redirects us to a secure third party website that specialises in processing payment information</a:t>
            </a:r>
          </a:p>
          <a:p>
            <a:r>
              <a:rPr lang="en-NZ" dirty="0"/>
              <a:t>Both are secured via https and share legitimate URLs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21C16-7747-CFB8-696E-8C296A774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A511E-2CF4-4222-A96A-64A524153023}" type="slidenum">
              <a:rPr lang="en-NZ" smtClean="0"/>
              <a:t>31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46779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77511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46474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3326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698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4298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46344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45911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5323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1696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5942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4964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61125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6375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92717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28012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2700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DD8B9-E3A2-40E8-B9BE-F3847CA96567}" type="datetimeFigureOut">
              <a:rPr lang="en-NZ" smtClean="0"/>
              <a:t>6/08/2025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645ECEB-56D3-49F8-96BD-96AF3A136C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6733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nsumerprotection.govt.nz/general-help/scamwatch/identify-a-scam#how-to-check-for-scams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892D-835B-1D1A-B649-48DED373E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992459"/>
            <a:ext cx="7766936" cy="3058377"/>
          </a:xfrm>
        </p:spPr>
        <p:txBody>
          <a:bodyPr anchor="t"/>
          <a:lstStyle/>
          <a:p>
            <a:pPr algn="l"/>
            <a:r>
              <a:rPr lang="en-NZ" dirty="0">
                <a:solidFill>
                  <a:schemeClr val="tx1"/>
                </a:solidFill>
              </a:rPr>
              <a:t>Cyber Safety:</a:t>
            </a:r>
            <a:br>
              <a:rPr lang="en-NZ" dirty="0">
                <a:solidFill>
                  <a:schemeClr val="tx1"/>
                </a:solidFill>
              </a:rPr>
            </a:br>
            <a:r>
              <a:rPr lang="en-NZ" dirty="0">
                <a:solidFill>
                  <a:schemeClr val="tx1"/>
                </a:solidFill>
              </a:rPr>
              <a:t>Scams, Catfishing, Subscriptions &amp; Purchasing Safety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D36D0-483F-388A-130B-B51B21576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7955" y="4530335"/>
            <a:ext cx="7766936" cy="1335206"/>
          </a:xfrm>
        </p:spPr>
        <p:txBody>
          <a:bodyPr/>
          <a:lstStyle/>
          <a:p>
            <a:pPr algn="l"/>
            <a:r>
              <a:rPr lang="en-NZ" dirty="0"/>
              <a:t>Recognising Scams or Fake Profiles</a:t>
            </a:r>
          </a:p>
          <a:p>
            <a:pPr algn="l"/>
            <a:r>
              <a:rPr lang="en-NZ" dirty="0"/>
              <a:t>Finding ways to verify legitimate purchases</a:t>
            </a:r>
          </a:p>
          <a:p>
            <a:pPr algn="l"/>
            <a:r>
              <a:rPr lang="en-NZ" dirty="0"/>
              <a:t>Managing subscriptions</a:t>
            </a:r>
          </a:p>
          <a:p>
            <a:pPr algn="l"/>
            <a:endParaRPr lang="en-NZ" dirty="0"/>
          </a:p>
          <a:p>
            <a:pPr algn="l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99094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EB6DE6-7FC8-1DF9-419E-5CC3E0D32168}"/>
              </a:ext>
            </a:extLst>
          </p:cNvPr>
          <p:cNvSpPr txBox="1">
            <a:spLocks/>
          </p:cNvSpPr>
          <p:nvPr/>
        </p:nvSpPr>
        <p:spPr>
          <a:xfrm>
            <a:off x="938543" y="993414"/>
            <a:ext cx="4745736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100" b="1" dirty="0">
                <a:solidFill>
                  <a:schemeClr val="tx1"/>
                </a:solidFill>
              </a:rPr>
              <a:t>Today's Discussion Topics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5654C1-6BFF-3443-5180-930FF53E52E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938543" y="2593614"/>
            <a:ext cx="4672584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Identifying Scams and Fraudulent Activities Online</a:t>
            </a:r>
          </a:p>
          <a:p>
            <a:r>
              <a:rPr lang="en-US" dirty="0"/>
              <a:t>Spotting and Avoiding Fake Profiles</a:t>
            </a:r>
          </a:p>
          <a:p>
            <a:r>
              <a:rPr lang="en-US" dirty="0"/>
              <a:t>Assessing Online Authenticity and Trustworthiness</a:t>
            </a:r>
          </a:p>
          <a:p>
            <a:r>
              <a:rPr lang="en-US" dirty="0"/>
              <a:t>Safe Practices When Buying/Selling Online</a:t>
            </a:r>
          </a:p>
          <a:p>
            <a:r>
              <a:rPr lang="en-US" dirty="0"/>
              <a:t>Managing and Monitoring Online Subscriptions</a:t>
            </a:r>
          </a:p>
        </p:txBody>
      </p:sp>
    </p:spTree>
    <p:extLst>
      <p:ext uri="{BB962C8B-B14F-4D97-AF65-F5344CB8AC3E}">
        <p14:creationId xmlns:p14="http://schemas.microsoft.com/office/powerpoint/2010/main" val="343567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E0BC1-0E2C-E947-2018-2CC1E263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1320800"/>
          </a:xfrm>
        </p:spPr>
        <p:txBody>
          <a:bodyPr>
            <a:normAutofit/>
          </a:bodyPr>
          <a:lstStyle/>
          <a:p>
            <a:r>
              <a:rPr lang="en-NZ" sz="4400" dirty="0">
                <a:solidFill>
                  <a:schemeClr val="tx1"/>
                </a:solidFill>
              </a:rPr>
              <a:t>Scamming: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00EA-C2FA-9F06-695A-C2C1CF651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US" sz="3200" b="1" dirty="0"/>
              <a:t>Scamming</a:t>
            </a:r>
            <a:r>
              <a:rPr lang="en-US" sz="3200" dirty="0"/>
              <a:t> is the act of </a:t>
            </a:r>
            <a:r>
              <a:rPr lang="en-US" sz="3200" b="1" dirty="0"/>
              <a:t>deceiving someone to gain money, personal information, or other benefits</a:t>
            </a:r>
            <a:r>
              <a:rPr lang="en-US" sz="3200" dirty="0"/>
              <a:t> through dishonest or fraudulent means.</a:t>
            </a:r>
          </a:p>
          <a:p>
            <a:r>
              <a:rPr lang="en-US" sz="3200" dirty="0"/>
              <a:t>In simple terms, it's </a:t>
            </a:r>
            <a:r>
              <a:rPr lang="en-US" sz="3200" b="1" dirty="0"/>
              <a:t>tricking someone on purpose to get something from them unfairly</a:t>
            </a:r>
            <a:r>
              <a:rPr lang="en-US" sz="3200" dirty="0"/>
              <a:t>, often by pretending to be someone or something they’re not.</a:t>
            </a:r>
          </a:p>
          <a:p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0390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FD531-F320-12AB-B49A-D3FF9525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Where can Scams take place?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5CD479-22B9-EFBD-35A8-B8638E0C8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1932" y="1109663"/>
            <a:ext cx="5714999" cy="4603750"/>
          </a:xfrm>
          <a:prstGeom prst="rect">
            <a:avLst/>
          </a:pr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F4CCF0-E95D-6B86-0783-A134FA67D696}"/>
              </a:ext>
            </a:extLst>
          </p:cNvPr>
          <p:cNvSpPr/>
          <p:nvPr/>
        </p:nvSpPr>
        <p:spPr>
          <a:xfrm>
            <a:off x="5428648" y="2493870"/>
            <a:ext cx="1684421" cy="586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C09E7F-1D54-7012-8B0A-B63569B2E4B5}"/>
              </a:ext>
            </a:extLst>
          </p:cNvPr>
          <p:cNvSpPr/>
          <p:nvPr/>
        </p:nvSpPr>
        <p:spPr>
          <a:xfrm>
            <a:off x="7375578" y="2493870"/>
            <a:ext cx="1684421" cy="526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0B602B-D395-A73E-1CC5-5D395F14A5F5}"/>
              </a:ext>
            </a:extLst>
          </p:cNvPr>
          <p:cNvSpPr/>
          <p:nvPr/>
        </p:nvSpPr>
        <p:spPr>
          <a:xfrm>
            <a:off x="9322508" y="2493868"/>
            <a:ext cx="1684421" cy="526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EAF2E3-D535-603F-657D-2A6E95F66DF4}"/>
              </a:ext>
            </a:extLst>
          </p:cNvPr>
          <p:cNvSpPr/>
          <p:nvPr/>
        </p:nvSpPr>
        <p:spPr>
          <a:xfrm>
            <a:off x="5388546" y="4793381"/>
            <a:ext cx="1684421" cy="586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832B64-DA70-78DB-B4B5-88A024AA2317}"/>
              </a:ext>
            </a:extLst>
          </p:cNvPr>
          <p:cNvSpPr/>
          <p:nvPr/>
        </p:nvSpPr>
        <p:spPr>
          <a:xfrm>
            <a:off x="7307220" y="4793381"/>
            <a:ext cx="1684421" cy="586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75E413-7EBC-845C-E2D9-205FF0D0D95B}"/>
              </a:ext>
            </a:extLst>
          </p:cNvPr>
          <p:cNvSpPr/>
          <p:nvPr/>
        </p:nvSpPr>
        <p:spPr>
          <a:xfrm>
            <a:off x="9322507" y="4793381"/>
            <a:ext cx="1684421" cy="586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1108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19818-EDF4-3312-45AA-96060D408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3475-A085-3065-2B68-763CB4B7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What types of Scams are there?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D9D26B9-FFB2-0F3C-360E-AFC31DEFB2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NZ" dirty="0"/>
              <a:t>Romance Scams</a:t>
            </a:r>
          </a:p>
          <a:p>
            <a:r>
              <a:rPr lang="en-NZ" dirty="0"/>
              <a:t>Phishing Scams</a:t>
            </a:r>
          </a:p>
          <a:p>
            <a:r>
              <a:rPr lang="en-NZ" dirty="0"/>
              <a:t>Identity Theft</a:t>
            </a:r>
          </a:p>
          <a:p>
            <a:r>
              <a:rPr lang="en-NZ" dirty="0"/>
              <a:t>Advanced Fee Scams</a:t>
            </a:r>
          </a:p>
          <a:p>
            <a:r>
              <a:rPr lang="en-NZ" dirty="0"/>
              <a:t>Remote Access Scams</a:t>
            </a:r>
          </a:p>
          <a:p>
            <a:r>
              <a:rPr lang="en-NZ" dirty="0"/>
              <a:t>Investment Scams</a:t>
            </a:r>
          </a:p>
          <a:p>
            <a:r>
              <a:rPr lang="en-NZ" dirty="0"/>
              <a:t>Blackmail Scams</a:t>
            </a:r>
          </a:p>
          <a:p>
            <a:r>
              <a:rPr lang="en-NZ" dirty="0"/>
              <a:t>Buying and Selling Scams</a:t>
            </a:r>
          </a:p>
          <a:p>
            <a:endParaRPr lang="en-NZ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601BBD0-5356-B12C-27C9-C18CB3BBB9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NZ" dirty="0"/>
              <a:t>Impersonation Scams</a:t>
            </a:r>
          </a:p>
          <a:p>
            <a:r>
              <a:rPr lang="en-NZ" dirty="0"/>
              <a:t>Invoice Fraud</a:t>
            </a:r>
          </a:p>
          <a:p>
            <a:r>
              <a:rPr lang="en-NZ" dirty="0"/>
              <a:t>Email/Profile Compromise Scams</a:t>
            </a:r>
          </a:p>
          <a:p>
            <a:r>
              <a:rPr lang="en-NZ" dirty="0"/>
              <a:t>Employment Scams</a:t>
            </a:r>
          </a:p>
          <a:p>
            <a:r>
              <a:rPr lang="en-NZ" dirty="0"/>
              <a:t>Charity Scams</a:t>
            </a:r>
          </a:p>
          <a:p>
            <a:r>
              <a:rPr lang="en-NZ" dirty="0"/>
              <a:t>Lottery Scams</a:t>
            </a:r>
          </a:p>
          <a:p>
            <a:r>
              <a:rPr lang="en-NZ" dirty="0"/>
              <a:t>Tech Support Scams</a:t>
            </a:r>
          </a:p>
          <a:p>
            <a:r>
              <a:rPr lang="en-NZ" dirty="0"/>
              <a:t>Recovery Scams</a:t>
            </a:r>
          </a:p>
        </p:txBody>
      </p:sp>
    </p:spTree>
    <p:extLst>
      <p:ext uri="{BB962C8B-B14F-4D97-AF65-F5344CB8AC3E}">
        <p14:creationId xmlns:p14="http://schemas.microsoft.com/office/powerpoint/2010/main" val="187531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1A197-1FA8-F75C-D568-F1CE5EBB5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F165-58D3-2321-4DE8-E2EB2E6F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What types of Scams are there?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96A1EA6-9D26-5CF2-F649-B1F08AA07E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NZ" dirty="0"/>
              <a:t>Romance Scams - </a:t>
            </a:r>
            <a:r>
              <a:rPr lang="en-US" dirty="0"/>
              <a:t>A scammer builds a fake online relationship and then emotionally manipulates you into sending them money or personal details.</a:t>
            </a:r>
            <a:endParaRPr lang="en-NZ" dirty="0"/>
          </a:p>
          <a:p>
            <a:r>
              <a:rPr lang="en-NZ" dirty="0"/>
              <a:t>Phishing Scams - </a:t>
            </a:r>
            <a:r>
              <a:rPr lang="en-US" dirty="0"/>
              <a:t>Fake messages or links trick you into giving login credentials, credit card info, or other sensitive data.</a:t>
            </a:r>
            <a:endParaRPr lang="en-NZ" dirty="0"/>
          </a:p>
          <a:p>
            <a:r>
              <a:rPr lang="en-NZ" dirty="0"/>
              <a:t>Identity Theft - </a:t>
            </a:r>
            <a:r>
              <a:rPr lang="en-US" dirty="0"/>
              <a:t>A criminal steals your personal information to open accounts, take out loans, or commit fraud in your name.</a:t>
            </a:r>
            <a:endParaRPr lang="en-NZ" dirty="0"/>
          </a:p>
          <a:p>
            <a:r>
              <a:rPr lang="en-NZ" dirty="0"/>
              <a:t>Advanced Fee Scams - </a:t>
            </a:r>
            <a:r>
              <a:rPr lang="en-US" dirty="0"/>
              <a:t>You’re promised a large reward (like a loan or inheritance) but must pay upfront fees or taxes first—which never leads to anything.</a:t>
            </a:r>
            <a:endParaRPr lang="en-NZ" dirty="0"/>
          </a:p>
          <a:p>
            <a:endParaRPr lang="en-NZ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E32BFAA-CD67-BC2C-1D9C-19D4CC0D8A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NZ" dirty="0"/>
              <a:t>Remote Access Scams- </a:t>
            </a:r>
            <a:r>
              <a:rPr lang="en-US" dirty="0"/>
              <a:t>You’re tricked into giving a scammer control over your computer, often leading to data theft or financial fraud.</a:t>
            </a:r>
            <a:endParaRPr lang="en-NZ" dirty="0"/>
          </a:p>
          <a:p>
            <a:r>
              <a:rPr lang="en-NZ" dirty="0"/>
              <a:t>Investment Scams - </a:t>
            </a:r>
            <a:r>
              <a:rPr lang="en-US" dirty="0"/>
              <a:t>Fraudsters lure you into fake investment opportunities, promising high returns with little risk, and then disappear with your money.</a:t>
            </a:r>
            <a:endParaRPr lang="en-NZ" dirty="0"/>
          </a:p>
          <a:p>
            <a:r>
              <a:rPr lang="en-NZ" dirty="0"/>
              <a:t>Blackmail Scams - </a:t>
            </a:r>
            <a:r>
              <a:rPr lang="en-US" dirty="0"/>
              <a:t>Scammers threaten to release private or embarrassing information unless you pay a ransom.</a:t>
            </a:r>
            <a:endParaRPr lang="en-NZ" dirty="0"/>
          </a:p>
          <a:p>
            <a:r>
              <a:rPr lang="en-NZ" dirty="0"/>
              <a:t>Buying and Selling Scams - </a:t>
            </a:r>
            <a:r>
              <a:rPr lang="en-US" dirty="0"/>
              <a:t>A scammer poses as a buyer or seller online, sending fake payments or failing to deliver goods after receiving your money.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10779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E4DF-5D88-DB4B-8711-A6FE59F76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7CDA2-1518-9B75-A6BF-C97690F41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What types of Scams are there?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29A0DF3-0B41-A867-6699-6BB61064A2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NZ" dirty="0"/>
              <a:t>Impersonation Scams - </a:t>
            </a:r>
            <a:r>
              <a:rPr lang="en-US" dirty="0"/>
              <a:t>A scammer pretends to be someone you trust (like a family member, boss, or government official) to trick you into sending money or information.</a:t>
            </a:r>
            <a:endParaRPr lang="en-NZ" dirty="0"/>
          </a:p>
          <a:p>
            <a:r>
              <a:rPr lang="en-NZ" dirty="0"/>
              <a:t>Invoice Fraud - </a:t>
            </a:r>
            <a:r>
              <a:rPr lang="en-US" dirty="0"/>
              <a:t>A fake or altered invoice is sent to a business or individual, often appearing to come from a trusted supplier, requesting payment to a fraudulent bank account.</a:t>
            </a:r>
            <a:endParaRPr lang="en-NZ" dirty="0"/>
          </a:p>
          <a:p>
            <a:r>
              <a:rPr lang="en-NZ" dirty="0"/>
              <a:t>Email/Profile Compromise Scams - </a:t>
            </a:r>
            <a:r>
              <a:rPr lang="en-US" dirty="0"/>
              <a:t>A scammer gains access to your email or social media account and uses it to impersonate you and target your contacts with fraudulent messages.</a:t>
            </a:r>
            <a:endParaRPr lang="en-NZ" dirty="0"/>
          </a:p>
          <a:p>
            <a:r>
              <a:rPr lang="en-NZ" dirty="0"/>
              <a:t>Employment Scams - </a:t>
            </a:r>
            <a:r>
              <a:rPr lang="en-US" dirty="0"/>
              <a:t>Fake job offers promise high pay or easy work but ask for upfront fees or steal your identity through fake application forms.</a:t>
            </a:r>
            <a:endParaRPr lang="en-NZ" dirty="0"/>
          </a:p>
          <a:p>
            <a:endParaRPr lang="en-NZ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18CF262-F9D5-2E95-547E-0967769F78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NZ" dirty="0"/>
              <a:t>Charity Scams - </a:t>
            </a:r>
            <a:r>
              <a:rPr lang="en-US" dirty="0"/>
              <a:t>Criminals pretend to be from a legitimate charity, especially after disasters, to exploit your goodwill and collect money for fake causes.</a:t>
            </a:r>
            <a:endParaRPr lang="en-NZ" dirty="0"/>
          </a:p>
          <a:p>
            <a:r>
              <a:rPr lang="en-NZ" dirty="0"/>
              <a:t>Lottery Scams - </a:t>
            </a:r>
            <a:r>
              <a:rPr lang="en-US" dirty="0"/>
              <a:t>You’re told you’ve won a prize or lottery you never entered and must pay fees or share personal details to claim your winnings.</a:t>
            </a:r>
            <a:endParaRPr lang="en-NZ" dirty="0"/>
          </a:p>
          <a:p>
            <a:r>
              <a:rPr lang="en-NZ" dirty="0"/>
              <a:t>Tech Support Scams - </a:t>
            </a:r>
            <a:r>
              <a:rPr lang="en-US" dirty="0"/>
              <a:t>Scammers pretend to be from a tech company and claim your device has a virus, then ask for remote access or payment for fake fixes.</a:t>
            </a:r>
            <a:endParaRPr lang="en-NZ" dirty="0"/>
          </a:p>
          <a:p>
            <a:r>
              <a:rPr lang="en-NZ" dirty="0"/>
              <a:t>Recovery Scams - </a:t>
            </a:r>
            <a:r>
              <a:rPr lang="en-US" dirty="0"/>
              <a:t>After you’ve been scammed once, a new scammer offers to help recover your lost money—for another fee.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891422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537EB5-2427-13D8-171D-241FEF9A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450" y="690095"/>
            <a:ext cx="6209208" cy="156483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When to consider it may be a scam?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A6730-928A-C90A-EAD4-B28717379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4336" y="4514446"/>
            <a:ext cx="4299666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pic>
        <p:nvPicPr>
          <p:cNvPr id="6" name="Content Placeholder 5" descr="Badge Question Mark with solid fill">
            <a:extLst>
              <a:ext uri="{FF2B5EF4-FFF2-40B4-BE49-F238E27FC236}">
                <a16:creationId xmlns:a16="http://schemas.microsoft.com/office/drawing/2014/main" id="{8B85D196-7B2D-88A4-9D0E-2FB412CD2E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10" y="-31163"/>
            <a:ext cx="3007349" cy="3007349"/>
          </a:xfrm>
          <a:prstGeom prst="rect">
            <a:avLst/>
          </a:prstGeom>
        </p:spPr>
      </p:pic>
      <p:sp>
        <p:nvSpPr>
          <p:cNvPr id="7" name="Content Placeholder 16">
            <a:extLst>
              <a:ext uri="{FF2B5EF4-FFF2-40B4-BE49-F238E27FC236}">
                <a16:creationId xmlns:a16="http://schemas.microsoft.com/office/drawing/2014/main" id="{50012FCF-9F01-4E6C-C734-4A4DC85386A5}"/>
              </a:ext>
            </a:extLst>
          </p:cNvPr>
          <p:cNvSpPr txBox="1">
            <a:spLocks/>
          </p:cNvSpPr>
          <p:nvPr/>
        </p:nvSpPr>
        <p:spPr>
          <a:xfrm>
            <a:off x="3367631" y="3048000"/>
            <a:ext cx="6439415" cy="388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Z" dirty="0"/>
              <a:t>Does it involve….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dirty="0"/>
              <a:t>Providing login credentials or Passwords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dirty="0"/>
              <a:t>Giving up personal details or private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dirty="0"/>
              <a:t>Sending or transferring money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dirty="0"/>
              <a:t>Providing limited access codes/tokens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dirty="0"/>
              <a:t>Involve you doing something for someone </a:t>
            </a:r>
          </a:p>
          <a:p>
            <a:pPr>
              <a:buFont typeface="Arial" panose="020B0604020202020204" pitchFamily="34" charset="0"/>
              <a:buChar char="•"/>
            </a:pPr>
            <a:endParaRPr lang="en-NZ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481799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F5D5D-894C-C426-87AA-A5CD99CEE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2ACC-58D8-C93D-128E-A72DBF68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005" y="2083981"/>
            <a:ext cx="6209208" cy="30011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When was the most recent experience where someone tried to scam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B7A18-126D-A88D-C825-A206E6E26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4336" y="4514446"/>
            <a:ext cx="4299666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B147FC9-E1DF-EAE4-AD81-1366C1BB63D4}"/>
              </a:ext>
            </a:extLst>
          </p:cNvPr>
          <p:cNvSpPr txBox="1">
            <a:spLocks/>
          </p:cNvSpPr>
          <p:nvPr/>
        </p:nvSpPr>
        <p:spPr>
          <a:xfrm>
            <a:off x="259465" y="-138224"/>
            <a:ext cx="6209208" cy="13353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tx1"/>
                </a:solidFill>
              </a:rPr>
              <a:t>Consider:</a:t>
            </a:r>
          </a:p>
        </p:txBody>
      </p:sp>
    </p:spTree>
    <p:extLst>
      <p:ext uri="{BB962C8B-B14F-4D97-AF65-F5344CB8AC3E}">
        <p14:creationId xmlns:p14="http://schemas.microsoft.com/office/powerpoint/2010/main" val="197167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B4EA1-B0C9-4E7A-5195-18C949FE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301052-B406-FB51-56E5-009DF3350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3C9A2-EA1C-4771-CE80-A6C56DEBA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868326"/>
          </a:xfrm>
        </p:spPr>
        <p:txBody>
          <a:bodyPr>
            <a:normAutofit/>
          </a:bodyPr>
          <a:lstStyle/>
          <a:p>
            <a:r>
              <a:rPr lang="en-NZ" sz="4400" dirty="0">
                <a:solidFill>
                  <a:schemeClr val="tx1"/>
                </a:solidFill>
              </a:rPr>
              <a:t>Activity: Yes or No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8F74702-80C4-3304-A73B-789AB62A8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34DE4-8B8B-68B5-44C8-D6DBB0389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160590"/>
            <a:ext cx="9713727" cy="944117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/>
              <a:t>You get an email from a “prince” offering you $1 million if you help him move money out of his country.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1C4668-F6E7-7301-0375-2F5E68776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A74FE1-B198-B57F-C99E-2DB344D51BAD}"/>
              </a:ext>
            </a:extLst>
          </p:cNvPr>
          <p:cNvSpPr txBox="1">
            <a:spLocks/>
          </p:cNvSpPr>
          <p:nvPr/>
        </p:nvSpPr>
        <p:spPr>
          <a:xfrm>
            <a:off x="1333499" y="3069083"/>
            <a:ext cx="9713727" cy="944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700" dirty="0"/>
              <a:t> Yes</a:t>
            </a:r>
            <a:r>
              <a:rPr lang="en-US" sz="3000" dirty="0"/>
              <a:t>, </a:t>
            </a:r>
            <a:r>
              <a:rPr lang="en-US" sz="2700" dirty="0"/>
              <a:t>its a scam</a:t>
            </a:r>
            <a:r>
              <a:rPr lang="en-US" sz="3000" dirty="0"/>
              <a:t> 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2BD94B-A7A5-4FE2-7106-FC6A6D353DA9}"/>
              </a:ext>
            </a:extLst>
          </p:cNvPr>
          <p:cNvSpPr txBox="1">
            <a:spLocks/>
          </p:cNvSpPr>
          <p:nvPr/>
        </p:nvSpPr>
        <p:spPr>
          <a:xfrm>
            <a:off x="1333499" y="3977576"/>
            <a:ext cx="9713727" cy="944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0" dirty="0"/>
              <a:t>A pop-up on your screen says your computer has a virus and tells you to call a number immediately.</a:t>
            </a:r>
            <a:endParaRPr lang="en-NZ" sz="27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AD8072-4949-D79C-F568-170A2F30528D}"/>
              </a:ext>
            </a:extLst>
          </p:cNvPr>
          <p:cNvSpPr txBox="1">
            <a:spLocks/>
          </p:cNvSpPr>
          <p:nvPr/>
        </p:nvSpPr>
        <p:spPr>
          <a:xfrm>
            <a:off x="1333498" y="4921693"/>
            <a:ext cx="9713727" cy="944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700" dirty="0"/>
              <a:t> Yes</a:t>
            </a:r>
            <a:r>
              <a:rPr lang="en-US" sz="3000" dirty="0"/>
              <a:t>, </a:t>
            </a:r>
            <a:r>
              <a:rPr lang="en-US" sz="2700" dirty="0"/>
              <a:t>its a scam</a:t>
            </a:r>
            <a:r>
              <a:rPr lang="en-US" sz="3000" dirty="0"/>
              <a:t> </a:t>
            </a:r>
            <a:endParaRPr lang="en-N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47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A0536-2926-0770-34F9-51DF654C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688DB1-048E-467D-6457-A674CA732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ED5F1-04EB-96CE-3E77-73DE08FE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868326"/>
          </a:xfrm>
        </p:spPr>
        <p:txBody>
          <a:bodyPr>
            <a:normAutofit/>
          </a:bodyPr>
          <a:lstStyle/>
          <a:p>
            <a:r>
              <a:rPr lang="en-NZ" sz="4400" dirty="0">
                <a:solidFill>
                  <a:schemeClr val="tx1"/>
                </a:solidFill>
              </a:rPr>
              <a:t>Activity: Yes or No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5D29B7B-3613-2966-BD96-6E85A16D6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92289-246E-CDF6-4E25-361349FDC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160590"/>
            <a:ext cx="9713727" cy="944117"/>
          </a:xfrm>
        </p:spPr>
        <p:txBody>
          <a:bodyPr>
            <a:normAutofit/>
          </a:bodyPr>
          <a:lstStyle/>
          <a:p>
            <a:r>
              <a:rPr lang="en-US" sz="2700" dirty="0"/>
              <a:t>You get a message from your Mum asking for your Netflix password.</a:t>
            </a:r>
            <a:endParaRPr lang="en-NZ" sz="2700" dirty="0">
              <a:solidFill>
                <a:schemeClr val="tx1"/>
              </a:solidFill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44446FF-5114-9570-271F-70BE1BDC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A38CDD-21EF-1134-CFF5-A2BC6B8B6D80}"/>
              </a:ext>
            </a:extLst>
          </p:cNvPr>
          <p:cNvSpPr txBox="1">
            <a:spLocks/>
          </p:cNvSpPr>
          <p:nvPr/>
        </p:nvSpPr>
        <p:spPr>
          <a:xfrm>
            <a:off x="1333499" y="3069083"/>
            <a:ext cx="9713727" cy="944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700" dirty="0"/>
              <a:t> No</a:t>
            </a:r>
            <a:r>
              <a:rPr lang="en-US" sz="3000" dirty="0"/>
              <a:t>, </a:t>
            </a:r>
            <a:r>
              <a:rPr lang="en-US" sz="2700" dirty="0"/>
              <a:t>its most likely not a scam</a:t>
            </a:r>
            <a:r>
              <a:rPr lang="en-US" sz="3000" dirty="0"/>
              <a:t> 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1D2C4F-3FBC-CC70-286B-CBE24032F065}"/>
              </a:ext>
            </a:extLst>
          </p:cNvPr>
          <p:cNvSpPr txBox="1">
            <a:spLocks/>
          </p:cNvSpPr>
          <p:nvPr/>
        </p:nvSpPr>
        <p:spPr>
          <a:xfrm>
            <a:off x="1333499" y="3977576"/>
            <a:ext cx="9713727" cy="944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Your friend sends you a message on Instagram saying “Look what I found of you online!” with a suspicious link.</a:t>
            </a:r>
            <a:endParaRPr lang="en-NZ" sz="27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1C9D15-2B3B-9635-0C3C-C5965C005534}"/>
              </a:ext>
            </a:extLst>
          </p:cNvPr>
          <p:cNvSpPr txBox="1">
            <a:spLocks/>
          </p:cNvSpPr>
          <p:nvPr/>
        </p:nvSpPr>
        <p:spPr>
          <a:xfrm>
            <a:off x="1333498" y="4921693"/>
            <a:ext cx="9713727" cy="944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700" dirty="0"/>
              <a:t> Yes</a:t>
            </a:r>
            <a:r>
              <a:rPr lang="en-US" sz="3000" dirty="0"/>
              <a:t>, </a:t>
            </a:r>
            <a:r>
              <a:rPr lang="en-US" sz="2700" dirty="0"/>
              <a:t>its a scam</a:t>
            </a:r>
            <a:r>
              <a:rPr lang="en-US" sz="3000" dirty="0"/>
              <a:t> </a:t>
            </a:r>
            <a:endParaRPr lang="en-N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42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70B56-55B8-D891-165C-A0C5380FB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9C52-36D1-3431-EF8F-70084E0C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2" y="609600"/>
            <a:ext cx="8596668" cy="868326"/>
          </a:xfrm>
        </p:spPr>
        <p:txBody>
          <a:bodyPr>
            <a:normAutofit/>
          </a:bodyPr>
          <a:lstStyle/>
          <a:p>
            <a:r>
              <a:rPr lang="en-NZ" sz="4400" dirty="0">
                <a:solidFill>
                  <a:schemeClr val="tx1"/>
                </a:solidFill>
              </a:rPr>
              <a:t>Activity: Yes or 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9C04-2B41-10FE-DAFB-80A94893E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160590"/>
            <a:ext cx="9713727" cy="944117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You receive a call from “Microsoft Support” saying your computer has been hacked and they need remote access.</a:t>
            </a:r>
            <a:endParaRPr lang="en-NZ" sz="2700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819088-E240-96B8-5B6A-6CCE607AB979}"/>
              </a:ext>
            </a:extLst>
          </p:cNvPr>
          <p:cNvSpPr txBox="1">
            <a:spLocks/>
          </p:cNvSpPr>
          <p:nvPr/>
        </p:nvSpPr>
        <p:spPr>
          <a:xfrm>
            <a:off x="1333499" y="3069083"/>
            <a:ext cx="9713727" cy="9441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700" dirty="0"/>
              <a:t> Yes</a:t>
            </a:r>
            <a:r>
              <a:rPr lang="en-US" sz="3000" dirty="0"/>
              <a:t>, </a:t>
            </a:r>
            <a:r>
              <a:rPr lang="en-US" sz="2700" dirty="0"/>
              <a:t>its most likely a scam (Remote access is available when MS is contacted directly)</a:t>
            </a:r>
            <a:r>
              <a:rPr lang="en-US" sz="3000" dirty="0"/>
              <a:t> 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A497BB-C0D4-74EA-9AB4-0B1339AFC2E2}"/>
              </a:ext>
            </a:extLst>
          </p:cNvPr>
          <p:cNvSpPr txBox="1">
            <a:spLocks/>
          </p:cNvSpPr>
          <p:nvPr/>
        </p:nvSpPr>
        <p:spPr>
          <a:xfrm>
            <a:off x="1333499" y="3977576"/>
            <a:ext cx="9713727" cy="944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You apply for a job on a real company website and they invite you to a video interview.</a:t>
            </a:r>
            <a:endParaRPr lang="en-NZ" sz="27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C36635-D320-BA26-4621-814641C57559}"/>
              </a:ext>
            </a:extLst>
          </p:cNvPr>
          <p:cNvSpPr txBox="1">
            <a:spLocks/>
          </p:cNvSpPr>
          <p:nvPr/>
        </p:nvSpPr>
        <p:spPr>
          <a:xfrm>
            <a:off x="1333499" y="4921693"/>
            <a:ext cx="9713727" cy="94411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700" dirty="0"/>
              <a:t> No</a:t>
            </a:r>
            <a:r>
              <a:rPr lang="en-US" sz="3000" dirty="0"/>
              <a:t>, </a:t>
            </a:r>
            <a:r>
              <a:rPr lang="en-US" sz="2700" dirty="0"/>
              <a:t>its most likely not a scam (double check URL before clicking -&gt; Zoom, Skype, Teams, </a:t>
            </a:r>
            <a:r>
              <a:rPr lang="en-US" sz="2700" dirty="0" err="1"/>
              <a:t>etc</a:t>
            </a:r>
            <a:r>
              <a:rPr lang="en-US" sz="2700" dirty="0"/>
              <a:t>)</a:t>
            </a:r>
            <a:r>
              <a:rPr lang="en-US" sz="3000" dirty="0"/>
              <a:t> </a:t>
            </a:r>
            <a:endParaRPr lang="en-N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293F83-4668-669B-4867-C13E4D05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NZ"/>
              <a:t>Fake Accounts</a:t>
            </a:r>
            <a:br>
              <a:rPr lang="en-NZ"/>
            </a:br>
            <a:r>
              <a:rPr lang="en-NZ"/>
              <a:t>(Catfishing)</a:t>
            </a: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F13C8BC0-2F2F-D7C3-176D-93878C2D67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571105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1067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C562-B3F8-AE3F-BD89-46D580F4C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tx1"/>
                </a:solidFill>
              </a:rPr>
              <a:t>Initial Encounters: What to look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9FAD-A0CB-4F0D-5269-C1843CA44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4218946"/>
          </a:xfrm>
        </p:spPr>
        <p:txBody>
          <a:bodyPr>
            <a:normAutofit lnSpcReduction="10000"/>
          </a:bodyPr>
          <a:lstStyle/>
          <a:p>
            <a:r>
              <a:rPr lang="en-NZ" dirty="0"/>
              <a:t>Account details: Account details should be authentic or have some means of authenticating</a:t>
            </a:r>
          </a:p>
          <a:p>
            <a:r>
              <a:rPr lang="en-NZ" dirty="0"/>
              <a:t>Mutual Connections: If nearby an account should have mutual connections to places, pages or people.</a:t>
            </a:r>
          </a:p>
          <a:p>
            <a:r>
              <a:rPr lang="en-NZ" dirty="0"/>
              <a:t>History: A legitimate account can be partially verified through a legitimate history (Photos/Posts).</a:t>
            </a:r>
          </a:p>
          <a:p>
            <a:r>
              <a:rPr lang="en-NZ" dirty="0"/>
              <a:t>Pricing to Product: Is the price too good to be true? A price should be cheaper than retail but not unbelievably cheap.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DF4DF-BD76-1685-88DE-34146A8ED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4218946"/>
          </a:xfrm>
        </p:spPr>
        <p:txBody>
          <a:bodyPr>
            <a:normAutofit lnSpcReduction="10000"/>
          </a:bodyPr>
          <a:lstStyle/>
          <a:p>
            <a:r>
              <a:rPr lang="en-NZ" dirty="0"/>
              <a:t>Does this account have any of the red flags</a:t>
            </a:r>
          </a:p>
          <a:p>
            <a:pPr lvl="1"/>
            <a:r>
              <a:rPr lang="en-NZ" dirty="0"/>
              <a:t>Created recently</a:t>
            </a:r>
          </a:p>
          <a:p>
            <a:pPr lvl="1"/>
            <a:r>
              <a:rPr lang="en-NZ" dirty="0"/>
              <a:t>Little/No Friends</a:t>
            </a:r>
          </a:p>
          <a:p>
            <a:pPr lvl="1"/>
            <a:r>
              <a:rPr lang="en-NZ" dirty="0"/>
              <a:t>Little/No Personal Details or History</a:t>
            </a:r>
          </a:p>
          <a:p>
            <a:pPr lvl="1"/>
            <a:r>
              <a:rPr lang="en-NZ" dirty="0"/>
              <a:t>Inconsistent posts or details</a:t>
            </a:r>
          </a:p>
          <a:p>
            <a:pPr lvl="1"/>
            <a:r>
              <a:rPr lang="en-NZ" dirty="0"/>
              <a:t>Generic posts/photos with little unique details (Images often alone rather than with tagged mutuals)</a:t>
            </a:r>
          </a:p>
          <a:p>
            <a:pPr lvl="1"/>
            <a:r>
              <a:rPr lang="en-NZ" dirty="0"/>
              <a:t>Friends often share similar traits or seem prone to attacks</a:t>
            </a:r>
          </a:p>
        </p:txBody>
      </p:sp>
    </p:spTree>
    <p:extLst>
      <p:ext uri="{BB962C8B-B14F-4D97-AF65-F5344CB8AC3E}">
        <p14:creationId xmlns:p14="http://schemas.microsoft.com/office/powerpoint/2010/main" val="317923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F456F-1DB9-0AAB-57C7-82F471C4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E98BE23-A601-5FB2-B52C-34C045B86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E59D3E4E-C0A2-6711-4B3F-3D895850F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5876316-4641-6681-3DC5-E839AB3C9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B60E8CC-BC74-FD7D-CAA1-8EF2867D1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121" y="109868"/>
            <a:ext cx="8707302" cy="804532"/>
          </a:xfrm>
        </p:spPr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Fake Accounts: (Catfishing)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1DDE27-D9C0-1CE5-EC24-04F4AFB43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97" y="1423552"/>
            <a:ext cx="3315163" cy="4648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D671EB-7EBF-E7BE-986A-96BFE0C9F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129" y="1423552"/>
            <a:ext cx="3343742" cy="4982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C5E2EF-C270-7C9C-C106-75B56DE96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240" y="1385838"/>
            <a:ext cx="3315163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697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8C7CE-CFED-5F45-28D9-5AF5C87FA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A7CA7A2-D71B-EA8D-7F83-AFB2FAA4E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CC4FCB15-C231-79BF-AF48-7BBD37751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BEE0F97-7F3F-C903-C9AB-DBB7229BE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F4C8950-466B-72FD-039C-F5E7443D4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121" y="109868"/>
            <a:ext cx="8707302" cy="804532"/>
          </a:xfrm>
        </p:spPr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Fake Accounts: (Catfishing)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A16697-BD68-B4C5-B7E5-1AC16D839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736" y="1395746"/>
            <a:ext cx="2634528" cy="4963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AE3D34-77F1-CB7B-55A8-CDDB42D98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424" y="1395746"/>
            <a:ext cx="2532682" cy="53900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52B3D1-DAC8-08D5-C3E3-700EBA6AB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398" y="1398499"/>
            <a:ext cx="2532682" cy="538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673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BAC0-04CA-4D8D-A7E0-F5AFF0792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ADFFC45-3DC9-4433-926F-043E879D9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5F26A87-0610-435F-AA13-BD658385C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6321436-5AAD-4FB6-BB0D-316D4540E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4B0BD33-3D46-4F43-947A-825DFEF61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92E26C27-E1F5-47DC-9F83-469D196C5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95F944E7-2B4E-4AE2-B4DB-846FF8AE0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FF14952D-390F-46CC-B302-73DDD9C4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867CDE55-B22A-40D0-882A-9452919EE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8C409231-C942-4808-B529-DAC32A7DB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9370F01-B8C9-4CE4-824C-92B2792E6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DFFE60-FA8B-5424-3279-6C4BF2311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1120" y="2510119"/>
            <a:ext cx="3602567" cy="18292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Activity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EADA338-301F-8B58-909A-04840F6D6B8D}"/>
              </a:ext>
            </a:extLst>
          </p:cNvPr>
          <p:cNvSpPr txBox="1">
            <a:spLocks/>
          </p:cNvSpPr>
          <p:nvPr/>
        </p:nvSpPr>
        <p:spPr>
          <a:xfrm>
            <a:off x="168980" y="336180"/>
            <a:ext cx="5459948" cy="5867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</a:rPr>
              <a:t>Mine Sweeper: </a:t>
            </a:r>
            <a:r>
              <a:rPr lang="en-US" sz="4000" dirty="0">
                <a:solidFill>
                  <a:schemeClr val="tx1"/>
                </a:solidFill>
              </a:rPr>
              <a:t>Go onto your friend requests, friends, or suggested friends and find and share Red Flags</a:t>
            </a:r>
          </a:p>
        </p:txBody>
      </p:sp>
    </p:spTree>
    <p:extLst>
      <p:ext uri="{BB962C8B-B14F-4D97-AF65-F5344CB8AC3E}">
        <p14:creationId xmlns:p14="http://schemas.microsoft.com/office/powerpoint/2010/main" val="3806477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42218-B348-22E7-8785-063BB2E3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4B162B-9C31-E95B-7F2A-856F163FA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Other ways to Verify: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34A764-42A5-42F4-B4AB-FCEB708C5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886505"/>
            <a:ext cx="4298334" cy="4346537"/>
          </a:xfrm>
        </p:spPr>
        <p:txBody>
          <a:bodyPr anchor="ctr">
            <a:normAutofit fontScale="55000" lnSpcReduction="20000"/>
          </a:bodyPr>
          <a:lstStyle/>
          <a:p>
            <a:r>
              <a:rPr lang="en-NZ" sz="3200" dirty="0"/>
              <a:t>Cross Reference: Does this account have links to other accounts on different platforms?</a:t>
            </a:r>
          </a:p>
          <a:p>
            <a:r>
              <a:rPr lang="en-NZ" sz="3200" dirty="0"/>
              <a:t>Verification Badges: Most websites or Social Media Platforms have a verification badge to verify legitimate users. (LinkedIn)</a:t>
            </a:r>
          </a:p>
          <a:p>
            <a:r>
              <a:rPr lang="en-NZ" sz="3200" dirty="0"/>
              <a:t>Multiple Accounts: Check if there are multiple accounts with the same details, one may be old or hacked.</a:t>
            </a:r>
          </a:p>
          <a:p>
            <a:r>
              <a:rPr lang="en-NZ" sz="3200" dirty="0"/>
              <a:t>Confirm with a Person: If you are still unsure whether or not someone is using a fake account confirm in person with owner or mutual.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E6E5F18D-CE88-F432-9C06-107C850BC162}"/>
              </a:ext>
            </a:extLst>
          </p:cNvPr>
          <p:cNvSpPr txBox="1">
            <a:spLocks/>
          </p:cNvSpPr>
          <p:nvPr/>
        </p:nvSpPr>
        <p:spPr>
          <a:xfrm>
            <a:off x="4975668" y="2160589"/>
            <a:ext cx="4184035" cy="3880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 sz="3200" dirty="0"/>
              <a:t>Reverse Image Search: Reverse image searching can prove whether or not a photo is being reused or is authentic.</a:t>
            </a:r>
          </a:p>
          <a:p>
            <a:r>
              <a:rPr lang="en-NZ" sz="3200" dirty="0"/>
              <a:t>Security check details: Enter profile details on websites like “</a:t>
            </a:r>
            <a:r>
              <a:rPr lang="en-NZ" sz="3200" dirty="0" err="1"/>
              <a:t>HaveIBeenPwned</a:t>
            </a:r>
            <a:r>
              <a:rPr lang="en-NZ" sz="3200" dirty="0"/>
              <a:t>” to show scam reports</a:t>
            </a:r>
          </a:p>
          <a:p>
            <a:r>
              <a:rPr lang="en-NZ" sz="3200" dirty="0"/>
              <a:t>Comments/Reviews: See comments or reviews of other products to profile. Identify fake reviews too.</a:t>
            </a:r>
          </a:p>
          <a:p>
            <a:r>
              <a:rPr lang="en-NZ" sz="32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https://www.consumerprotection.govt.nz/general-help/scamwatch/identify-a-scam#how-to-check-for-scams</a:t>
            </a:r>
            <a:r>
              <a:rPr lang="en-NZ" sz="3200" dirty="0">
                <a:solidFill>
                  <a:srgbClr val="00B0F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3448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8DC4E1-1EC5-2EB7-D29C-53830B22B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B6F180D-4A62-38B8-5F9C-73BDF0D0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428DB76-9B39-F6C5-615C-A8644D70B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AE4225-C860-ECE0-3EF1-B9BB2940A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AF0EDC32-7F99-48CB-B676-CB478EE10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75868C91-C1D6-B326-E392-AD045DA44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ADE0583A-502A-6734-53F2-71E764193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8E71696A-325D-127E-7DD9-7EF456176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ECAFCC28-4CBF-5A5B-1335-2F0E2473E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A456915F-A882-7A73-99FC-B9B4D90E6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7AC22AE6-429D-6BD7-08C1-2CBB54B6B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4EA76DEA-74E1-8239-C7D5-9B5A923DA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157A264-C6AC-A279-622C-AB66BCF3C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51FBA3F-C6E0-1C0C-8C98-D2B5E52AD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1711B7C-6B10-4C9D-E77F-060ABBA21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D200FC6-6841-7A43-86DD-A6D2917E58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51F6D8B9-C060-F98A-55AD-2DA53EECE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0BDE6EFE-50ED-DC68-24E0-12F303157A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6EA4AD47-7A3E-E3CF-1266-2943C7EC54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6C09E358-CAE9-3FFA-CC7D-1CBD37829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CB4A122E-F079-19D8-60B6-6B5D2BE88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1CC7614-4680-B612-F6CB-9B16E7468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64D6EA-0908-BB33-7E58-005C398D4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1120" y="2510119"/>
            <a:ext cx="3602567" cy="18292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Purchases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4346418-E1E9-14CC-BEE8-68B3BC1B4DBC}"/>
              </a:ext>
            </a:extLst>
          </p:cNvPr>
          <p:cNvSpPr txBox="1">
            <a:spLocks/>
          </p:cNvSpPr>
          <p:nvPr/>
        </p:nvSpPr>
        <p:spPr>
          <a:xfrm>
            <a:off x="168980" y="336180"/>
            <a:ext cx="5459948" cy="5867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</a:rPr>
              <a:t>What other methods are there to ensure </a:t>
            </a:r>
            <a:r>
              <a:rPr lang="en-US" sz="4000" b="1">
                <a:solidFill>
                  <a:schemeClr val="tx1"/>
                </a:solidFill>
              </a:rPr>
              <a:t>secure payments?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195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2EA716-710E-B645-E532-B4861BF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24FF1F-1F4A-EC2D-0D9F-C82F17811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NZ" dirty="0">
                <a:solidFill>
                  <a:schemeClr val="tx1"/>
                </a:solidFill>
              </a:rPr>
              <a:t>Secure Payment Methods:</a:t>
            </a: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92044-2234-97FB-6C3C-48E6D50F2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3" y="1320617"/>
            <a:ext cx="11065933" cy="3880773"/>
          </a:xfrm>
        </p:spPr>
        <p:txBody>
          <a:bodyPr>
            <a:normAutofit fontScale="85000" lnSpcReduction="20000"/>
          </a:bodyPr>
          <a:lstStyle/>
          <a:p>
            <a:r>
              <a:rPr lang="en-NZ" sz="3600" dirty="0"/>
              <a:t>In Person – Cash: Safe if you can verify product is in working condition. No risk of online scams. Best used in safe, public areas. </a:t>
            </a:r>
          </a:p>
          <a:p>
            <a:r>
              <a:rPr lang="en-NZ" sz="3600" dirty="0"/>
              <a:t> Official Payment Systems (</a:t>
            </a:r>
            <a:r>
              <a:rPr lang="en-NZ" sz="3600" dirty="0" err="1"/>
              <a:t>AfterPay</a:t>
            </a:r>
            <a:r>
              <a:rPr lang="en-NZ" sz="3600" dirty="0"/>
              <a:t>, Ping, etc): Offer buyer protection and tracks transactions through platform.</a:t>
            </a:r>
          </a:p>
          <a:p>
            <a:r>
              <a:rPr lang="en-NZ" sz="3600" dirty="0"/>
              <a:t>Credit Cards – In most cases, if some is a victim of fraudulent behaviour they can receive a cash back where money paid into an account is reversed back into the purchasers.</a:t>
            </a:r>
          </a:p>
          <a:p>
            <a:endParaRPr lang="en-NZ" sz="3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936A36-1CAD-D42A-4807-0A40C2F41A41}"/>
              </a:ext>
            </a:extLst>
          </p:cNvPr>
          <p:cNvSpPr txBox="1">
            <a:spLocks/>
          </p:cNvSpPr>
          <p:nvPr/>
        </p:nvSpPr>
        <p:spPr>
          <a:xfrm>
            <a:off x="707573" y="5057878"/>
            <a:ext cx="11583664" cy="170905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r>
              <a:rPr lang="en-NZ" sz="3600" dirty="0"/>
              <a:t>Bank Transfer: Unlike credit cards, bank transfers do not offer charge backs. Transfers are treated differently and therefore cannot be returned, even if scammed. Avoid.                   (Rare Case with Andrew Che and $158,000)</a:t>
            </a:r>
          </a:p>
        </p:txBody>
      </p:sp>
    </p:spTree>
    <p:extLst>
      <p:ext uri="{BB962C8B-B14F-4D97-AF65-F5344CB8AC3E}">
        <p14:creationId xmlns:p14="http://schemas.microsoft.com/office/powerpoint/2010/main" val="3474368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4897B-4099-39E7-ACE6-0D9A54B7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11733E-5471-BF80-F4D5-CF0C39F0C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9991"/>
            <a:ext cx="8596668" cy="1320800"/>
          </a:xfrm>
        </p:spPr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Online Payments Secure Examples:</a:t>
            </a:r>
          </a:p>
        </p:txBody>
      </p:sp>
      <p:pic>
        <p:nvPicPr>
          <p:cNvPr id="2050" name="Picture 2" descr="ONLINE EFTPOS BY PAYMARK - Emergency Food NZ">
            <a:extLst>
              <a:ext uri="{FF2B5EF4-FFF2-40B4-BE49-F238E27FC236}">
                <a16:creationId xmlns:a16="http://schemas.microsoft.com/office/drawing/2014/main" id="{E4F4551C-26D1-91BD-8612-A354CEC66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57" y="1600791"/>
            <a:ext cx="7655516" cy="486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86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DAD3C-C0E4-F9AC-1EEE-E5B2DDED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74344-B8B0-8908-9B4E-0BAA8C4B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9991"/>
            <a:ext cx="8596668" cy="1320800"/>
          </a:xfrm>
        </p:spPr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Online Payments Secure Examples: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E5B087B-0126-D5AD-8047-3035393DE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692" y="1548999"/>
            <a:ext cx="7538373" cy="5029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931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5A1BB-F45E-3483-5FA3-86813978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610CC3-6E45-4C3C-D303-DDA5ACAEA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9991"/>
            <a:ext cx="8596668" cy="1320800"/>
          </a:xfrm>
        </p:spPr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Online Payments Secure Examples: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B69E29-090B-95F1-83F5-A80203DDB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6" y="1221244"/>
            <a:ext cx="5187680" cy="5445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CE2E53-B2A5-C13F-4523-AC9A45306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684" y="1567671"/>
            <a:ext cx="5187680" cy="529032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FA5DFA2-A05E-673C-F093-DD19EBC2903F}"/>
              </a:ext>
            </a:extLst>
          </p:cNvPr>
          <p:cNvSpPr/>
          <p:nvPr/>
        </p:nvSpPr>
        <p:spPr>
          <a:xfrm>
            <a:off x="5514754" y="4093536"/>
            <a:ext cx="871869" cy="595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0349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BF83A-8237-68C2-D4C5-3049D71C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B9251E-0FC6-9EB7-DCBA-C3646B918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9991"/>
            <a:ext cx="8596668" cy="1320800"/>
          </a:xfrm>
        </p:spPr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Online Payments Secure Examples: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EE4EFD-5943-C6AB-93BC-A48B40BD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6" y="1221244"/>
            <a:ext cx="5187680" cy="5445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44FAA1-C7BF-26F3-219E-0680DA041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250" y="1412630"/>
            <a:ext cx="5546679" cy="5445370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2CEE281-4B02-0EE2-62AE-0E12B860C6A3}"/>
              </a:ext>
            </a:extLst>
          </p:cNvPr>
          <p:cNvSpPr/>
          <p:nvPr/>
        </p:nvSpPr>
        <p:spPr>
          <a:xfrm>
            <a:off x="5358809" y="5041333"/>
            <a:ext cx="871869" cy="595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47740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BC5AF7-33F1-F3C2-CD8C-E99782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96BC66-9ADD-286F-4067-EC6DECE17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9991"/>
            <a:ext cx="8596668" cy="1320800"/>
          </a:xfrm>
        </p:spPr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Online Payments Secure Examples: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89C40C-B31E-B582-EEE1-749221C10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3" y="5095908"/>
            <a:ext cx="9825842" cy="5705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07A4E5-3223-20E7-207C-1B183EDFB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026" y="2047358"/>
            <a:ext cx="6173061" cy="16385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804824-6C8B-C57D-5336-7D9E3AA8E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69" y="1476825"/>
            <a:ext cx="10256330" cy="570533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186DA4C5-C8C0-9FA6-8330-BC67FD331A11}"/>
              </a:ext>
            </a:extLst>
          </p:cNvPr>
          <p:cNvSpPr/>
          <p:nvPr/>
        </p:nvSpPr>
        <p:spPr>
          <a:xfrm>
            <a:off x="4827182" y="3934047"/>
            <a:ext cx="776177" cy="9250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72825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6EA0-7425-8363-7F29-2748C0B2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A8246-ABB9-5515-BF6F-E0E495E34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NZ" dirty="0">
                <a:solidFill>
                  <a:schemeClr val="tx1"/>
                </a:solidFill>
              </a:rPr>
              <a:t>Secure Selling Methods: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AC05E-A195-D24D-03E9-5CC0C9E5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3" y="1320618"/>
            <a:ext cx="11065933" cy="4410332"/>
          </a:xfrm>
        </p:spPr>
        <p:txBody>
          <a:bodyPr>
            <a:normAutofit/>
          </a:bodyPr>
          <a:lstStyle/>
          <a:p>
            <a:r>
              <a:rPr lang="en-NZ" sz="2800" dirty="0"/>
              <a:t>In Person – Cash: Safe, can view cash before delivering products or services.</a:t>
            </a:r>
          </a:p>
          <a:p>
            <a:r>
              <a:rPr lang="en-NZ" sz="2800" dirty="0"/>
              <a:t>Bank Transfer: Once cleared, it is hard to reverse funds that are confirmed into your account.</a:t>
            </a:r>
          </a:p>
          <a:p>
            <a:r>
              <a:rPr lang="en-NZ" sz="2800" dirty="0"/>
              <a:t> Official Payment Systems (</a:t>
            </a:r>
            <a:r>
              <a:rPr lang="en-NZ" sz="2800" dirty="0" err="1"/>
              <a:t>AfterPay</a:t>
            </a:r>
            <a:r>
              <a:rPr lang="en-NZ" sz="2800" dirty="0"/>
              <a:t>, Ping, etc): Offers both buyer and seller protection throughout transaction. (This includes credit cards for most sales made)</a:t>
            </a:r>
          </a:p>
          <a:p>
            <a:endParaRPr lang="en-NZ" sz="3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B38CD1-CEF8-E3CC-6B2F-B067C885914D}"/>
              </a:ext>
            </a:extLst>
          </p:cNvPr>
          <p:cNvSpPr txBox="1">
            <a:spLocks/>
          </p:cNvSpPr>
          <p:nvPr/>
        </p:nvSpPr>
        <p:spPr>
          <a:xfrm>
            <a:off x="707573" y="5057878"/>
            <a:ext cx="11583664" cy="1709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0000"/>
              </a:buClr>
              <a:buNone/>
            </a:pPr>
            <a:endParaRPr lang="en-NZ" sz="3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138738E-E9C8-FAAD-4F5A-5712CE48EAAA}"/>
              </a:ext>
            </a:extLst>
          </p:cNvPr>
          <p:cNvSpPr txBox="1">
            <a:spLocks/>
          </p:cNvSpPr>
          <p:nvPr/>
        </p:nvSpPr>
        <p:spPr>
          <a:xfrm>
            <a:off x="707573" y="4830779"/>
            <a:ext cx="11065933" cy="1544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r>
              <a:rPr lang="en-NZ" sz="2800" dirty="0"/>
              <a:t>Crypto/Stocks: Highly volatile</a:t>
            </a:r>
          </a:p>
          <a:p>
            <a:pPr>
              <a:buClr>
                <a:srgbClr val="FF0000"/>
              </a:buClr>
            </a:pPr>
            <a:r>
              <a:rPr lang="en-NZ" sz="2800" dirty="0"/>
              <a:t>Email confirmations: Always double check legitimate payment process</a:t>
            </a:r>
          </a:p>
          <a:p>
            <a:pPr>
              <a:buClr>
                <a:srgbClr val="FF0000"/>
              </a:buClr>
            </a:pPr>
            <a:endParaRPr lang="en-NZ" sz="3600" dirty="0"/>
          </a:p>
        </p:txBody>
      </p:sp>
    </p:spTree>
    <p:extLst>
      <p:ext uri="{BB962C8B-B14F-4D97-AF65-F5344CB8AC3E}">
        <p14:creationId xmlns:p14="http://schemas.microsoft.com/office/powerpoint/2010/main" val="3725141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9697C-32BC-F370-1EBE-98F13DBC6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C9AA307-D414-9D69-3DCD-1D7012E19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5E6341-BC1E-3114-3AEF-11A421D72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EA63E62-0392-7623-27E7-650126678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EE6AD572-BBF8-F2A9-6CAD-B107B24EB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A80076B4-2766-4674-52EB-1B4323FFE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32517865-92FD-E8D4-54A3-04A8925BB7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A57E7702-431C-A796-DA41-06F948174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253569EF-BCF7-2FB8-2B80-EE1DDBB2B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16DD0685-351F-5A08-C22F-47512E711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AF4740EE-52F4-0416-F93F-BF629C611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B81F3C0A-5696-C41C-2425-10EAAC7FB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6A64AB08-9E42-EE5A-3F4C-18F66C7EC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5634E11-4935-FF25-9F13-F7538F050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67230" y="-8468"/>
            <a:ext cx="4763558" cy="6866467"/>
            <a:chOff x="67175" y="-8467"/>
            <a:chExt cx="4763558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6D1AB09-7348-8184-589B-0E066AC8C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448300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3419FD0-8BA5-6664-1548-28BE6FFD2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7175" y="3681413"/>
              <a:ext cx="4763558" cy="3176587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B9B477FF-996A-AD84-E1B6-A0B8C75AB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58764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2CE78C76-B25C-CF94-14FA-D70181138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0730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1F45E631-079A-89CD-C17B-7B2F2C1A0A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9621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13D4CD30-7F21-E247-5B17-62F7D94ACA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11788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604FD7D2-A375-C7DB-5A9D-E82E2030D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48954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0B091D2-FAE6-C1D8-6510-C2E4015D7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6497" y="-8468"/>
            <a:ext cx="5074930" cy="6866468"/>
          </a:xfrm>
          <a:custGeom>
            <a:avLst/>
            <a:gdLst>
              <a:gd name="connsiteX0" fmla="*/ 0 w 5074930"/>
              <a:gd name="connsiteY0" fmla="*/ 0 h 6858000"/>
              <a:gd name="connsiteX1" fmla="*/ 1249825 w 5074930"/>
              <a:gd name="connsiteY1" fmla="*/ 0 h 6858000"/>
              <a:gd name="connsiteX2" fmla="*/ 1249825 w 5074930"/>
              <a:gd name="connsiteY2" fmla="*/ 8457 h 6858000"/>
              <a:gd name="connsiteX3" fmla="*/ 5074930 w 5074930"/>
              <a:gd name="connsiteY3" fmla="*/ 8457 h 6858000"/>
              <a:gd name="connsiteX4" fmla="*/ 5074930 w 5074930"/>
              <a:gd name="connsiteY4" fmla="*/ 6858000 h 6858000"/>
              <a:gd name="connsiteX5" fmla="*/ 1249825 w 5074930"/>
              <a:gd name="connsiteY5" fmla="*/ 6858000 h 6858000"/>
              <a:gd name="connsiteX6" fmla="*/ 1109383 w 507493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4930" h="6858000">
                <a:moveTo>
                  <a:pt x="0" y="0"/>
                </a:moveTo>
                <a:lnTo>
                  <a:pt x="1249825" y="0"/>
                </a:lnTo>
                <a:lnTo>
                  <a:pt x="1249825" y="8457"/>
                </a:lnTo>
                <a:lnTo>
                  <a:pt x="5074930" y="8457"/>
                </a:lnTo>
                <a:lnTo>
                  <a:pt x="5074930" y="6858000"/>
                </a:lnTo>
                <a:lnTo>
                  <a:pt x="1249825" y="6858000"/>
                </a:lnTo>
                <a:lnTo>
                  <a:pt x="1109383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28B355-3FF6-AA3E-1474-D24630A3C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1677" y="2404287"/>
            <a:ext cx="4846946" cy="18292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Subscriptions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4A8BFEF-AA18-BC0C-287D-C3E6346DEFF7}"/>
              </a:ext>
            </a:extLst>
          </p:cNvPr>
          <p:cNvSpPr txBox="1">
            <a:spLocks/>
          </p:cNvSpPr>
          <p:nvPr/>
        </p:nvSpPr>
        <p:spPr>
          <a:xfrm>
            <a:off x="168980" y="336180"/>
            <a:ext cx="5459948" cy="5867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</a:rPr>
              <a:t>Managing and reviewing subscriptions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505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3E14-3A21-AD55-4699-D3D92C64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77E3-9AA2-5B4C-FC20-950747B2D2CC}"/>
              </a:ext>
            </a:extLst>
          </p:cNvPr>
          <p:cNvSpPr txBox="1">
            <a:spLocks/>
          </p:cNvSpPr>
          <p:nvPr/>
        </p:nvSpPr>
        <p:spPr>
          <a:xfrm>
            <a:off x="476764" y="455570"/>
            <a:ext cx="6236208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100" b="1">
                <a:solidFill>
                  <a:schemeClr val="tx1"/>
                </a:solidFill>
              </a:rPr>
              <a:t>Where to find and review outgoing subscriptions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3C29BD3-3C90-8234-98A1-E7988259715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380530" y="2183361"/>
            <a:ext cx="7699673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App Stores Review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Review active subscriptions through app store accounts on mobile devices to monitor charges.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Bank Statements Check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Examine bank and credit card statements regularly to identify recurring subscription charges.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Account Settings Review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Access platform account settings to find and manage current subscription services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24392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38BE-B0C3-0449-F050-DA607B49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chemeClr val="tx1"/>
                </a:solidFill>
              </a:rPr>
              <a:t>Google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82949-4EBC-8C70-A8AC-7D5CD27DF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01" y="1417087"/>
            <a:ext cx="7660624" cy="518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42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9057-88BA-637B-240E-17C2E004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76DCEC-7278-E68F-0882-C7C70799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94" y="372352"/>
            <a:ext cx="789977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cancel unwanted or unknown subscriptions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D8CE998-DCDE-BE44-FFA9-AD0BE4DC8B3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137896" y="2270264"/>
            <a:ext cx="862279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Using Platform Settings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Access account settings on platforms to review and cancel unwanted subscriptions easily.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Contacting Service Providers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Reach out directly to service providers to request cancellation of unknown or unwanted subscriptions.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Confirming Cancellation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Always follow up to verify subscription cancellations to avoid future charges.</a:t>
            </a:r>
          </a:p>
        </p:txBody>
      </p:sp>
    </p:spTree>
    <p:extLst>
      <p:ext uri="{BB962C8B-B14F-4D97-AF65-F5344CB8AC3E}">
        <p14:creationId xmlns:p14="http://schemas.microsoft.com/office/powerpoint/2010/main" val="224512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96B7F-05D7-E4A5-1E75-480093BE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B936FE-0CF0-2F77-5655-A8018885C79D}"/>
              </a:ext>
            </a:extLst>
          </p:cNvPr>
          <p:cNvSpPr txBox="1">
            <a:spLocks/>
          </p:cNvSpPr>
          <p:nvPr/>
        </p:nvSpPr>
        <p:spPr>
          <a:xfrm>
            <a:off x="606268" y="489310"/>
            <a:ext cx="6300216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Tips for keeping track of ongoing payments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A97D16-02B8-6A31-C4DE-759CA0BFC58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6268" y="2440385"/>
            <a:ext cx="9377704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Review Bank Statements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Regularly check bank statements to identify all ongoing payments and subscriptions accurately.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Set Payment Reminders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Use calendar or phone reminders to keep track of payment due dates and avoid missed payments.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Use Budgeting Apps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Leverage budgeting apps to track subscriptions and manage ongoing payments efficiently.</a:t>
            </a:r>
          </a:p>
        </p:txBody>
      </p:sp>
    </p:spTree>
    <p:extLst>
      <p:ext uri="{BB962C8B-B14F-4D97-AF65-F5344CB8AC3E}">
        <p14:creationId xmlns:p14="http://schemas.microsoft.com/office/powerpoint/2010/main" val="390245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134A3-E7D3-60AF-32B9-89E7B4E8F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D0610-BC5B-0346-FC50-46BDA2A7E78F}"/>
              </a:ext>
            </a:extLst>
          </p:cNvPr>
          <p:cNvSpPr txBox="1">
            <a:spLocks/>
          </p:cNvSpPr>
          <p:nvPr/>
        </p:nvSpPr>
        <p:spPr>
          <a:xfrm>
            <a:off x="408161" y="563738"/>
            <a:ext cx="5928844" cy="8610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Assignments: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45C715-47E2-F098-78CB-16AAF5C36C53}"/>
              </a:ext>
            </a:extLst>
          </p:cNvPr>
          <p:cNvSpPr txBox="1">
            <a:spLocks/>
          </p:cNvSpPr>
          <p:nvPr/>
        </p:nvSpPr>
        <p:spPr>
          <a:xfrm>
            <a:off x="549927" y="1683701"/>
            <a:ext cx="7052351" cy="39090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Assignment 1: Remove or delete friend requests or friend suggestions from accounts with Red Flags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Assignment 2: If applicable, review monthly subscriptions. (Even if you are not paying for them)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481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E4EC-E8CF-39E1-0B8C-2096A72C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6D9DD7-58CE-59F3-BF80-D64509F4A1D8}"/>
              </a:ext>
            </a:extLst>
          </p:cNvPr>
          <p:cNvSpPr txBox="1">
            <a:spLocks/>
          </p:cNvSpPr>
          <p:nvPr/>
        </p:nvSpPr>
        <p:spPr>
          <a:xfrm>
            <a:off x="938543" y="993414"/>
            <a:ext cx="4745736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100" b="1" dirty="0">
                <a:solidFill>
                  <a:schemeClr val="tx1"/>
                </a:solidFill>
              </a:rPr>
              <a:t>Conclusion: What we covered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C810BA0-D6E4-8AD1-CE5E-07494FFAE86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938543" y="2593614"/>
            <a:ext cx="4672584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Identifying Scams and Fraudulent Activities Online</a:t>
            </a:r>
          </a:p>
          <a:p>
            <a:r>
              <a:rPr lang="en-US" dirty="0"/>
              <a:t>Spotting and Avoiding Fake Profiles</a:t>
            </a:r>
          </a:p>
          <a:p>
            <a:r>
              <a:rPr lang="en-US" dirty="0"/>
              <a:t>Assessing Online Authenticity and Trustworthiness</a:t>
            </a:r>
          </a:p>
          <a:p>
            <a:r>
              <a:rPr lang="en-US" dirty="0"/>
              <a:t>Safe Practices When Buying/Selling Online</a:t>
            </a:r>
          </a:p>
          <a:p>
            <a:r>
              <a:rPr lang="en-US" dirty="0"/>
              <a:t>Managing and Monitoring Online Subscriptions</a:t>
            </a:r>
          </a:p>
        </p:txBody>
      </p:sp>
    </p:spTree>
    <p:extLst>
      <p:ext uri="{BB962C8B-B14F-4D97-AF65-F5344CB8AC3E}">
        <p14:creationId xmlns:p14="http://schemas.microsoft.com/office/powerpoint/2010/main" val="192376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5A2A8-F196-8078-6D30-6DCF5AF2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7DCCEA9-BC12-9615-9BBB-BEF00107F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5FA8DB1-D155-4DCB-042A-6F6203FB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C62049E-EF8C-297A-CFC2-E9F9BB38B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C8C26506-955A-E4D4-605C-41C6D0BD8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121" y="109868"/>
            <a:ext cx="8707302" cy="804532"/>
          </a:xfrm>
        </p:spPr>
        <p:txBody>
          <a:bodyPr anchor="ctr"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Activities: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64FB2-6C40-A015-03C3-230DD3705494}"/>
              </a:ext>
            </a:extLst>
          </p:cNvPr>
          <p:cNvSpPr txBox="1"/>
          <p:nvPr/>
        </p:nvSpPr>
        <p:spPr>
          <a:xfrm>
            <a:off x="842596" y="1997839"/>
            <a:ext cx="37426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 err="1"/>
              <a:t>Interland</a:t>
            </a:r>
            <a:r>
              <a:rPr lang="en-US" sz="2000" b="1" dirty="0"/>
              <a:t> by Google – “Reality River”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Topic</a:t>
            </a:r>
            <a:r>
              <a:rPr lang="en-US" sz="2000" dirty="0"/>
              <a:t>: Online deception, fake messages/profiles.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Game</a:t>
            </a:r>
            <a:r>
              <a:rPr lang="en-US" sz="2000" dirty="0"/>
              <a:t>: Choose the trustworthy answer to progress.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Why it fits</a:t>
            </a:r>
            <a:r>
              <a:rPr lang="en-US" sz="2000" dirty="0"/>
              <a:t>: Covers fake info and scams in a fun format.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A379B-27E7-B07B-37C4-FFFF1536B5D1}"/>
              </a:ext>
            </a:extLst>
          </p:cNvPr>
          <p:cNvSpPr txBox="1"/>
          <p:nvPr/>
        </p:nvSpPr>
        <p:spPr>
          <a:xfrm>
            <a:off x="5735416" y="1997839"/>
            <a:ext cx="37426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Assignments:</a:t>
            </a:r>
          </a:p>
          <a:p>
            <a:r>
              <a:rPr lang="en-US" sz="2000" b="1" dirty="0"/>
              <a:t>- Assignment 1</a:t>
            </a:r>
            <a:r>
              <a:rPr lang="en-US" sz="2000" dirty="0"/>
              <a:t>: Remove or delete friend requests or friend suggestions from accounts with Red Flags</a:t>
            </a:r>
          </a:p>
          <a:p>
            <a:r>
              <a:rPr lang="en-US" sz="2000" b="1" dirty="0"/>
              <a:t>- Assignment 2</a:t>
            </a:r>
            <a:r>
              <a:rPr lang="en-US" sz="2000" dirty="0"/>
              <a:t>: If applicable, review monthly subscriptions. (Even if you are not paying for them.</a:t>
            </a:r>
          </a:p>
        </p:txBody>
      </p:sp>
    </p:spTree>
    <p:extLst>
      <p:ext uri="{BB962C8B-B14F-4D97-AF65-F5344CB8AC3E}">
        <p14:creationId xmlns:p14="http://schemas.microsoft.com/office/powerpoint/2010/main" val="25201379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-1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A4F8E6-D099-D648-773D-F5D0622C9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4654" y="1892300"/>
            <a:ext cx="3425445" cy="3073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Sources/More Info</a:t>
            </a: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83093-08AC-C510-B598-1241D884AB7B}"/>
              </a:ext>
            </a:extLst>
          </p:cNvPr>
          <p:cNvSpPr txBox="1"/>
          <p:nvPr/>
        </p:nvSpPr>
        <p:spPr>
          <a:xfrm>
            <a:off x="376263" y="614231"/>
            <a:ext cx="6107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/>
              <a:t>https://www.scamwatch.gov.au/types-of-scams</a:t>
            </a:r>
          </a:p>
        </p:txBody>
      </p:sp>
    </p:spTree>
    <p:extLst>
      <p:ext uri="{BB962C8B-B14F-4D97-AF65-F5344CB8AC3E}">
        <p14:creationId xmlns:p14="http://schemas.microsoft.com/office/powerpoint/2010/main" val="2224008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226</TotalTime>
  <Words>2624</Words>
  <Application>Microsoft Office PowerPoint</Application>
  <PresentationFormat>Widescreen</PresentationFormat>
  <Paragraphs>215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Arial</vt:lpstr>
      <vt:lpstr>Trebuchet MS</vt:lpstr>
      <vt:lpstr>Wingdings 3</vt:lpstr>
      <vt:lpstr>Facet</vt:lpstr>
      <vt:lpstr>Cyber Safety: Scams, Catfishing, Subscriptions &amp; Purchasing Safety</vt:lpstr>
      <vt:lpstr>PowerPoint Presentation</vt:lpstr>
      <vt:lpstr>Scamming:</vt:lpstr>
      <vt:lpstr>Where can Scams take place?</vt:lpstr>
      <vt:lpstr>What types of Scams are there?</vt:lpstr>
      <vt:lpstr>What types of Scams are there?</vt:lpstr>
      <vt:lpstr>What types of Scams are there?</vt:lpstr>
      <vt:lpstr>When to consider it may be a scam?</vt:lpstr>
      <vt:lpstr>When was the most recent experience where someone tried to scam you?</vt:lpstr>
      <vt:lpstr>Activity: Yes or No</vt:lpstr>
      <vt:lpstr>Activity: Yes or No</vt:lpstr>
      <vt:lpstr>Activity: Yes or No</vt:lpstr>
      <vt:lpstr>Fake Accounts (Catfishing)</vt:lpstr>
      <vt:lpstr>Initial Encounters: What to look for?</vt:lpstr>
      <vt:lpstr>Fake Accounts: (Catfishing)</vt:lpstr>
      <vt:lpstr>Fake Accounts: (Catfishing)</vt:lpstr>
      <vt:lpstr>PowerPoint Presentation</vt:lpstr>
      <vt:lpstr>Other ways to Verify:</vt:lpstr>
      <vt:lpstr>PowerPoint Presentation</vt:lpstr>
      <vt:lpstr>Secure Payment Methods:</vt:lpstr>
      <vt:lpstr>Online Payments Secure Examples:</vt:lpstr>
      <vt:lpstr>Online Payments Secure Examples:</vt:lpstr>
      <vt:lpstr>Online Payments Secure Examples:</vt:lpstr>
      <vt:lpstr>Online Payments Secure Examples:</vt:lpstr>
      <vt:lpstr>Online Payments Secure Examples:</vt:lpstr>
      <vt:lpstr>Secure Selling Methods:</vt:lpstr>
      <vt:lpstr>PowerPoint Presentation</vt:lpstr>
      <vt:lpstr>PowerPoint Presentation</vt:lpstr>
      <vt:lpstr>Google</vt:lpstr>
      <vt:lpstr>How to cancel unwanted or unknown subscriptions</vt:lpstr>
      <vt:lpstr>PowerPoint Presentation</vt:lpstr>
      <vt:lpstr>PowerPoint Presentation</vt:lpstr>
      <vt:lpstr>PowerPoint Presentation</vt:lpstr>
      <vt:lpstr>Activities: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Fermanis</dc:creator>
  <cp:lastModifiedBy>William Fermanis</cp:lastModifiedBy>
  <cp:revision>1</cp:revision>
  <dcterms:created xsi:type="dcterms:W3CDTF">2025-08-05T09:24:42Z</dcterms:created>
  <dcterms:modified xsi:type="dcterms:W3CDTF">2025-08-06T01:50:35Z</dcterms:modified>
</cp:coreProperties>
</file>