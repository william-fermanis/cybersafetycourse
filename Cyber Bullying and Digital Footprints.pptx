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1" r:id="rId2"/>
    <p:sldId id="2585" r:id="rId3"/>
    <p:sldId id="2584" r:id="rId4"/>
    <p:sldId id="2562" r:id="rId5"/>
    <p:sldId id="2586" r:id="rId6"/>
    <p:sldId id="2563" r:id="rId7"/>
    <p:sldId id="2587" r:id="rId8"/>
    <p:sldId id="2592" r:id="rId9"/>
    <p:sldId id="2589" r:id="rId10"/>
    <p:sldId id="2590" r:id="rId11"/>
    <p:sldId id="2588" r:id="rId12"/>
    <p:sldId id="2564" r:id="rId13"/>
    <p:sldId id="2591" r:id="rId14"/>
    <p:sldId id="2565" r:id="rId15"/>
    <p:sldId id="2593" r:id="rId16"/>
    <p:sldId id="2566" r:id="rId17"/>
    <p:sldId id="2567" r:id="rId18"/>
    <p:sldId id="2568" r:id="rId19"/>
    <p:sldId id="2569" r:id="rId20"/>
    <p:sldId id="2594" r:id="rId21"/>
    <p:sldId id="2570" r:id="rId22"/>
    <p:sldId id="2571" r:id="rId23"/>
    <p:sldId id="2572" r:id="rId24"/>
    <p:sldId id="2595" r:id="rId25"/>
    <p:sldId id="2573" r:id="rId26"/>
    <p:sldId id="2574" r:id="rId27"/>
    <p:sldId id="2575" r:id="rId28"/>
    <p:sldId id="2597" r:id="rId29"/>
    <p:sldId id="2576" r:id="rId30"/>
    <p:sldId id="2596" r:id="rId31"/>
    <p:sldId id="2577" r:id="rId32"/>
    <p:sldId id="2579" r:id="rId33"/>
    <p:sldId id="2580" r:id="rId34"/>
    <p:sldId id="2581" r:id="rId35"/>
    <p:sldId id="2582" r:id="rId36"/>
    <p:sldId id="2583" r:id="rId37"/>
    <p:sldId id="2599" r:id="rId38"/>
    <p:sldId id="259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yber Safety for 17–18 Year Olds: Understanding Cyberbullying and Your Digital Footprint" id="{E56FA9F2-DE68-41BE-8F99-1B7AB24C3EDA}">
          <p14:sldIdLst>
            <p14:sldId id="2561"/>
            <p14:sldId id="2585"/>
            <p14:sldId id="2584"/>
            <p14:sldId id="2562"/>
            <p14:sldId id="2586"/>
          </p14:sldIdLst>
        </p14:section>
        <p14:section name="Recognising and Understanding Cyberbullying" id="{2A4EE73E-B456-4357-846D-62CFA10FEBC9}">
          <p14:sldIdLst>
            <p14:sldId id="2563"/>
            <p14:sldId id="2587"/>
            <p14:sldId id="2592"/>
            <p14:sldId id="2589"/>
            <p14:sldId id="2590"/>
            <p14:sldId id="2588"/>
            <p14:sldId id="2564"/>
            <p14:sldId id="2591"/>
            <p14:sldId id="2565"/>
            <p14:sldId id="2593"/>
            <p14:sldId id="2566"/>
          </p14:sldIdLst>
        </p14:section>
        <p14:section name="Consequences of Cyberbullying: Lasting Effects and Outcomes" id="{BAC7EFB9-84C9-45B2-B3C4-7B35509D073F}">
          <p14:sldIdLst>
            <p14:sldId id="2567"/>
            <p14:sldId id="2568"/>
            <p14:sldId id="2569"/>
            <p14:sldId id="2594"/>
            <p14:sldId id="2570"/>
          </p14:sldIdLst>
        </p14:section>
        <p14:section name="Responding to and Preventing Cyberbullying" id="{D3EC7300-F7FD-4A9C-9467-69F16671399D}">
          <p14:sldIdLst>
            <p14:sldId id="2571"/>
            <p14:sldId id="2572"/>
            <p14:sldId id="2595"/>
            <p14:sldId id="2573"/>
            <p14:sldId id="2574"/>
          </p14:sldIdLst>
        </p14:section>
        <p14:section name="Understanding Your Digital Footprint" id="{A48914B0-44E6-4295-9EBC-F37B5079D93D}">
          <p14:sldIdLst>
            <p14:sldId id="2575"/>
            <p14:sldId id="2597"/>
            <p14:sldId id="2576"/>
            <p14:sldId id="2596"/>
            <p14:sldId id="2577"/>
          </p14:sldIdLst>
        </p14:section>
        <p14:section name="Real-World Consequences and Staying Safe Online" id="{3F0D888E-AD82-44BC-9DBA-213A165C0AC7}">
          <p14:sldIdLst>
            <p14:sldId id="2579"/>
            <p14:sldId id="2580"/>
            <p14:sldId id="2581"/>
            <p14:sldId id="2582"/>
          </p14:sldIdLst>
        </p14:section>
        <p14:section name="Conclusion: Empowering Yourself for Safe and Responsible Online Living" id="{DA64877C-4F8C-4CBE-83B8-BF2C25D6B443}">
          <p14:sldIdLst>
            <p14:sldId id="2583"/>
            <p14:sldId id="2599"/>
            <p14:sldId id="25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88" d="100"/>
          <a:sy n="88" d="100"/>
        </p:scale>
        <p:origin x="-40" y="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ata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image" Target="../media/image18.jpeg"/></Relationships>
</file>

<file path=ppt/diagrams/_rels/data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image" Target="../media/image18.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2E7848-765D-4C2C-8676-040995D0C7F0}"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NZ"/>
        </a:p>
      </dgm:t>
    </dgm:pt>
    <dgm:pt modelId="{449C7641-585B-4BA5-BD87-B5B0D5AE6666}">
      <dgm:prSet/>
      <dgm:spPr/>
      <dgm:t>
        <a:bodyPr/>
        <a:lstStyle/>
        <a:p>
          <a:pPr>
            <a:lnSpc>
              <a:spcPct val="100000"/>
            </a:lnSpc>
            <a:defRPr b="1"/>
          </a:pPr>
          <a:r>
            <a:rPr lang="en-NZ"/>
            <a:t>Legal Actions</a:t>
          </a:r>
        </a:p>
      </dgm:t>
    </dgm:pt>
    <dgm:pt modelId="{D8A05BB9-36AD-428C-A2F8-EEE3049E9797}" type="parTrans" cxnId="{A84436D2-4826-4AC7-9E2A-0C9A44FA17E3}">
      <dgm:prSet/>
      <dgm:spPr/>
      <dgm:t>
        <a:bodyPr/>
        <a:lstStyle/>
        <a:p>
          <a:endParaRPr lang="en-NZ"/>
        </a:p>
      </dgm:t>
    </dgm:pt>
    <dgm:pt modelId="{E866D5F4-E1D1-494E-BCC5-FEB72B630B80}" type="sibTrans" cxnId="{A84436D2-4826-4AC7-9E2A-0C9A44FA17E3}">
      <dgm:prSet/>
      <dgm:spPr/>
      <dgm:t>
        <a:bodyPr/>
        <a:lstStyle/>
        <a:p>
          <a:pPr>
            <a:lnSpc>
              <a:spcPct val="100000"/>
            </a:lnSpc>
            <a:defRPr b="1"/>
          </a:pPr>
          <a:endParaRPr lang="en-NZ"/>
        </a:p>
      </dgm:t>
    </dgm:pt>
    <dgm:pt modelId="{59C41906-C50C-454C-8FB5-B1C07B41E8CE}">
      <dgm:prSet/>
      <dgm:spPr/>
      <dgm:t>
        <a:bodyPr/>
        <a:lstStyle/>
        <a:p>
          <a:pPr>
            <a:lnSpc>
              <a:spcPct val="100000"/>
            </a:lnSpc>
          </a:pPr>
          <a:r>
            <a:rPr lang="en-NZ"/>
            <a:t>Cyberbullying perpetrators may be subject to criminal or civil legal consequences, including fines or prosecution.</a:t>
          </a:r>
        </a:p>
      </dgm:t>
    </dgm:pt>
    <dgm:pt modelId="{71655FE0-778B-4521-B399-E05B3813B941}" type="parTrans" cxnId="{A76DBCAE-2043-41CE-A971-D77B4B184344}">
      <dgm:prSet/>
      <dgm:spPr/>
      <dgm:t>
        <a:bodyPr/>
        <a:lstStyle/>
        <a:p>
          <a:endParaRPr lang="en-NZ"/>
        </a:p>
      </dgm:t>
    </dgm:pt>
    <dgm:pt modelId="{137C0226-D909-4249-BB34-110B93107566}" type="sibTrans" cxnId="{A76DBCAE-2043-41CE-A971-D77B4B184344}">
      <dgm:prSet/>
      <dgm:spPr/>
      <dgm:t>
        <a:bodyPr/>
        <a:lstStyle/>
        <a:p>
          <a:endParaRPr lang="en-NZ"/>
        </a:p>
      </dgm:t>
    </dgm:pt>
    <dgm:pt modelId="{5CE086D5-3919-446C-BDC0-FFEA7B78E6EE}">
      <dgm:prSet/>
      <dgm:spPr/>
      <dgm:t>
        <a:bodyPr/>
        <a:lstStyle/>
        <a:p>
          <a:pPr>
            <a:lnSpc>
              <a:spcPct val="100000"/>
            </a:lnSpc>
            <a:defRPr b="1"/>
          </a:pPr>
          <a:r>
            <a:rPr lang="en-NZ"/>
            <a:t>Educational Disciplinary Measures</a:t>
          </a:r>
        </a:p>
      </dgm:t>
    </dgm:pt>
    <dgm:pt modelId="{40992EF8-D678-4EA5-B2EE-3D6281ABE4D9}" type="parTrans" cxnId="{84AD9474-0D37-435D-A038-6649BCC34394}">
      <dgm:prSet/>
      <dgm:spPr/>
      <dgm:t>
        <a:bodyPr/>
        <a:lstStyle/>
        <a:p>
          <a:endParaRPr lang="en-NZ"/>
        </a:p>
      </dgm:t>
    </dgm:pt>
    <dgm:pt modelId="{57F67811-2FA2-4BE6-A317-553B64AFC6D3}" type="sibTrans" cxnId="{84AD9474-0D37-435D-A038-6649BCC34394}">
      <dgm:prSet/>
      <dgm:spPr/>
      <dgm:t>
        <a:bodyPr/>
        <a:lstStyle/>
        <a:p>
          <a:pPr>
            <a:lnSpc>
              <a:spcPct val="100000"/>
            </a:lnSpc>
            <a:defRPr b="1"/>
          </a:pPr>
          <a:endParaRPr lang="en-NZ"/>
        </a:p>
      </dgm:t>
    </dgm:pt>
    <dgm:pt modelId="{96E7C962-C976-47E4-A8FF-DBD75EEACB61}">
      <dgm:prSet/>
      <dgm:spPr/>
      <dgm:t>
        <a:bodyPr/>
        <a:lstStyle/>
        <a:p>
          <a:pPr>
            <a:lnSpc>
              <a:spcPct val="100000"/>
            </a:lnSpc>
          </a:pPr>
          <a:r>
            <a:rPr lang="en-NZ"/>
            <a:t>Schools can impose disciplinary actions such as suspension or expulsion on students involved in cyberbullying.</a:t>
          </a:r>
        </a:p>
      </dgm:t>
    </dgm:pt>
    <dgm:pt modelId="{674A07B1-0E4A-43C1-8B7C-1ACC4AB45B02}" type="parTrans" cxnId="{EBB40184-C187-48D5-AD2A-C302A4D64DA9}">
      <dgm:prSet/>
      <dgm:spPr/>
      <dgm:t>
        <a:bodyPr/>
        <a:lstStyle/>
        <a:p>
          <a:endParaRPr lang="en-NZ"/>
        </a:p>
      </dgm:t>
    </dgm:pt>
    <dgm:pt modelId="{772660F6-66C0-471F-9FB5-096038BC3B68}" type="sibTrans" cxnId="{EBB40184-C187-48D5-AD2A-C302A4D64DA9}">
      <dgm:prSet/>
      <dgm:spPr/>
      <dgm:t>
        <a:bodyPr/>
        <a:lstStyle/>
        <a:p>
          <a:endParaRPr lang="en-NZ"/>
        </a:p>
      </dgm:t>
    </dgm:pt>
    <dgm:pt modelId="{56E80651-2220-4D86-BC75-0E3EA7BB7568}">
      <dgm:prSet/>
      <dgm:spPr/>
      <dgm:t>
        <a:bodyPr/>
        <a:lstStyle/>
        <a:p>
          <a:pPr>
            <a:lnSpc>
              <a:spcPct val="100000"/>
            </a:lnSpc>
            <a:defRPr b="1"/>
          </a:pPr>
          <a:r>
            <a:rPr lang="en-NZ"/>
            <a:t>Personal Reputation Damage</a:t>
          </a:r>
        </a:p>
      </dgm:t>
    </dgm:pt>
    <dgm:pt modelId="{98AE66D7-4FBA-4743-8942-47F5E07868DB}" type="parTrans" cxnId="{8BC67FBD-BC83-4EA8-91A4-4895CA44D626}">
      <dgm:prSet/>
      <dgm:spPr/>
      <dgm:t>
        <a:bodyPr/>
        <a:lstStyle/>
        <a:p>
          <a:endParaRPr lang="en-NZ"/>
        </a:p>
      </dgm:t>
    </dgm:pt>
    <dgm:pt modelId="{507DCB7A-374B-4A2A-82F6-07DF6560E0C3}" type="sibTrans" cxnId="{8BC67FBD-BC83-4EA8-91A4-4895CA44D626}">
      <dgm:prSet/>
      <dgm:spPr/>
      <dgm:t>
        <a:bodyPr/>
        <a:lstStyle/>
        <a:p>
          <a:endParaRPr lang="en-NZ"/>
        </a:p>
      </dgm:t>
    </dgm:pt>
    <dgm:pt modelId="{45BF3A27-A0F6-44AF-9755-36560AE61CF9}">
      <dgm:prSet/>
      <dgm:spPr/>
      <dgm:t>
        <a:bodyPr/>
        <a:lstStyle/>
        <a:p>
          <a:pPr>
            <a:lnSpc>
              <a:spcPct val="100000"/>
            </a:lnSpc>
          </a:pPr>
          <a:r>
            <a:rPr lang="en-NZ"/>
            <a:t>Engaging in cyberbullying can harm personal relationships and social standing among peers and family.</a:t>
          </a:r>
        </a:p>
      </dgm:t>
    </dgm:pt>
    <dgm:pt modelId="{0843AD83-FC52-4F7A-97B0-20808670F47D}" type="parTrans" cxnId="{A3D2BF41-3F9F-4685-AEF6-7C74409CB277}">
      <dgm:prSet/>
      <dgm:spPr/>
      <dgm:t>
        <a:bodyPr/>
        <a:lstStyle/>
        <a:p>
          <a:endParaRPr lang="en-NZ"/>
        </a:p>
      </dgm:t>
    </dgm:pt>
    <dgm:pt modelId="{46D5D5CD-D098-432B-8264-429967D71F72}" type="sibTrans" cxnId="{A3D2BF41-3F9F-4685-AEF6-7C74409CB277}">
      <dgm:prSet/>
      <dgm:spPr/>
      <dgm:t>
        <a:bodyPr/>
        <a:lstStyle/>
        <a:p>
          <a:endParaRPr lang="en-NZ"/>
        </a:p>
      </dgm:t>
    </dgm:pt>
    <dgm:pt modelId="{E2C7E849-FD42-454C-8CD5-9E88FB76C92B}" type="pres">
      <dgm:prSet presAssocID="{ED2E7848-765D-4C2C-8676-040995D0C7F0}" presName="Root" presStyleCnt="0">
        <dgm:presLayoutVars>
          <dgm:dir/>
          <dgm:resizeHandles val="exact"/>
        </dgm:presLayoutVars>
      </dgm:prSet>
      <dgm:spPr/>
    </dgm:pt>
    <dgm:pt modelId="{2F451B1A-8BD6-48F5-89DE-EEDCF070B259}" type="pres">
      <dgm:prSet presAssocID="{449C7641-585B-4BA5-BD87-B5B0D5AE6666}" presName="Composite" presStyleCnt="0"/>
      <dgm:spPr/>
    </dgm:pt>
    <dgm:pt modelId="{A82C29C9-284E-42AC-B433-009CAC2709EE}" type="pres">
      <dgm:prSet presAssocID="{449C7641-585B-4BA5-BD87-B5B0D5AE666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005" r="22243" b="-2"/>
          <a:stretch/>
        </a:blipFill>
      </dgm:spPr>
      <dgm:extLst>
        <a:ext uri="{E40237B7-FDA0-4F09-8148-C483321AD2D9}">
          <dgm14:cNvPr xmlns:dgm14="http://schemas.microsoft.com/office/drawing/2010/diagram" id="0" name="" descr="Scales of justice on blue background"/>
        </a:ext>
      </dgm:extLst>
    </dgm:pt>
    <dgm:pt modelId="{226429F9-C3CC-4914-B6EE-64C5A63CD030}" type="pres">
      <dgm:prSet presAssocID="{449C7641-585B-4BA5-BD87-B5B0D5AE6666}" presName="Subtitle" presStyleLbl="revTx" presStyleIdx="0" presStyleCnt="6">
        <dgm:presLayoutVars>
          <dgm:chMax val="0"/>
          <dgm:bulletEnabled/>
        </dgm:presLayoutVars>
      </dgm:prSet>
      <dgm:spPr/>
    </dgm:pt>
    <dgm:pt modelId="{4A6BB09B-426D-4303-A0DA-615EE43B30B1}" type="pres">
      <dgm:prSet presAssocID="{449C7641-585B-4BA5-BD87-B5B0D5AE6666}" presName="Description" presStyleLbl="revTx" presStyleIdx="1" presStyleCnt="6">
        <dgm:presLayoutVars>
          <dgm:bulletEnabled/>
        </dgm:presLayoutVars>
      </dgm:prSet>
      <dgm:spPr/>
    </dgm:pt>
    <dgm:pt modelId="{89669C7E-B3CC-4DBB-8A37-C1CFF6E98032}" type="pres">
      <dgm:prSet presAssocID="{E866D5F4-E1D1-494E-BCC5-FEB72B630B80}" presName="sibTrans" presStyleLbl="sibTrans2D1" presStyleIdx="0" presStyleCnt="0"/>
      <dgm:spPr/>
    </dgm:pt>
    <dgm:pt modelId="{31E3E81D-695C-4C07-942E-EA9955552225}" type="pres">
      <dgm:prSet presAssocID="{5CE086D5-3919-446C-BDC0-FFEA7B78E6EE}" presName="Composite" presStyleCnt="0"/>
      <dgm:spPr/>
    </dgm:pt>
    <dgm:pt modelId="{C649AE54-14B4-4CA5-9DB8-E27446D56301}" type="pres">
      <dgm:prSet presAssocID="{5CE086D5-3919-446C-BDC0-FFEA7B78E6E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6173" r="17076" b="-2"/>
          <a:stretch/>
        </a:blipFill>
      </dgm:spPr>
      <dgm:extLst>
        <a:ext uri="{E40237B7-FDA0-4F09-8148-C483321AD2D9}">
          <dgm14:cNvPr xmlns:dgm14="http://schemas.microsoft.com/office/drawing/2010/diagram" id="0" name="" descr="&quot;One room District Schoolhouse in Fairfield, Utah erected in 1898.RELATED IMAGES:&quot;"/>
        </a:ext>
      </dgm:extLst>
    </dgm:pt>
    <dgm:pt modelId="{4CD87F80-F234-4534-B233-C551C18BB21F}" type="pres">
      <dgm:prSet presAssocID="{5CE086D5-3919-446C-BDC0-FFEA7B78E6EE}" presName="Subtitle" presStyleLbl="revTx" presStyleIdx="2" presStyleCnt="6">
        <dgm:presLayoutVars>
          <dgm:chMax val="0"/>
          <dgm:bulletEnabled/>
        </dgm:presLayoutVars>
      </dgm:prSet>
      <dgm:spPr/>
    </dgm:pt>
    <dgm:pt modelId="{BD0FF8D6-53D3-47C8-B8AE-DE9E6779CB36}" type="pres">
      <dgm:prSet presAssocID="{5CE086D5-3919-446C-BDC0-FFEA7B78E6EE}" presName="Description" presStyleLbl="revTx" presStyleIdx="3" presStyleCnt="6">
        <dgm:presLayoutVars>
          <dgm:bulletEnabled/>
        </dgm:presLayoutVars>
      </dgm:prSet>
      <dgm:spPr/>
    </dgm:pt>
    <dgm:pt modelId="{90D0FF3C-F097-4FB6-835B-C53096321281}" type="pres">
      <dgm:prSet presAssocID="{57F67811-2FA2-4BE6-A317-553B64AFC6D3}" presName="sibTrans" presStyleLbl="sibTrans2D1" presStyleIdx="0" presStyleCnt="0"/>
      <dgm:spPr/>
    </dgm:pt>
    <dgm:pt modelId="{E1355CA2-6E7A-4F5F-8BCA-2E630F571C91}" type="pres">
      <dgm:prSet presAssocID="{56E80651-2220-4D86-BC75-0E3EA7BB7568}" presName="Composite" presStyleCnt="0"/>
      <dgm:spPr/>
    </dgm:pt>
    <dgm:pt modelId="{AB314A92-9004-43B7-A0A1-C7D587234ECE}" type="pres">
      <dgm:prSet presAssocID="{56E80651-2220-4D86-BC75-0E3EA7BB756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33249" b="-2"/>
          <a:stretch/>
        </a:blipFill>
      </dgm:spPr>
      <dgm:extLst>
        <a:ext uri="{E40237B7-FDA0-4F09-8148-C483321AD2D9}">
          <dgm14:cNvPr xmlns:dgm14="http://schemas.microsoft.com/office/drawing/2010/diagram" id="0" name="" descr="Multicolored pins connected via black strings with a red card. Representing spreads and connections map on pure white background."/>
        </a:ext>
      </dgm:extLst>
    </dgm:pt>
    <dgm:pt modelId="{123DF7F5-5655-4295-82A2-F374B7A5F45F}" type="pres">
      <dgm:prSet presAssocID="{56E80651-2220-4D86-BC75-0E3EA7BB7568}" presName="Subtitle" presStyleLbl="revTx" presStyleIdx="4" presStyleCnt="6">
        <dgm:presLayoutVars>
          <dgm:chMax val="0"/>
          <dgm:bulletEnabled/>
        </dgm:presLayoutVars>
      </dgm:prSet>
      <dgm:spPr/>
    </dgm:pt>
    <dgm:pt modelId="{470BBD6D-B5D1-4EE2-9575-78453C36BB24}" type="pres">
      <dgm:prSet presAssocID="{56E80651-2220-4D86-BC75-0E3EA7BB7568}" presName="Description" presStyleLbl="revTx" presStyleIdx="5" presStyleCnt="6">
        <dgm:presLayoutVars>
          <dgm:bulletEnabled/>
        </dgm:presLayoutVars>
      </dgm:prSet>
      <dgm:spPr/>
    </dgm:pt>
  </dgm:ptLst>
  <dgm:cxnLst>
    <dgm:cxn modelId="{DD08BB19-BE20-47F7-BA7C-55F5308434E8}" type="presOf" srcId="{ED2E7848-765D-4C2C-8676-040995D0C7F0}" destId="{E2C7E849-FD42-454C-8CD5-9E88FB76C92B}" srcOrd="0" destOrd="0" presId="urn:microsoft.com/office/officeart/2024/3/layout/verticalVisualTextBlock1"/>
    <dgm:cxn modelId="{088FB438-836B-4C9B-A331-75263A586675}" type="presOf" srcId="{449C7641-585B-4BA5-BD87-B5B0D5AE6666}" destId="{226429F9-C3CC-4914-B6EE-64C5A63CD030}" srcOrd="0" destOrd="0" presId="urn:microsoft.com/office/officeart/2024/3/layout/verticalVisualTextBlock1"/>
    <dgm:cxn modelId="{A3D2BF41-3F9F-4685-AEF6-7C74409CB277}" srcId="{56E80651-2220-4D86-BC75-0E3EA7BB7568}" destId="{45BF3A27-A0F6-44AF-9755-36560AE61CF9}" srcOrd="0" destOrd="0" parTransId="{0843AD83-FC52-4F7A-97B0-20808670F47D}" sibTransId="{46D5D5CD-D098-432B-8264-429967D71F72}"/>
    <dgm:cxn modelId="{00322162-243E-425D-B144-B8D55F187E4B}" type="presOf" srcId="{56E80651-2220-4D86-BC75-0E3EA7BB7568}" destId="{123DF7F5-5655-4295-82A2-F374B7A5F45F}" srcOrd="0" destOrd="0" presId="urn:microsoft.com/office/officeart/2024/3/layout/verticalVisualTextBlock1"/>
    <dgm:cxn modelId="{84AD9474-0D37-435D-A038-6649BCC34394}" srcId="{ED2E7848-765D-4C2C-8676-040995D0C7F0}" destId="{5CE086D5-3919-446C-BDC0-FFEA7B78E6EE}" srcOrd="1" destOrd="0" parTransId="{40992EF8-D678-4EA5-B2EE-3D6281ABE4D9}" sibTransId="{57F67811-2FA2-4BE6-A317-553B64AFC6D3}"/>
    <dgm:cxn modelId="{EBB40184-C187-48D5-AD2A-C302A4D64DA9}" srcId="{5CE086D5-3919-446C-BDC0-FFEA7B78E6EE}" destId="{96E7C962-C976-47E4-A8FF-DBD75EEACB61}" srcOrd="0" destOrd="0" parTransId="{674A07B1-0E4A-43C1-8B7C-1ACC4AB45B02}" sibTransId="{772660F6-66C0-471F-9FB5-096038BC3B68}"/>
    <dgm:cxn modelId="{C68B6CAA-8AE4-4731-9A45-923F94A58946}" type="presOf" srcId="{45BF3A27-A0F6-44AF-9755-36560AE61CF9}" destId="{470BBD6D-B5D1-4EE2-9575-78453C36BB24}" srcOrd="0" destOrd="0" presId="urn:microsoft.com/office/officeart/2024/3/layout/verticalVisualTextBlock1"/>
    <dgm:cxn modelId="{A76DBCAE-2043-41CE-A971-D77B4B184344}" srcId="{449C7641-585B-4BA5-BD87-B5B0D5AE6666}" destId="{59C41906-C50C-454C-8FB5-B1C07B41E8CE}" srcOrd="0" destOrd="0" parTransId="{71655FE0-778B-4521-B399-E05B3813B941}" sibTransId="{137C0226-D909-4249-BB34-110B93107566}"/>
    <dgm:cxn modelId="{7CE00AB3-8E38-4A99-AFAE-FA0591B08F7C}" type="presOf" srcId="{57F67811-2FA2-4BE6-A317-553B64AFC6D3}" destId="{90D0FF3C-F097-4FB6-835B-C53096321281}" srcOrd="0" destOrd="0" presId="urn:microsoft.com/office/officeart/2024/3/layout/verticalVisualTextBlock1"/>
    <dgm:cxn modelId="{8BC67FBD-BC83-4EA8-91A4-4895CA44D626}" srcId="{ED2E7848-765D-4C2C-8676-040995D0C7F0}" destId="{56E80651-2220-4D86-BC75-0E3EA7BB7568}" srcOrd="2" destOrd="0" parTransId="{98AE66D7-4FBA-4743-8942-47F5E07868DB}" sibTransId="{507DCB7A-374B-4A2A-82F6-07DF6560E0C3}"/>
    <dgm:cxn modelId="{187520BE-05F1-4D4F-9C08-D1274749B447}" type="presOf" srcId="{E866D5F4-E1D1-494E-BCC5-FEB72B630B80}" destId="{89669C7E-B3CC-4DBB-8A37-C1CFF6E98032}" srcOrd="0" destOrd="0" presId="urn:microsoft.com/office/officeart/2024/3/layout/verticalVisualTextBlock1"/>
    <dgm:cxn modelId="{A84436D2-4826-4AC7-9E2A-0C9A44FA17E3}" srcId="{ED2E7848-765D-4C2C-8676-040995D0C7F0}" destId="{449C7641-585B-4BA5-BD87-B5B0D5AE6666}" srcOrd="0" destOrd="0" parTransId="{D8A05BB9-36AD-428C-A2F8-EEE3049E9797}" sibTransId="{E866D5F4-E1D1-494E-BCC5-FEB72B630B80}"/>
    <dgm:cxn modelId="{35F33DEB-B696-4A87-8B09-9627CF165185}" type="presOf" srcId="{59C41906-C50C-454C-8FB5-B1C07B41E8CE}" destId="{4A6BB09B-426D-4303-A0DA-615EE43B30B1}" srcOrd="0" destOrd="0" presId="urn:microsoft.com/office/officeart/2024/3/layout/verticalVisualTextBlock1"/>
    <dgm:cxn modelId="{926AC8F6-D74D-46A9-A592-A68FA88FC01C}" type="presOf" srcId="{96E7C962-C976-47E4-A8FF-DBD75EEACB61}" destId="{BD0FF8D6-53D3-47C8-B8AE-DE9E6779CB36}" srcOrd="0" destOrd="0" presId="urn:microsoft.com/office/officeart/2024/3/layout/verticalVisualTextBlock1"/>
    <dgm:cxn modelId="{98E525FB-618D-47BA-82F9-81507A7C6E58}" type="presOf" srcId="{5CE086D5-3919-446C-BDC0-FFEA7B78E6EE}" destId="{4CD87F80-F234-4534-B233-C551C18BB21F}" srcOrd="0" destOrd="0" presId="urn:microsoft.com/office/officeart/2024/3/layout/verticalVisualTextBlock1"/>
    <dgm:cxn modelId="{DAF6C6A2-85CC-45F2-9DF3-78EF3DEE8E14}" type="presParOf" srcId="{E2C7E849-FD42-454C-8CD5-9E88FB76C92B}" destId="{2F451B1A-8BD6-48F5-89DE-EEDCF070B259}" srcOrd="0" destOrd="0" presId="urn:microsoft.com/office/officeart/2024/3/layout/verticalVisualTextBlock1"/>
    <dgm:cxn modelId="{5536F5E0-2E2C-49F0-8E7A-C6BC6B814194}" type="presParOf" srcId="{2F451B1A-8BD6-48F5-89DE-EEDCF070B259}" destId="{A82C29C9-284E-42AC-B433-009CAC2709EE}" srcOrd="0" destOrd="0" presId="urn:microsoft.com/office/officeart/2024/3/layout/verticalVisualTextBlock1"/>
    <dgm:cxn modelId="{468ADF7B-4760-4550-A555-91BF2F047407}" type="presParOf" srcId="{2F451B1A-8BD6-48F5-89DE-EEDCF070B259}" destId="{226429F9-C3CC-4914-B6EE-64C5A63CD030}" srcOrd="1" destOrd="0" presId="urn:microsoft.com/office/officeart/2024/3/layout/verticalVisualTextBlock1"/>
    <dgm:cxn modelId="{3DC24728-D0AA-4915-83AB-2C5F93A55126}" type="presParOf" srcId="{2F451B1A-8BD6-48F5-89DE-EEDCF070B259}" destId="{4A6BB09B-426D-4303-A0DA-615EE43B30B1}" srcOrd="2" destOrd="0" presId="urn:microsoft.com/office/officeart/2024/3/layout/verticalVisualTextBlock1"/>
    <dgm:cxn modelId="{B08C9E7D-1532-4405-8940-DA8EF4B1C866}" type="presParOf" srcId="{E2C7E849-FD42-454C-8CD5-9E88FB76C92B}" destId="{89669C7E-B3CC-4DBB-8A37-C1CFF6E98032}" srcOrd="1" destOrd="0" presId="urn:microsoft.com/office/officeart/2024/3/layout/verticalVisualTextBlock1"/>
    <dgm:cxn modelId="{EBD97C35-82B6-4DBB-B5AD-0DDAC90DF054}" type="presParOf" srcId="{E2C7E849-FD42-454C-8CD5-9E88FB76C92B}" destId="{31E3E81D-695C-4C07-942E-EA9955552225}" srcOrd="2" destOrd="0" presId="urn:microsoft.com/office/officeart/2024/3/layout/verticalVisualTextBlock1"/>
    <dgm:cxn modelId="{E45DC938-4964-46C6-9403-DA494A6512A5}" type="presParOf" srcId="{31E3E81D-695C-4C07-942E-EA9955552225}" destId="{C649AE54-14B4-4CA5-9DB8-E27446D56301}" srcOrd="0" destOrd="0" presId="urn:microsoft.com/office/officeart/2024/3/layout/verticalVisualTextBlock1"/>
    <dgm:cxn modelId="{3042A60A-570B-4D07-8FB9-9958D63FE96A}" type="presParOf" srcId="{31E3E81D-695C-4C07-942E-EA9955552225}" destId="{4CD87F80-F234-4534-B233-C551C18BB21F}" srcOrd="1" destOrd="0" presId="urn:microsoft.com/office/officeart/2024/3/layout/verticalVisualTextBlock1"/>
    <dgm:cxn modelId="{4F8B093B-35E6-4F99-9FCF-45949F97847A}" type="presParOf" srcId="{31E3E81D-695C-4C07-942E-EA9955552225}" destId="{BD0FF8D6-53D3-47C8-B8AE-DE9E6779CB36}" srcOrd="2" destOrd="0" presId="urn:microsoft.com/office/officeart/2024/3/layout/verticalVisualTextBlock1"/>
    <dgm:cxn modelId="{9F0D7A58-570E-45D5-B94B-4DF978BC2E12}" type="presParOf" srcId="{E2C7E849-FD42-454C-8CD5-9E88FB76C92B}" destId="{90D0FF3C-F097-4FB6-835B-C53096321281}" srcOrd="3" destOrd="0" presId="urn:microsoft.com/office/officeart/2024/3/layout/verticalVisualTextBlock1"/>
    <dgm:cxn modelId="{2F3882B8-85EA-44B2-B6F9-757E4CE98F17}" type="presParOf" srcId="{E2C7E849-FD42-454C-8CD5-9E88FB76C92B}" destId="{E1355CA2-6E7A-4F5F-8BCA-2E630F571C91}" srcOrd="4" destOrd="0" presId="urn:microsoft.com/office/officeart/2024/3/layout/verticalVisualTextBlock1"/>
    <dgm:cxn modelId="{252FA7F3-B99D-451D-84A1-12B5E0A8867F}" type="presParOf" srcId="{E1355CA2-6E7A-4F5F-8BCA-2E630F571C91}" destId="{AB314A92-9004-43B7-A0A1-C7D587234ECE}" srcOrd="0" destOrd="0" presId="urn:microsoft.com/office/officeart/2024/3/layout/verticalVisualTextBlock1"/>
    <dgm:cxn modelId="{BEA7D23A-D1B4-4B2D-A90C-68021001C236}" type="presParOf" srcId="{E1355CA2-6E7A-4F5F-8BCA-2E630F571C91}" destId="{123DF7F5-5655-4295-82A2-F374B7A5F45F}" srcOrd="1" destOrd="0" presId="urn:microsoft.com/office/officeart/2024/3/layout/verticalVisualTextBlock1"/>
    <dgm:cxn modelId="{7F519F0C-2D35-48F9-A068-9A2987425A7F}" type="presParOf" srcId="{E1355CA2-6E7A-4F5F-8BCA-2E630F571C91}" destId="{470BBD6D-B5D1-4EE2-9575-78453C36BB24}"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734B61-09B8-4997-AA03-F294CF6E2F33}"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NZ"/>
        </a:p>
      </dgm:t>
    </dgm:pt>
    <dgm:pt modelId="{0E9EAF74-809C-45F1-A70B-CADC9D09A83F}">
      <dgm:prSet/>
      <dgm:spPr/>
      <dgm:t>
        <a:bodyPr/>
        <a:lstStyle/>
        <a:p>
          <a:pPr>
            <a:lnSpc>
              <a:spcPct val="100000"/>
            </a:lnSpc>
            <a:defRPr b="1"/>
          </a:pPr>
          <a:r>
            <a:rPr lang="en-NZ" dirty="0"/>
            <a:t>Blocking Offenders</a:t>
          </a:r>
        </a:p>
      </dgm:t>
    </dgm:pt>
    <dgm:pt modelId="{0B029AB0-DD57-4FF6-A0EF-0CD4E8AEE7C1}" type="parTrans" cxnId="{50B7F064-5ABB-4B63-90F9-86CB5B04EC75}">
      <dgm:prSet/>
      <dgm:spPr/>
      <dgm:t>
        <a:bodyPr/>
        <a:lstStyle/>
        <a:p>
          <a:endParaRPr lang="en-NZ"/>
        </a:p>
      </dgm:t>
    </dgm:pt>
    <dgm:pt modelId="{28FE7B9E-AF76-4B94-833B-182346D69842}" type="sibTrans" cxnId="{50B7F064-5ABB-4B63-90F9-86CB5B04EC75}">
      <dgm:prSet/>
      <dgm:spPr/>
      <dgm:t>
        <a:bodyPr/>
        <a:lstStyle/>
        <a:p>
          <a:pPr>
            <a:lnSpc>
              <a:spcPct val="100000"/>
            </a:lnSpc>
            <a:defRPr b="1"/>
          </a:pPr>
          <a:endParaRPr lang="en-NZ"/>
        </a:p>
      </dgm:t>
    </dgm:pt>
    <dgm:pt modelId="{FB427ECB-1E15-4890-9238-E9F78DB33080}">
      <dgm:prSet/>
      <dgm:spPr/>
      <dgm:t>
        <a:bodyPr/>
        <a:lstStyle/>
        <a:p>
          <a:pPr>
            <a:lnSpc>
              <a:spcPct val="100000"/>
            </a:lnSpc>
          </a:pPr>
          <a:r>
            <a:rPr lang="en-NZ" dirty="0"/>
            <a:t>Blocking offenders helps prevent further harassment by stopping unwanted communication from bullies.</a:t>
          </a:r>
        </a:p>
      </dgm:t>
    </dgm:pt>
    <dgm:pt modelId="{5E96A2FC-0DBC-4F6F-8FA7-6BAC82C28AEE}" type="parTrans" cxnId="{6FF648EF-F432-4789-BDBD-16072601B20C}">
      <dgm:prSet/>
      <dgm:spPr/>
      <dgm:t>
        <a:bodyPr/>
        <a:lstStyle/>
        <a:p>
          <a:endParaRPr lang="en-NZ"/>
        </a:p>
      </dgm:t>
    </dgm:pt>
    <dgm:pt modelId="{2A2FD520-ED66-40D7-8B24-AF9838385006}" type="sibTrans" cxnId="{6FF648EF-F432-4789-BDBD-16072601B20C}">
      <dgm:prSet/>
      <dgm:spPr/>
      <dgm:t>
        <a:bodyPr/>
        <a:lstStyle/>
        <a:p>
          <a:endParaRPr lang="en-NZ"/>
        </a:p>
      </dgm:t>
    </dgm:pt>
    <dgm:pt modelId="{90867273-B670-4EFF-BFC2-D91A1994C957}">
      <dgm:prSet/>
      <dgm:spPr/>
      <dgm:t>
        <a:bodyPr/>
        <a:lstStyle/>
        <a:p>
          <a:pPr>
            <a:lnSpc>
              <a:spcPct val="100000"/>
            </a:lnSpc>
            <a:defRPr b="1"/>
          </a:pPr>
          <a:r>
            <a:rPr lang="en-NZ" dirty="0"/>
            <a:t>Reporting Incidents</a:t>
          </a:r>
        </a:p>
      </dgm:t>
    </dgm:pt>
    <dgm:pt modelId="{E53D19C6-4BA0-4BB2-8406-5A3957462F54}" type="parTrans" cxnId="{C68B6177-3D04-45D6-A3EB-7CA79DAD78DC}">
      <dgm:prSet/>
      <dgm:spPr/>
      <dgm:t>
        <a:bodyPr/>
        <a:lstStyle/>
        <a:p>
          <a:endParaRPr lang="en-NZ"/>
        </a:p>
      </dgm:t>
    </dgm:pt>
    <dgm:pt modelId="{129B15D8-BD71-427A-ACAA-C9DE7171112C}" type="sibTrans" cxnId="{C68B6177-3D04-45D6-A3EB-7CA79DAD78DC}">
      <dgm:prSet/>
      <dgm:spPr/>
      <dgm:t>
        <a:bodyPr/>
        <a:lstStyle/>
        <a:p>
          <a:pPr>
            <a:lnSpc>
              <a:spcPct val="100000"/>
            </a:lnSpc>
            <a:defRPr b="1"/>
          </a:pPr>
          <a:endParaRPr lang="en-NZ"/>
        </a:p>
      </dgm:t>
    </dgm:pt>
    <dgm:pt modelId="{78BFCA96-8E28-4C74-ABB4-9A883ED1296E}">
      <dgm:prSet/>
      <dgm:spPr/>
      <dgm:t>
        <a:bodyPr/>
        <a:lstStyle/>
        <a:p>
          <a:pPr>
            <a:lnSpc>
              <a:spcPct val="100000"/>
            </a:lnSpc>
          </a:pPr>
          <a:r>
            <a:rPr lang="en-NZ" dirty="0"/>
            <a:t>Reporting cyberbullying to platform authorities enables swift action and enforcement of policies.</a:t>
          </a:r>
        </a:p>
      </dgm:t>
    </dgm:pt>
    <dgm:pt modelId="{7E87CAA1-344E-4311-B38B-1357C6FE457E}" type="parTrans" cxnId="{3B1B83F8-6970-4F0C-8292-E930D2DB11C9}">
      <dgm:prSet/>
      <dgm:spPr/>
      <dgm:t>
        <a:bodyPr/>
        <a:lstStyle/>
        <a:p>
          <a:endParaRPr lang="en-NZ"/>
        </a:p>
      </dgm:t>
    </dgm:pt>
    <dgm:pt modelId="{53923D3D-0604-461A-AB40-5B29F37A2566}" type="sibTrans" cxnId="{3B1B83F8-6970-4F0C-8292-E930D2DB11C9}">
      <dgm:prSet/>
      <dgm:spPr/>
      <dgm:t>
        <a:bodyPr/>
        <a:lstStyle/>
        <a:p>
          <a:endParaRPr lang="en-NZ"/>
        </a:p>
      </dgm:t>
    </dgm:pt>
    <dgm:pt modelId="{890770F9-597E-43E9-B89C-091638D158A2}">
      <dgm:prSet/>
      <dgm:spPr/>
      <dgm:t>
        <a:bodyPr/>
        <a:lstStyle/>
        <a:p>
          <a:pPr>
            <a:lnSpc>
              <a:spcPct val="100000"/>
            </a:lnSpc>
            <a:defRPr b="1"/>
          </a:pPr>
          <a:r>
            <a:rPr lang="en-NZ" dirty="0"/>
            <a:t>Seeking Support</a:t>
          </a:r>
        </a:p>
      </dgm:t>
    </dgm:pt>
    <dgm:pt modelId="{B7AD2B58-34B9-4538-B6EA-5B4B706AB911}" type="parTrans" cxnId="{7E33248A-C8F3-4114-A7CA-412375AC11A1}">
      <dgm:prSet/>
      <dgm:spPr/>
      <dgm:t>
        <a:bodyPr/>
        <a:lstStyle/>
        <a:p>
          <a:endParaRPr lang="en-NZ"/>
        </a:p>
      </dgm:t>
    </dgm:pt>
    <dgm:pt modelId="{3B8FE84F-9401-4D00-9CB2-7A5E795B3DB3}" type="sibTrans" cxnId="{7E33248A-C8F3-4114-A7CA-412375AC11A1}">
      <dgm:prSet/>
      <dgm:spPr/>
      <dgm:t>
        <a:bodyPr/>
        <a:lstStyle/>
        <a:p>
          <a:endParaRPr lang="en-NZ"/>
        </a:p>
      </dgm:t>
    </dgm:pt>
    <dgm:pt modelId="{B9B32129-89AB-419B-8896-9CEBB6DF6C82}">
      <dgm:prSet/>
      <dgm:spPr/>
      <dgm:t>
        <a:bodyPr/>
        <a:lstStyle/>
        <a:p>
          <a:pPr>
            <a:lnSpc>
              <a:spcPct val="100000"/>
            </a:lnSpc>
          </a:pPr>
          <a:r>
            <a:rPr lang="en-NZ" dirty="0"/>
            <a:t>Reaching out to trusted adults or support services provides emotional help and guidance.</a:t>
          </a:r>
        </a:p>
      </dgm:t>
    </dgm:pt>
    <dgm:pt modelId="{EB02A1CB-7147-4E59-98E5-F59919F361E3}" type="parTrans" cxnId="{0F32E968-D98D-409D-820B-2F3700AF4324}">
      <dgm:prSet/>
      <dgm:spPr/>
      <dgm:t>
        <a:bodyPr/>
        <a:lstStyle/>
        <a:p>
          <a:endParaRPr lang="en-NZ"/>
        </a:p>
      </dgm:t>
    </dgm:pt>
    <dgm:pt modelId="{006A8495-8BBF-48E3-BC9E-8629357FD63A}" type="sibTrans" cxnId="{0F32E968-D98D-409D-820B-2F3700AF4324}">
      <dgm:prSet/>
      <dgm:spPr/>
      <dgm:t>
        <a:bodyPr/>
        <a:lstStyle/>
        <a:p>
          <a:endParaRPr lang="en-NZ"/>
        </a:p>
      </dgm:t>
    </dgm:pt>
    <dgm:pt modelId="{3A2D67F0-11F7-44B6-8EDF-702B659F62D9}" type="pres">
      <dgm:prSet presAssocID="{2A734B61-09B8-4997-AA03-F294CF6E2F33}" presName="Root" presStyleCnt="0">
        <dgm:presLayoutVars>
          <dgm:dir/>
          <dgm:resizeHandles val="exact"/>
        </dgm:presLayoutVars>
      </dgm:prSet>
      <dgm:spPr/>
    </dgm:pt>
    <dgm:pt modelId="{91452B22-F035-4D07-8309-D63372847BE2}" type="pres">
      <dgm:prSet presAssocID="{0E9EAF74-809C-45F1-A70B-CADC9D09A83F}" presName="Composite" presStyleCnt="0"/>
      <dgm:spPr/>
    </dgm:pt>
    <dgm:pt modelId="{533B516C-0FD0-48BB-92F5-D04C1BB51A75}" type="pres">
      <dgm:prSet presAssocID="{0E9EAF74-809C-45F1-A70B-CADC9D09A83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720" r="29529" b="-2"/>
          <a:stretch/>
        </a:blipFill>
      </dgm:spPr>
      <dgm:extLst>
        <a:ext uri="{E40237B7-FDA0-4F09-8148-C483321AD2D9}">
          <dgm14:cNvPr xmlns:dgm14="http://schemas.microsoft.com/office/drawing/2010/diagram" id="0" name="" descr="Young woman using smart phone with social media symbols"/>
        </a:ext>
      </dgm:extLst>
    </dgm:pt>
    <dgm:pt modelId="{4F353EF4-6F91-4A66-9071-D8846AD3CE02}" type="pres">
      <dgm:prSet presAssocID="{0E9EAF74-809C-45F1-A70B-CADC9D09A83F}" presName="Subtitle" presStyleLbl="revTx" presStyleIdx="0" presStyleCnt="6">
        <dgm:presLayoutVars>
          <dgm:chMax val="0"/>
          <dgm:bulletEnabled/>
        </dgm:presLayoutVars>
      </dgm:prSet>
      <dgm:spPr/>
    </dgm:pt>
    <dgm:pt modelId="{FB488522-E1B9-4A48-A971-734DA865140D}" type="pres">
      <dgm:prSet presAssocID="{0E9EAF74-809C-45F1-A70B-CADC9D09A83F}" presName="Description" presStyleLbl="revTx" presStyleIdx="1" presStyleCnt="6">
        <dgm:presLayoutVars>
          <dgm:bulletEnabled/>
        </dgm:presLayoutVars>
      </dgm:prSet>
      <dgm:spPr/>
    </dgm:pt>
    <dgm:pt modelId="{A5E0C220-3B8F-49C0-8248-A0BFB8C52637}" type="pres">
      <dgm:prSet presAssocID="{28FE7B9E-AF76-4B94-833B-182346D69842}" presName="sibTrans" presStyleLbl="sibTrans2D1" presStyleIdx="0" presStyleCnt="0"/>
      <dgm:spPr/>
    </dgm:pt>
    <dgm:pt modelId="{A0DE1664-4EE8-4887-9DD2-8D4EDDFAEDA6}" type="pres">
      <dgm:prSet presAssocID="{90867273-B670-4EFF-BFC2-D91A1994C957}" presName="Composite" presStyleCnt="0"/>
      <dgm:spPr/>
    </dgm:pt>
    <dgm:pt modelId="{B53B6566-F852-46B7-BC94-FC90EBD000D3}" type="pres">
      <dgm:prSet presAssocID="{90867273-B670-4EFF-BFC2-D91A1994C95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494" r="17755" b="-2"/>
          <a:stretch/>
        </a:blipFill>
      </dgm:spPr>
      <dgm:extLst>
        <a:ext uri="{E40237B7-FDA0-4F09-8148-C483321AD2D9}">
          <dgm14:cNvPr xmlns:dgm14="http://schemas.microsoft.com/office/drawing/2010/diagram" id="0" name="" descr="A man is traying to create digital content on hir computer with line icons"/>
        </a:ext>
      </dgm:extLst>
    </dgm:pt>
    <dgm:pt modelId="{382339D9-FB1F-4B3B-A37A-74CD01A37045}" type="pres">
      <dgm:prSet presAssocID="{90867273-B670-4EFF-BFC2-D91A1994C957}" presName="Subtitle" presStyleLbl="revTx" presStyleIdx="2" presStyleCnt="6">
        <dgm:presLayoutVars>
          <dgm:chMax val="0"/>
          <dgm:bulletEnabled/>
        </dgm:presLayoutVars>
      </dgm:prSet>
      <dgm:spPr/>
    </dgm:pt>
    <dgm:pt modelId="{6487730D-E9D9-4AC0-ACD6-F3B1009E0627}" type="pres">
      <dgm:prSet presAssocID="{90867273-B670-4EFF-BFC2-D91A1994C957}" presName="Description" presStyleLbl="revTx" presStyleIdx="3" presStyleCnt="6">
        <dgm:presLayoutVars>
          <dgm:bulletEnabled/>
        </dgm:presLayoutVars>
      </dgm:prSet>
      <dgm:spPr/>
    </dgm:pt>
    <dgm:pt modelId="{DB557C7B-5289-40DF-9B0E-8C108BDADCE1}" type="pres">
      <dgm:prSet presAssocID="{129B15D8-BD71-427A-ACAA-C9DE7171112C}" presName="sibTrans" presStyleLbl="sibTrans2D1" presStyleIdx="0" presStyleCnt="0"/>
      <dgm:spPr/>
    </dgm:pt>
    <dgm:pt modelId="{AEC48FF7-F951-4E3E-8A18-E2D0FFB8BE2C}" type="pres">
      <dgm:prSet presAssocID="{890770F9-597E-43E9-B89C-091638D158A2}" presName="Composite" presStyleCnt="0"/>
      <dgm:spPr/>
    </dgm:pt>
    <dgm:pt modelId="{0C8766CB-FA36-4265-95B5-CFFE6A40596B}" type="pres">
      <dgm:prSet presAssocID="{890770F9-597E-43E9-B89C-091638D158A2}" presName="Picture" presStyleLbl="node1" presStyleIdx="2" presStyleCnt="3"/>
      <dgm:spPr/>
    </dgm:pt>
    <dgm:pt modelId="{4496F679-5437-455F-83A1-B80B21D0D297}" type="pres">
      <dgm:prSet presAssocID="{890770F9-597E-43E9-B89C-091638D158A2}" presName="Subtitle" presStyleLbl="revTx" presStyleIdx="4" presStyleCnt="6">
        <dgm:presLayoutVars>
          <dgm:chMax val="0"/>
          <dgm:bulletEnabled/>
        </dgm:presLayoutVars>
      </dgm:prSet>
      <dgm:spPr/>
    </dgm:pt>
    <dgm:pt modelId="{A39B4ED8-E8A4-4CA5-B739-921F1355CA80}" type="pres">
      <dgm:prSet presAssocID="{890770F9-597E-43E9-B89C-091638D158A2}" presName="Description" presStyleLbl="revTx" presStyleIdx="5" presStyleCnt="6">
        <dgm:presLayoutVars>
          <dgm:bulletEnabled/>
        </dgm:presLayoutVars>
      </dgm:prSet>
      <dgm:spPr/>
    </dgm:pt>
  </dgm:ptLst>
  <dgm:cxnLst>
    <dgm:cxn modelId="{D43C241A-5822-46C2-87D1-B32C5B2F33DA}" type="presOf" srcId="{FB427ECB-1E15-4890-9238-E9F78DB33080}" destId="{FB488522-E1B9-4A48-A971-734DA865140D}" srcOrd="0" destOrd="0" presId="urn:microsoft.com/office/officeart/2024/3/layout/verticalVisualTextBlock1"/>
    <dgm:cxn modelId="{1396D229-15B8-4AA5-BBA9-FA699110A923}" type="presOf" srcId="{2A734B61-09B8-4997-AA03-F294CF6E2F33}" destId="{3A2D67F0-11F7-44B6-8EDF-702B659F62D9}" srcOrd="0" destOrd="0" presId="urn:microsoft.com/office/officeart/2024/3/layout/verticalVisualTextBlock1"/>
    <dgm:cxn modelId="{4CFDD829-509D-433F-87B9-2D673FF88628}" type="presOf" srcId="{90867273-B670-4EFF-BFC2-D91A1994C957}" destId="{382339D9-FB1F-4B3B-A37A-74CD01A37045}" srcOrd="0" destOrd="0" presId="urn:microsoft.com/office/officeart/2024/3/layout/verticalVisualTextBlock1"/>
    <dgm:cxn modelId="{50B7F064-5ABB-4B63-90F9-86CB5B04EC75}" srcId="{2A734B61-09B8-4997-AA03-F294CF6E2F33}" destId="{0E9EAF74-809C-45F1-A70B-CADC9D09A83F}" srcOrd="0" destOrd="0" parTransId="{0B029AB0-DD57-4FF6-A0EF-0CD4E8AEE7C1}" sibTransId="{28FE7B9E-AF76-4B94-833B-182346D69842}"/>
    <dgm:cxn modelId="{0F32E968-D98D-409D-820B-2F3700AF4324}" srcId="{890770F9-597E-43E9-B89C-091638D158A2}" destId="{B9B32129-89AB-419B-8896-9CEBB6DF6C82}" srcOrd="0" destOrd="0" parTransId="{EB02A1CB-7147-4E59-98E5-F59919F361E3}" sibTransId="{006A8495-8BBF-48E3-BC9E-8629357FD63A}"/>
    <dgm:cxn modelId="{58ADD76D-CE7D-48A9-B94D-DAC7A46673D3}" type="presOf" srcId="{78BFCA96-8E28-4C74-ABB4-9A883ED1296E}" destId="{6487730D-E9D9-4AC0-ACD6-F3B1009E0627}" srcOrd="0" destOrd="0" presId="urn:microsoft.com/office/officeart/2024/3/layout/verticalVisualTextBlock1"/>
    <dgm:cxn modelId="{C68B6177-3D04-45D6-A3EB-7CA79DAD78DC}" srcId="{2A734B61-09B8-4997-AA03-F294CF6E2F33}" destId="{90867273-B670-4EFF-BFC2-D91A1994C957}" srcOrd="1" destOrd="0" parTransId="{E53D19C6-4BA0-4BB2-8406-5A3957462F54}" sibTransId="{129B15D8-BD71-427A-ACAA-C9DE7171112C}"/>
    <dgm:cxn modelId="{D43EE583-2F58-4AE0-9960-7EED03979C81}" type="presOf" srcId="{890770F9-597E-43E9-B89C-091638D158A2}" destId="{4496F679-5437-455F-83A1-B80B21D0D297}" srcOrd="0" destOrd="0" presId="urn:microsoft.com/office/officeart/2024/3/layout/verticalVisualTextBlock1"/>
    <dgm:cxn modelId="{7E33248A-C8F3-4114-A7CA-412375AC11A1}" srcId="{2A734B61-09B8-4997-AA03-F294CF6E2F33}" destId="{890770F9-597E-43E9-B89C-091638D158A2}" srcOrd="2" destOrd="0" parTransId="{B7AD2B58-34B9-4538-B6EA-5B4B706AB911}" sibTransId="{3B8FE84F-9401-4D00-9CB2-7A5E795B3DB3}"/>
    <dgm:cxn modelId="{F806378C-6098-4FAD-962C-5BEF23F84AD6}" type="presOf" srcId="{B9B32129-89AB-419B-8896-9CEBB6DF6C82}" destId="{A39B4ED8-E8A4-4CA5-B739-921F1355CA80}" srcOrd="0" destOrd="0" presId="urn:microsoft.com/office/officeart/2024/3/layout/verticalVisualTextBlock1"/>
    <dgm:cxn modelId="{FAF22C92-1E8C-41D5-BDCA-605AE8F314FA}" type="presOf" srcId="{0E9EAF74-809C-45F1-A70B-CADC9D09A83F}" destId="{4F353EF4-6F91-4A66-9071-D8846AD3CE02}" srcOrd="0" destOrd="0" presId="urn:microsoft.com/office/officeart/2024/3/layout/verticalVisualTextBlock1"/>
    <dgm:cxn modelId="{9C1681AC-B8DB-445E-8DD9-6441772537D3}" type="presOf" srcId="{28FE7B9E-AF76-4B94-833B-182346D69842}" destId="{A5E0C220-3B8F-49C0-8248-A0BFB8C52637}" srcOrd="0" destOrd="0" presId="urn:microsoft.com/office/officeart/2024/3/layout/verticalVisualTextBlock1"/>
    <dgm:cxn modelId="{345BB3D0-2630-4536-B962-2A8CF18E2C35}" type="presOf" srcId="{129B15D8-BD71-427A-ACAA-C9DE7171112C}" destId="{DB557C7B-5289-40DF-9B0E-8C108BDADCE1}" srcOrd="0" destOrd="0" presId="urn:microsoft.com/office/officeart/2024/3/layout/verticalVisualTextBlock1"/>
    <dgm:cxn modelId="{6FF648EF-F432-4789-BDBD-16072601B20C}" srcId="{0E9EAF74-809C-45F1-A70B-CADC9D09A83F}" destId="{FB427ECB-1E15-4890-9238-E9F78DB33080}" srcOrd="0" destOrd="0" parTransId="{5E96A2FC-0DBC-4F6F-8FA7-6BAC82C28AEE}" sibTransId="{2A2FD520-ED66-40D7-8B24-AF9838385006}"/>
    <dgm:cxn modelId="{3B1B83F8-6970-4F0C-8292-E930D2DB11C9}" srcId="{90867273-B670-4EFF-BFC2-D91A1994C957}" destId="{78BFCA96-8E28-4C74-ABB4-9A883ED1296E}" srcOrd="0" destOrd="0" parTransId="{7E87CAA1-344E-4311-B38B-1357C6FE457E}" sibTransId="{53923D3D-0604-461A-AB40-5B29F37A2566}"/>
    <dgm:cxn modelId="{15DE7588-A4D2-4EDF-BC78-9C5D661EB8EF}" type="presParOf" srcId="{3A2D67F0-11F7-44B6-8EDF-702B659F62D9}" destId="{91452B22-F035-4D07-8309-D63372847BE2}" srcOrd="0" destOrd="0" presId="urn:microsoft.com/office/officeart/2024/3/layout/verticalVisualTextBlock1"/>
    <dgm:cxn modelId="{98D07ACD-7115-4A1A-8D4D-708195AFBA52}" type="presParOf" srcId="{91452B22-F035-4D07-8309-D63372847BE2}" destId="{533B516C-0FD0-48BB-92F5-D04C1BB51A75}" srcOrd="0" destOrd="0" presId="urn:microsoft.com/office/officeart/2024/3/layout/verticalVisualTextBlock1"/>
    <dgm:cxn modelId="{B88EAB70-B4A3-464A-9522-62E322F60BF6}" type="presParOf" srcId="{91452B22-F035-4D07-8309-D63372847BE2}" destId="{4F353EF4-6F91-4A66-9071-D8846AD3CE02}" srcOrd="1" destOrd="0" presId="urn:microsoft.com/office/officeart/2024/3/layout/verticalVisualTextBlock1"/>
    <dgm:cxn modelId="{647F228C-D4D2-4DBE-9169-2EB153BD65B4}" type="presParOf" srcId="{91452B22-F035-4D07-8309-D63372847BE2}" destId="{FB488522-E1B9-4A48-A971-734DA865140D}" srcOrd="2" destOrd="0" presId="urn:microsoft.com/office/officeart/2024/3/layout/verticalVisualTextBlock1"/>
    <dgm:cxn modelId="{4E026E5E-310E-4AA6-9EB3-8F2741198982}" type="presParOf" srcId="{3A2D67F0-11F7-44B6-8EDF-702B659F62D9}" destId="{A5E0C220-3B8F-49C0-8248-A0BFB8C52637}" srcOrd="1" destOrd="0" presId="urn:microsoft.com/office/officeart/2024/3/layout/verticalVisualTextBlock1"/>
    <dgm:cxn modelId="{B0495003-6191-402B-9813-8A386D1953CB}" type="presParOf" srcId="{3A2D67F0-11F7-44B6-8EDF-702B659F62D9}" destId="{A0DE1664-4EE8-4887-9DD2-8D4EDDFAEDA6}" srcOrd="2" destOrd="0" presId="urn:microsoft.com/office/officeart/2024/3/layout/verticalVisualTextBlock1"/>
    <dgm:cxn modelId="{624551A2-B96D-4E21-A6EA-D3408AE1DC72}" type="presParOf" srcId="{A0DE1664-4EE8-4887-9DD2-8D4EDDFAEDA6}" destId="{B53B6566-F852-46B7-BC94-FC90EBD000D3}" srcOrd="0" destOrd="0" presId="urn:microsoft.com/office/officeart/2024/3/layout/verticalVisualTextBlock1"/>
    <dgm:cxn modelId="{8CB4C3E9-881E-47E6-9E12-09C8E263C193}" type="presParOf" srcId="{A0DE1664-4EE8-4887-9DD2-8D4EDDFAEDA6}" destId="{382339D9-FB1F-4B3B-A37A-74CD01A37045}" srcOrd="1" destOrd="0" presId="urn:microsoft.com/office/officeart/2024/3/layout/verticalVisualTextBlock1"/>
    <dgm:cxn modelId="{02D69353-C288-41A2-9901-D398CD67F9D5}" type="presParOf" srcId="{A0DE1664-4EE8-4887-9DD2-8D4EDDFAEDA6}" destId="{6487730D-E9D9-4AC0-ACD6-F3B1009E0627}" srcOrd="2" destOrd="0" presId="urn:microsoft.com/office/officeart/2024/3/layout/verticalVisualTextBlock1"/>
    <dgm:cxn modelId="{614ADF28-BDE4-4DF2-A8DF-E79D6F5D25D7}" type="presParOf" srcId="{3A2D67F0-11F7-44B6-8EDF-702B659F62D9}" destId="{DB557C7B-5289-40DF-9B0E-8C108BDADCE1}" srcOrd="3" destOrd="0" presId="urn:microsoft.com/office/officeart/2024/3/layout/verticalVisualTextBlock1"/>
    <dgm:cxn modelId="{945EED69-5555-48DB-A515-0021E0C62F65}" type="presParOf" srcId="{3A2D67F0-11F7-44B6-8EDF-702B659F62D9}" destId="{AEC48FF7-F951-4E3E-8A18-E2D0FFB8BE2C}" srcOrd="4" destOrd="0" presId="urn:microsoft.com/office/officeart/2024/3/layout/verticalVisualTextBlock1"/>
    <dgm:cxn modelId="{257843AE-9A0B-456A-BCBB-601F5A023094}" type="presParOf" srcId="{AEC48FF7-F951-4E3E-8A18-E2D0FFB8BE2C}" destId="{0C8766CB-FA36-4265-95B5-CFFE6A40596B}" srcOrd="0" destOrd="0" presId="urn:microsoft.com/office/officeart/2024/3/layout/verticalVisualTextBlock1"/>
    <dgm:cxn modelId="{59F9386A-C125-4056-A7F8-277995C138A6}" type="presParOf" srcId="{AEC48FF7-F951-4E3E-8A18-E2D0FFB8BE2C}" destId="{4496F679-5437-455F-83A1-B80B21D0D297}" srcOrd="1" destOrd="0" presId="urn:microsoft.com/office/officeart/2024/3/layout/verticalVisualTextBlock1"/>
    <dgm:cxn modelId="{F01638A6-D190-4CB9-AC43-28C1EE239D10}" type="presParOf" srcId="{AEC48FF7-F951-4E3E-8A18-E2D0FFB8BE2C}" destId="{A39B4ED8-E8A4-4CA5-B739-921F1355CA80}"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FCFE52-36B1-4979-83C7-16B9A031777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NZ"/>
        </a:p>
      </dgm:t>
    </dgm:pt>
    <dgm:pt modelId="{E6A0857F-FD3D-490C-A6A0-0F7D390DC0E1}">
      <dgm:prSet/>
      <dgm:spPr/>
      <dgm:t>
        <a:bodyPr/>
        <a:lstStyle/>
        <a:p>
          <a:pPr>
            <a:lnSpc>
              <a:spcPct val="100000"/>
            </a:lnSpc>
            <a:defRPr b="1"/>
          </a:pPr>
          <a:r>
            <a:rPr lang="en-NZ"/>
            <a:t>Employers Access Footprint</a:t>
          </a:r>
        </a:p>
      </dgm:t>
    </dgm:pt>
    <dgm:pt modelId="{4E79576D-A10E-41CC-958D-62EF82E8FA82}" type="parTrans" cxnId="{8924B582-20C9-46D9-83C9-30FD3D735A75}">
      <dgm:prSet/>
      <dgm:spPr/>
      <dgm:t>
        <a:bodyPr/>
        <a:lstStyle/>
        <a:p>
          <a:endParaRPr lang="en-NZ"/>
        </a:p>
      </dgm:t>
    </dgm:pt>
    <dgm:pt modelId="{EF454431-CEB3-451D-8C61-7DF8FD250F68}" type="sibTrans" cxnId="{8924B582-20C9-46D9-83C9-30FD3D735A75}">
      <dgm:prSet/>
      <dgm:spPr/>
      <dgm:t>
        <a:bodyPr/>
        <a:lstStyle/>
        <a:p>
          <a:pPr>
            <a:lnSpc>
              <a:spcPct val="100000"/>
            </a:lnSpc>
            <a:defRPr b="1"/>
          </a:pPr>
          <a:endParaRPr lang="en-NZ"/>
        </a:p>
      </dgm:t>
    </dgm:pt>
    <dgm:pt modelId="{55F26B03-E563-4574-884F-08381D692E24}">
      <dgm:prSet/>
      <dgm:spPr/>
      <dgm:t>
        <a:bodyPr/>
        <a:lstStyle/>
        <a:p>
          <a:pPr>
            <a:lnSpc>
              <a:spcPct val="100000"/>
            </a:lnSpc>
          </a:pPr>
          <a:r>
            <a:rPr lang="en-NZ"/>
            <a:t>Employers review digital footprints to assess candidates’ professionalism and suitability for job opportunities.</a:t>
          </a:r>
        </a:p>
      </dgm:t>
    </dgm:pt>
    <dgm:pt modelId="{39B72173-FABE-4D8B-8E2E-B6D6C47AFC35}" type="parTrans" cxnId="{09F8664D-1F05-49D1-8389-0352C2781077}">
      <dgm:prSet/>
      <dgm:spPr/>
      <dgm:t>
        <a:bodyPr/>
        <a:lstStyle/>
        <a:p>
          <a:endParaRPr lang="en-NZ"/>
        </a:p>
      </dgm:t>
    </dgm:pt>
    <dgm:pt modelId="{A7DBC745-2D8E-45F0-B697-1D611F17E6FB}" type="sibTrans" cxnId="{09F8664D-1F05-49D1-8389-0352C2781077}">
      <dgm:prSet/>
      <dgm:spPr/>
      <dgm:t>
        <a:bodyPr/>
        <a:lstStyle/>
        <a:p>
          <a:endParaRPr lang="en-NZ"/>
        </a:p>
      </dgm:t>
    </dgm:pt>
    <dgm:pt modelId="{25EBEC46-6B3B-447C-A3AF-4AF0BD5210C3}">
      <dgm:prSet/>
      <dgm:spPr/>
      <dgm:t>
        <a:bodyPr/>
        <a:lstStyle/>
        <a:p>
          <a:pPr>
            <a:lnSpc>
              <a:spcPct val="100000"/>
            </a:lnSpc>
            <a:defRPr b="1"/>
          </a:pPr>
          <a:r>
            <a:rPr lang="en-NZ"/>
            <a:t>Schools Monitor Activity</a:t>
          </a:r>
        </a:p>
      </dgm:t>
    </dgm:pt>
    <dgm:pt modelId="{D7ECFBA5-1770-4CF2-AE02-DD4CD12CD95A}" type="parTrans" cxnId="{1B0CE3B4-852A-4513-8030-A4CF976398D2}">
      <dgm:prSet/>
      <dgm:spPr/>
      <dgm:t>
        <a:bodyPr/>
        <a:lstStyle/>
        <a:p>
          <a:endParaRPr lang="en-NZ"/>
        </a:p>
      </dgm:t>
    </dgm:pt>
    <dgm:pt modelId="{01138D32-3858-41AD-8B57-9F2980178F1F}" type="sibTrans" cxnId="{1B0CE3B4-852A-4513-8030-A4CF976398D2}">
      <dgm:prSet/>
      <dgm:spPr/>
      <dgm:t>
        <a:bodyPr/>
        <a:lstStyle/>
        <a:p>
          <a:pPr>
            <a:lnSpc>
              <a:spcPct val="100000"/>
            </a:lnSpc>
            <a:defRPr b="1"/>
          </a:pPr>
          <a:endParaRPr lang="en-NZ"/>
        </a:p>
      </dgm:t>
    </dgm:pt>
    <dgm:pt modelId="{219C3EE3-214A-4068-A7AE-7B78B561DF7D}">
      <dgm:prSet/>
      <dgm:spPr/>
      <dgm:t>
        <a:bodyPr/>
        <a:lstStyle/>
        <a:p>
          <a:pPr>
            <a:lnSpc>
              <a:spcPct val="100000"/>
            </a:lnSpc>
          </a:pPr>
          <a:r>
            <a:rPr lang="en-NZ"/>
            <a:t>Educational institutions may evaluate digital footprints for admissions and conduct decisions.</a:t>
          </a:r>
        </a:p>
      </dgm:t>
    </dgm:pt>
    <dgm:pt modelId="{6A636522-6C5A-46D8-A34D-D4C07B7E49D0}" type="parTrans" cxnId="{B650F5DB-B036-4468-AFAC-4C6CDCD606D9}">
      <dgm:prSet/>
      <dgm:spPr/>
      <dgm:t>
        <a:bodyPr/>
        <a:lstStyle/>
        <a:p>
          <a:endParaRPr lang="en-NZ"/>
        </a:p>
      </dgm:t>
    </dgm:pt>
    <dgm:pt modelId="{EC64FF13-9AF5-4B26-8351-CC56FC42DDF3}" type="sibTrans" cxnId="{B650F5DB-B036-4468-AFAC-4C6CDCD606D9}">
      <dgm:prSet/>
      <dgm:spPr/>
      <dgm:t>
        <a:bodyPr/>
        <a:lstStyle/>
        <a:p>
          <a:endParaRPr lang="en-NZ"/>
        </a:p>
      </dgm:t>
    </dgm:pt>
    <dgm:pt modelId="{5F1F8651-E822-4C11-B477-AE185230FDA2}">
      <dgm:prSet/>
      <dgm:spPr/>
      <dgm:t>
        <a:bodyPr/>
        <a:lstStyle/>
        <a:p>
          <a:pPr>
            <a:lnSpc>
              <a:spcPct val="100000"/>
            </a:lnSpc>
            <a:defRPr b="1"/>
          </a:pPr>
          <a:r>
            <a:rPr lang="en-NZ"/>
            <a:t>Strangers and Privacy Risks</a:t>
          </a:r>
        </a:p>
      </dgm:t>
    </dgm:pt>
    <dgm:pt modelId="{51F1AC70-40D8-4C18-9922-E3D0278B2988}" type="parTrans" cxnId="{0AB46481-BB39-4FC4-8860-2A3E38E000C3}">
      <dgm:prSet/>
      <dgm:spPr/>
      <dgm:t>
        <a:bodyPr/>
        <a:lstStyle/>
        <a:p>
          <a:endParaRPr lang="en-NZ"/>
        </a:p>
      </dgm:t>
    </dgm:pt>
    <dgm:pt modelId="{952B2E6A-6C0F-48F2-85C0-C2F5D3391545}" type="sibTrans" cxnId="{0AB46481-BB39-4FC4-8860-2A3E38E000C3}">
      <dgm:prSet/>
      <dgm:spPr/>
      <dgm:t>
        <a:bodyPr/>
        <a:lstStyle/>
        <a:p>
          <a:endParaRPr lang="en-NZ"/>
        </a:p>
      </dgm:t>
    </dgm:pt>
    <dgm:pt modelId="{62D8B70F-5739-4E18-B14A-F7155D29F41E}">
      <dgm:prSet/>
      <dgm:spPr/>
      <dgm:t>
        <a:bodyPr/>
        <a:lstStyle/>
        <a:p>
          <a:pPr>
            <a:lnSpc>
              <a:spcPct val="100000"/>
            </a:lnSpc>
          </a:pPr>
          <a:r>
            <a:rPr lang="en-NZ"/>
            <a:t>Unknown individuals can access digital footprints, posing risks to personal privacy and security.</a:t>
          </a:r>
        </a:p>
      </dgm:t>
    </dgm:pt>
    <dgm:pt modelId="{C1C9956C-A804-4918-902B-FE449CC31B0F}" type="parTrans" cxnId="{F1DE19E8-3856-48F5-9011-5BF300340EDE}">
      <dgm:prSet/>
      <dgm:spPr/>
      <dgm:t>
        <a:bodyPr/>
        <a:lstStyle/>
        <a:p>
          <a:endParaRPr lang="en-NZ"/>
        </a:p>
      </dgm:t>
    </dgm:pt>
    <dgm:pt modelId="{E03DB758-DDF1-4D50-A2AF-85AD940609F0}" type="sibTrans" cxnId="{F1DE19E8-3856-48F5-9011-5BF300340EDE}">
      <dgm:prSet/>
      <dgm:spPr/>
      <dgm:t>
        <a:bodyPr/>
        <a:lstStyle/>
        <a:p>
          <a:endParaRPr lang="en-NZ"/>
        </a:p>
      </dgm:t>
    </dgm:pt>
    <dgm:pt modelId="{F216E809-F547-4993-A010-0BCFE8D01B7A}" type="pres">
      <dgm:prSet presAssocID="{89FCFE52-36B1-4979-83C7-16B9A0317777}" presName="Root" presStyleCnt="0">
        <dgm:presLayoutVars>
          <dgm:dir/>
          <dgm:resizeHandles val="exact"/>
        </dgm:presLayoutVars>
      </dgm:prSet>
      <dgm:spPr/>
    </dgm:pt>
    <dgm:pt modelId="{DA00D5B8-FEE8-4716-BE75-75A1A72211B6}" type="pres">
      <dgm:prSet presAssocID="{E6A0857F-FD3D-490C-A6A0-0F7D390DC0E1}" presName="Composite" presStyleCnt="0"/>
      <dgm:spPr/>
    </dgm:pt>
    <dgm:pt modelId="{EDDA44EA-1D9C-4F5C-BA87-C75CF1CA43B0}" type="pres">
      <dgm:prSet presAssocID="{E6A0857F-FD3D-490C-A6A0-0F7D390DC0E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2371" r="10877" b="-2"/>
          <a:stretch/>
        </a:blipFill>
      </dgm:spPr>
      <dgm:extLst>
        <a:ext uri="{E40237B7-FDA0-4F09-8148-C483321AD2D9}">
          <dgm14:cNvPr xmlns:dgm14="http://schemas.microsoft.com/office/drawing/2010/diagram" id="0" name="" descr="Multi-ethnic group of medical students attending lecture from the comfort of their own home during the Covid-19 pandemic. The professor is leading a lecture while students take notes and ask questions."/>
        </a:ext>
      </dgm:extLst>
    </dgm:pt>
    <dgm:pt modelId="{2B6261E8-23C3-45FB-80B1-371558687418}" type="pres">
      <dgm:prSet presAssocID="{E6A0857F-FD3D-490C-A6A0-0F7D390DC0E1}" presName="Subtitle" presStyleLbl="revTx" presStyleIdx="0" presStyleCnt="6">
        <dgm:presLayoutVars>
          <dgm:chMax val="0"/>
          <dgm:bulletEnabled/>
        </dgm:presLayoutVars>
      </dgm:prSet>
      <dgm:spPr/>
    </dgm:pt>
    <dgm:pt modelId="{A282B90B-FA53-483C-8C6E-AB95EE5CF27F}" type="pres">
      <dgm:prSet presAssocID="{E6A0857F-FD3D-490C-A6A0-0F7D390DC0E1}" presName="Description" presStyleLbl="revTx" presStyleIdx="1" presStyleCnt="6">
        <dgm:presLayoutVars>
          <dgm:bulletEnabled/>
        </dgm:presLayoutVars>
      </dgm:prSet>
      <dgm:spPr/>
    </dgm:pt>
    <dgm:pt modelId="{4FF2C1F2-C2B0-4B17-A381-F30EFFBF9FE5}" type="pres">
      <dgm:prSet presAssocID="{EF454431-CEB3-451D-8C61-7DF8FD250F68}" presName="sibTrans" presStyleLbl="sibTrans2D1" presStyleIdx="0" presStyleCnt="0"/>
      <dgm:spPr/>
    </dgm:pt>
    <dgm:pt modelId="{26FB2E9C-0DB3-4269-AE8C-820A9D8BC8BE}" type="pres">
      <dgm:prSet presAssocID="{25EBEC46-6B3B-447C-A3AF-4AF0BD5210C3}" presName="Composite" presStyleCnt="0"/>
      <dgm:spPr/>
    </dgm:pt>
    <dgm:pt modelId="{51801469-94FD-4C7C-9971-5FF2F1C2D9A0}" type="pres">
      <dgm:prSet presAssocID="{25EBEC46-6B3B-447C-A3AF-4AF0BD5210C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9438" r="23810" b="-2"/>
          <a:stretch/>
        </a:blipFill>
      </dgm:spPr>
      <dgm:extLst>
        <a:ext uri="{E40237B7-FDA0-4F09-8148-C483321AD2D9}">
          <dgm14:cNvPr xmlns:dgm14="http://schemas.microsoft.com/office/drawing/2010/diagram" id="0" name="" descr="Two beautiful women students, studying for exams in the library."/>
        </a:ext>
      </dgm:extLst>
    </dgm:pt>
    <dgm:pt modelId="{E5FBA1DA-E563-4305-82C0-3C6284A7E674}" type="pres">
      <dgm:prSet presAssocID="{25EBEC46-6B3B-447C-A3AF-4AF0BD5210C3}" presName="Subtitle" presStyleLbl="revTx" presStyleIdx="2" presStyleCnt="6">
        <dgm:presLayoutVars>
          <dgm:chMax val="0"/>
          <dgm:bulletEnabled/>
        </dgm:presLayoutVars>
      </dgm:prSet>
      <dgm:spPr/>
    </dgm:pt>
    <dgm:pt modelId="{B2511522-4D6E-4325-B405-E2B48211F61E}" type="pres">
      <dgm:prSet presAssocID="{25EBEC46-6B3B-447C-A3AF-4AF0BD5210C3}" presName="Description" presStyleLbl="revTx" presStyleIdx="3" presStyleCnt="6">
        <dgm:presLayoutVars>
          <dgm:bulletEnabled/>
        </dgm:presLayoutVars>
      </dgm:prSet>
      <dgm:spPr/>
    </dgm:pt>
    <dgm:pt modelId="{67B0EC73-385E-4E2B-9B2C-2AB448EEA548}" type="pres">
      <dgm:prSet presAssocID="{01138D32-3858-41AD-8B57-9F2980178F1F}" presName="sibTrans" presStyleLbl="sibTrans2D1" presStyleIdx="0" presStyleCnt="0"/>
      <dgm:spPr/>
    </dgm:pt>
    <dgm:pt modelId="{FD37194D-4795-4E4F-AFE3-A6363C04798B}" type="pres">
      <dgm:prSet presAssocID="{5F1F8651-E822-4C11-B477-AE185230FDA2}" presName="Composite" presStyleCnt="0"/>
      <dgm:spPr/>
    </dgm:pt>
    <dgm:pt modelId="{9BE40AB4-E00B-45DD-A64F-DC1D3283E926}" type="pres">
      <dgm:prSet presAssocID="{5F1F8651-E822-4C11-B477-AE185230FDA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7751" r="25498" b="-2"/>
          <a:stretch/>
        </a:blipFill>
      </dgm:spPr>
      <dgm:extLst>
        <a:ext uri="{E40237B7-FDA0-4F09-8148-C483321AD2D9}">
          <dgm14:cNvPr xmlns:dgm14="http://schemas.microsoft.com/office/drawing/2010/diagram" id="0" name="" descr="Woman watching a screen"/>
        </a:ext>
      </dgm:extLst>
    </dgm:pt>
    <dgm:pt modelId="{0FAA1F02-01E6-448A-B5A7-75DB3E9A49EE}" type="pres">
      <dgm:prSet presAssocID="{5F1F8651-E822-4C11-B477-AE185230FDA2}" presName="Subtitle" presStyleLbl="revTx" presStyleIdx="4" presStyleCnt="6">
        <dgm:presLayoutVars>
          <dgm:chMax val="0"/>
          <dgm:bulletEnabled/>
        </dgm:presLayoutVars>
      </dgm:prSet>
      <dgm:spPr/>
    </dgm:pt>
    <dgm:pt modelId="{8C3FFB2E-59EE-4023-B0CB-1A724F678966}" type="pres">
      <dgm:prSet presAssocID="{5F1F8651-E822-4C11-B477-AE185230FDA2}" presName="Description" presStyleLbl="revTx" presStyleIdx="5" presStyleCnt="6">
        <dgm:presLayoutVars>
          <dgm:bulletEnabled/>
        </dgm:presLayoutVars>
      </dgm:prSet>
      <dgm:spPr/>
    </dgm:pt>
  </dgm:ptLst>
  <dgm:cxnLst>
    <dgm:cxn modelId="{2B5FF10B-A1AD-4497-8648-50CC80289784}" type="presOf" srcId="{55F26B03-E563-4574-884F-08381D692E24}" destId="{A282B90B-FA53-483C-8C6E-AB95EE5CF27F}" srcOrd="0" destOrd="0" presId="urn:microsoft.com/office/officeart/2024/3/layout/verticalVisualTextBlock1"/>
    <dgm:cxn modelId="{3752BF32-92B0-4CAF-BFCA-69F03AD5D9C5}" type="presOf" srcId="{5F1F8651-E822-4C11-B477-AE185230FDA2}" destId="{0FAA1F02-01E6-448A-B5A7-75DB3E9A49EE}" srcOrd="0" destOrd="0" presId="urn:microsoft.com/office/officeart/2024/3/layout/verticalVisualTextBlock1"/>
    <dgm:cxn modelId="{E56F3660-0AE9-4E75-BD15-B102B5724841}" type="presOf" srcId="{62D8B70F-5739-4E18-B14A-F7155D29F41E}" destId="{8C3FFB2E-59EE-4023-B0CB-1A724F678966}" srcOrd="0" destOrd="0" presId="urn:microsoft.com/office/officeart/2024/3/layout/verticalVisualTextBlock1"/>
    <dgm:cxn modelId="{09F8664D-1F05-49D1-8389-0352C2781077}" srcId="{E6A0857F-FD3D-490C-A6A0-0F7D390DC0E1}" destId="{55F26B03-E563-4574-884F-08381D692E24}" srcOrd="0" destOrd="0" parTransId="{39B72173-FABE-4D8B-8E2E-B6D6C47AFC35}" sibTransId="{A7DBC745-2D8E-45F0-B697-1D611F17E6FB}"/>
    <dgm:cxn modelId="{E54EDB4D-EFD1-400C-A1D0-C83F5B595907}" type="presOf" srcId="{01138D32-3858-41AD-8B57-9F2980178F1F}" destId="{67B0EC73-385E-4E2B-9B2C-2AB448EEA548}" srcOrd="0" destOrd="0" presId="urn:microsoft.com/office/officeart/2024/3/layout/verticalVisualTextBlock1"/>
    <dgm:cxn modelId="{0A96FB7C-6C0E-44F2-A2FA-3BC7CA9757C2}" type="presOf" srcId="{25EBEC46-6B3B-447C-A3AF-4AF0BD5210C3}" destId="{E5FBA1DA-E563-4305-82C0-3C6284A7E674}" srcOrd="0" destOrd="0" presId="urn:microsoft.com/office/officeart/2024/3/layout/verticalVisualTextBlock1"/>
    <dgm:cxn modelId="{0AB46481-BB39-4FC4-8860-2A3E38E000C3}" srcId="{89FCFE52-36B1-4979-83C7-16B9A0317777}" destId="{5F1F8651-E822-4C11-B477-AE185230FDA2}" srcOrd="2" destOrd="0" parTransId="{51F1AC70-40D8-4C18-9922-E3D0278B2988}" sibTransId="{952B2E6A-6C0F-48F2-85C0-C2F5D3391545}"/>
    <dgm:cxn modelId="{8924B582-20C9-46D9-83C9-30FD3D735A75}" srcId="{89FCFE52-36B1-4979-83C7-16B9A0317777}" destId="{E6A0857F-FD3D-490C-A6A0-0F7D390DC0E1}" srcOrd="0" destOrd="0" parTransId="{4E79576D-A10E-41CC-958D-62EF82E8FA82}" sibTransId="{EF454431-CEB3-451D-8C61-7DF8FD250F68}"/>
    <dgm:cxn modelId="{C0DD1D9D-A0F6-4BAE-AC81-706DBD947D8B}" type="presOf" srcId="{219C3EE3-214A-4068-A7AE-7B78B561DF7D}" destId="{B2511522-4D6E-4325-B405-E2B48211F61E}" srcOrd="0" destOrd="0" presId="urn:microsoft.com/office/officeart/2024/3/layout/verticalVisualTextBlock1"/>
    <dgm:cxn modelId="{1B0CE3B4-852A-4513-8030-A4CF976398D2}" srcId="{89FCFE52-36B1-4979-83C7-16B9A0317777}" destId="{25EBEC46-6B3B-447C-A3AF-4AF0BD5210C3}" srcOrd="1" destOrd="0" parTransId="{D7ECFBA5-1770-4CF2-AE02-DD4CD12CD95A}" sibTransId="{01138D32-3858-41AD-8B57-9F2980178F1F}"/>
    <dgm:cxn modelId="{BF4F6FD9-71CB-48B3-B871-2720DB0B0A96}" type="presOf" srcId="{89FCFE52-36B1-4979-83C7-16B9A0317777}" destId="{F216E809-F547-4993-A010-0BCFE8D01B7A}" srcOrd="0" destOrd="0" presId="urn:microsoft.com/office/officeart/2024/3/layout/verticalVisualTextBlock1"/>
    <dgm:cxn modelId="{B650F5DB-B036-4468-AFAC-4C6CDCD606D9}" srcId="{25EBEC46-6B3B-447C-A3AF-4AF0BD5210C3}" destId="{219C3EE3-214A-4068-A7AE-7B78B561DF7D}" srcOrd="0" destOrd="0" parTransId="{6A636522-6C5A-46D8-A34D-D4C07B7E49D0}" sibTransId="{EC64FF13-9AF5-4B26-8351-CC56FC42DDF3}"/>
    <dgm:cxn modelId="{835FA4E0-0D17-4506-BE9B-0448699814B0}" type="presOf" srcId="{EF454431-CEB3-451D-8C61-7DF8FD250F68}" destId="{4FF2C1F2-C2B0-4B17-A381-F30EFFBF9FE5}" srcOrd="0" destOrd="0" presId="urn:microsoft.com/office/officeart/2024/3/layout/verticalVisualTextBlock1"/>
    <dgm:cxn modelId="{F1DE19E8-3856-48F5-9011-5BF300340EDE}" srcId="{5F1F8651-E822-4C11-B477-AE185230FDA2}" destId="{62D8B70F-5739-4E18-B14A-F7155D29F41E}" srcOrd="0" destOrd="0" parTransId="{C1C9956C-A804-4918-902B-FE449CC31B0F}" sibTransId="{E03DB758-DDF1-4D50-A2AF-85AD940609F0}"/>
    <dgm:cxn modelId="{DEB239EA-77D0-44EC-8A29-93C2529B302D}" type="presOf" srcId="{E6A0857F-FD3D-490C-A6A0-0F7D390DC0E1}" destId="{2B6261E8-23C3-45FB-80B1-371558687418}" srcOrd="0" destOrd="0" presId="urn:microsoft.com/office/officeart/2024/3/layout/verticalVisualTextBlock1"/>
    <dgm:cxn modelId="{0F3CA802-3E5A-4D8B-AE5B-5680A03D0308}" type="presParOf" srcId="{F216E809-F547-4993-A010-0BCFE8D01B7A}" destId="{DA00D5B8-FEE8-4716-BE75-75A1A72211B6}" srcOrd="0" destOrd="0" presId="urn:microsoft.com/office/officeart/2024/3/layout/verticalVisualTextBlock1"/>
    <dgm:cxn modelId="{A5D0364E-CE92-4806-84D3-F5D0C98ED9B4}" type="presParOf" srcId="{DA00D5B8-FEE8-4716-BE75-75A1A72211B6}" destId="{EDDA44EA-1D9C-4F5C-BA87-C75CF1CA43B0}" srcOrd="0" destOrd="0" presId="urn:microsoft.com/office/officeart/2024/3/layout/verticalVisualTextBlock1"/>
    <dgm:cxn modelId="{87E589D9-221F-4B92-BA8C-98EA5CF47423}" type="presParOf" srcId="{DA00D5B8-FEE8-4716-BE75-75A1A72211B6}" destId="{2B6261E8-23C3-45FB-80B1-371558687418}" srcOrd="1" destOrd="0" presId="urn:microsoft.com/office/officeart/2024/3/layout/verticalVisualTextBlock1"/>
    <dgm:cxn modelId="{2831A7DD-90E7-4EE5-A030-7CD316AEA082}" type="presParOf" srcId="{DA00D5B8-FEE8-4716-BE75-75A1A72211B6}" destId="{A282B90B-FA53-483C-8C6E-AB95EE5CF27F}" srcOrd="2" destOrd="0" presId="urn:microsoft.com/office/officeart/2024/3/layout/verticalVisualTextBlock1"/>
    <dgm:cxn modelId="{514988BA-B720-413E-AF90-C889E859991E}" type="presParOf" srcId="{F216E809-F547-4993-A010-0BCFE8D01B7A}" destId="{4FF2C1F2-C2B0-4B17-A381-F30EFFBF9FE5}" srcOrd="1" destOrd="0" presId="urn:microsoft.com/office/officeart/2024/3/layout/verticalVisualTextBlock1"/>
    <dgm:cxn modelId="{588D2E9A-6F53-43D3-B26E-B90C04D03294}" type="presParOf" srcId="{F216E809-F547-4993-A010-0BCFE8D01B7A}" destId="{26FB2E9C-0DB3-4269-AE8C-820A9D8BC8BE}" srcOrd="2" destOrd="0" presId="urn:microsoft.com/office/officeart/2024/3/layout/verticalVisualTextBlock1"/>
    <dgm:cxn modelId="{8E71D59F-0B93-443E-948C-3D3A0DB44230}" type="presParOf" srcId="{26FB2E9C-0DB3-4269-AE8C-820A9D8BC8BE}" destId="{51801469-94FD-4C7C-9971-5FF2F1C2D9A0}" srcOrd="0" destOrd="0" presId="urn:microsoft.com/office/officeart/2024/3/layout/verticalVisualTextBlock1"/>
    <dgm:cxn modelId="{3EB39428-CBA9-4293-AE3B-9C2FBCBE1420}" type="presParOf" srcId="{26FB2E9C-0DB3-4269-AE8C-820A9D8BC8BE}" destId="{E5FBA1DA-E563-4305-82C0-3C6284A7E674}" srcOrd="1" destOrd="0" presId="urn:microsoft.com/office/officeart/2024/3/layout/verticalVisualTextBlock1"/>
    <dgm:cxn modelId="{7CC562E7-9937-477B-8077-4E9D90648F91}" type="presParOf" srcId="{26FB2E9C-0DB3-4269-AE8C-820A9D8BC8BE}" destId="{B2511522-4D6E-4325-B405-E2B48211F61E}" srcOrd="2" destOrd="0" presId="urn:microsoft.com/office/officeart/2024/3/layout/verticalVisualTextBlock1"/>
    <dgm:cxn modelId="{400124E2-B00B-4BFC-8E2B-653D27434210}" type="presParOf" srcId="{F216E809-F547-4993-A010-0BCFE8D01B7A}" destId="{67B0EC73-385E-4E2B-9B2C-2AB448EEA548}" srcOrd="3" destOrd="0" presId="urn:microsoft.com/office/officeart/2024/3/layout/verticalVisualTextBlock1"/>
    <dgm:cxn modelId="{3ED0E3CC-ADE6-4E73-A78A-27E980F431EB}" type="presParOf" srcId="{F216E809-F547-4993-A010-0BCFE8D01B7A}" destId="{FD37194D-4795-4E4F-AFE3-A6363C04798B}" srcOrd="4" destOrd="0" presId="urn:microsoft.com/office/officeart/2024/3/layout/verticalVisualTextBlock1"/>
    <dgm:cxn modelId="{450A2950-11C7-422C-8859-C2BFB0541CEF}" type="presParOf" srcId="{FD37194D-4795-4E4F-AFE3-A6363C04798B}" destId="{9BE40AB4-E00B-45DD-A64F-DC1D3283E926}" srcOrd="0" destOrd="0" presId="urn:microsoft.com/office/officeart/2024/3/layout/verticalVisualTextBlock1"/>
    <dgm:cxn modelId="{BB87B992-023B-4ADD-A2C4-B9A05D20DD7F}" type="presParOf" srcId="{FD37194D-4795-4E4F-AFE3-A6363C04798B}" destId="{0FAA1F02-01E6-448A-B5A7-75DB3E9A49EE}" srcOrd="1" destOrd="0" presId="urn:microsoft.com/office/officeart/2024/3/layout/verticalVisualTextBlock1"/>
    <dgm:cxn modelId="{7BAC75F4-026F-4C20-A12C-1B2AD79A2426}" type="presParOf" srcId="{FD37194D-4795-4E4F-AFE3-A6363C04798B}" destId="{8C3FFB2E-59EE-4023-B0CB-1A724F67896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6739D4-7387-4C2F-A058-5396B4C1ACF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A455B12-E528-495D-AC6E-8E199F915E46}">
      <dgm:prSet/>
      <dgm:spPr/>
      <dgm:t>
        <a:bodyPr/>
        <a:lstStyle/>
        <a:p>
          <a:pPr>
            <a:lnSpc>
              <a:spcPct val="100000"/>
            </a:lnSpc>
            <a:defRPr b="1"/>
          </a:pPr>
          <a:r>
            <a:rPr lang="en-US"/>
            <a:t>Understanding Cyberbullying</a:t>
          </a:r>
        </a:p>
      </dgm:t>
    </dgm:pt>
    <dgm:pt modelId="{34325C27-C688-4AE4-9A9A-8DF839CAAA23}" type="parTrans" cxnId="{6530128E-A7FF-4CE4-9DB1-A295B9CE4E23}">
      <dgm:prSet/>
      <dgm:spPr/>
      <dgm:t>
        <a:bodyPr/>
        <a:lstStyle/>
        <a:p>
          <a:endParaRPr lang="en-US"/>
        </a:p>
      </dgm:t>
    </dgm:pt>
    <dgm:pt modelId="{5168E95C-D838-4CD7-A834-F49E9B499B0E}" type="sibTrans" cxnId="{6530128E-A7FF-4CE4-9DB1-A295B9CE4E23}">
      <dgm:prSet/>
      <dgm:spPr/>
      <dgm:t>
        <a:bodyPr/>
        <a:lstStyle/>
        <a:p>
          <a:pPr>
            <a:lnSpc>
              <a:spcPct val="100000"/>
            </a:lnSpc>
            <a:defRPr b="1"/>
          </a:pPr>
          <a:endParaRPr lang="en-US"/>
        </a:p>
      </dgm:t>
    </dgm:pt>
    <dgm:pt modelId="{1A0AFB4A-2457-4F80-A7BB-73EFA9BDE143}">
      <dgm:prSet/>
      <dgm:spPr/>
      <dgm:t>
        <a:bodyPr/>
        <a:lstStyle/>
        <a:p>
          <a:pPr>
            <a:lnSpc>
              <a:spcPct val="100000"/>
            </a:lnSpc>
          </a:pPr>
          <a:r>
            <a:rPr lang="en-US"/>
            <a:t>Recognising cyberbullying helps you protect yourself and others from online harm and negativity.</a:t>
          </a:r>
        </a:p>
      </dgm:t>
    </dgm:pt>
    <dgm:pt modelId="{BABCE30D-47E6-489E-99E2-86F32A21446A}" type="parTrans" cxnId="{62950139-BC39-4DD3-8C4B-CAED96E47184}">
      <dgm:prSet/>
      <dgm:spPr/>
      <dgm:t>
        <a:bodyPr/>
        <a:lstStyle/>
        <a:p>
          <a:endParaRPr lang="en-US"/>
        </a:p>
      </dgm:t>
    </dgm:pt>
    <dgm:pt modelId="{80073A44-B931-4F7F-963C-A08204114B22}" type="sibTrans" cxnId="{62950139-BC39-4DD3-8C4B-CAED96E47184}">
      <dgm:prSet/>
      <dgm:spPr/>
      <dgm:t>
        <a:bodyPr/>
        <a:lstStyle/>
        <a:p>
          <a:endParaRPr lang="en-US"/>
        </a:p>
      </dgm:t>
    </dgm:pt>
    <dgm:pt modelId="{FD9CE489-53CA-4A8B-AC0C-112B8C7BD50C}">
      <dgm:prSet/>
      <dgm:spPr/>
      <dgm:t>
        <a:bodyPr/>
        <a:lstStyle/>
        <a:p>
          <a:pPr>
            <a:lnSpc>
              <a:spcPct val="100000"/>
            </a:lnSpc>
            <a:defRPr b="1"/>
          </a:pPr>
          <a:r>
            <a:rPr lang="en-US"/>
            <a:t>Managing Your Digital Footprint</a:t>
          </a:r>
        </a:p>
      </dgm:t>
    </dgm:pt>
    <dgm:pt modelId="{F5A8946B-5099-44C7-A595-81AFEFBA4DAC}" type="parTrans" cxnId="{3FA2585A-1054-4E2F-8E90-4265605867CF}">
      <dgm:prSet/>
      <dgm:spPr/>
      <dgm:t>
        <a:bodyPr/>
        <a:lstStyle/>
        <a:p>
          <a:endParaRPr lang="en-US"/>
        </a:p>
      </dgm:t>
    </dgm:pt>
    <dgm:pt modelId="{C5027D97-FA88-4B61-86D8-ADD9048981C2}" type="sibTrans" cxnId="{3FA2585A-1054-4E2F-8E90-4265605867CF}">
      <dgm:prSet/>
      <dgm:spPr/>
      <dgm:t>
        <a:bodyPr/>
        <a:lstStyle/>
        <a:p>
          <a:pPr>
            <a:lnSpc>
              <a:spcPct val="100000"/>
            </a:lnSpc>
            <a:defRPr b="1"/>
          </a:pPr>
          <a:endParaRPr lang="en-US"/>
        </a:p>
      </dgm:t>
    </dgm:pt>
    <dgm:pt modelId="{495837C9-8CCD-4D81-9EE6-39478F9A2F19}">
      <dgm:prSet/>
      <dgm:spPr/>
      <dgm:t>
        <a:bodyPr/>
        <a:lstStyle/>
        <a:p>
          <a:pPr>
            <a:lnSpc>
              <a:spcPct val="100000"/>
            </a:lnSpc>
          </a:pPr>
          <a:r>
            <a:rPr lang="en-US"/>
            <a:t>Being mindful about your digital footprint empowers you to shape your online reputation responsibly.</a:t>
          </a:r>
        </a:p>
      </dgm:t>
    </dgm:pt>
    <dgm:pt modelId="{6A1C0733-AF7A-43C5-9489-8E0B05A2C3D0}" type="parTrans" cxnId="{90D16686-2F50-4C1D-A7F3-94FB9267B2F7}">
      <dgm:prSet/>
      <dgm:spPr/>
      <dgm:t>
        <a:bodyPr/>
        <a:lstStyle/>
        <a:p>
          <a:endParaRPr lang="en-US"/>
        </a:p>
      </dgm:t>
    </dgm:pt>
    <dgm:pt modelId="{1E2FF7E3-17A9-49A2-BB36-C2C15DE647D9}" type="sibTrans" cxnId="{90D16686-2F50-4C1D-A7F3-94FB9267B2F7}">
      <dgm:prSet/>
      <dgm:spPr/>
      <dgm:t>
        <a:bodyPr/>
        <a:lstStyle/>
        <a:p>
          <a:endParaRPr lang="en-US"/>
        </a:p>
      </dgm:t>
    </dgm:pt>
    <dgm:pt modelId="{E7F42343-0D31-45C7-922B-C9DE0B21C3A5}">
      <dgm:prSet/>
      <dgm:spPr/>
      <dgm:t>
        <a:bodyPr/>
        <a:lstStyle/>
        <a:p>
          <a:pPr>
            <a:lnSpc>
              <a:spcPct val="100000"/>
            </a:lnSpc>
            <a:defRPr b="1"/>
          </a:pPr>
          <a:r>
            <a:rPr lang="en-US"/>
            <a:t>Building a Positive Digital Future</a:t>
          </a:r>
        </a:p>
      </dgm:t>
    </dgm:pt>
    <dgm:pt modelId="{C1C63D73-1F80-4277-853F-2922549D4D7D}" type="parTrans" cxnId="{0CBA9E32-163D-4E49-826F-F4B66B3C2879}">
      <dgm:prSet/>
      <dgm:spPr/>
      <dgm:t>
        <a:bodyPr/>
        <a:lstStyle/>
        <a:p>
          <a:endParaRPr lang="en-US"/>
        </a:p>
      </dgm:t>
    </dgm:pt>
    <dgm:pt modelId="{9F1D46AB-D9BA-420B-986F-571C312E30A5}" type="sibTrans" cxnId="{0CBA9E32-163D-4E49-826F-F4B66B3C2879}">
      <dgm:prSet/>
      <dgm:spPr/>
      <dgm:t>
        <a:bodyPr/>
        <a:lstStyle/>
        <a:p>
          <a:endParaRPr lang="en-US"/>
        </a:p>
      </dgm:t>
    </dgm:pt>
    <dgm:pt modelId="{3ADC550F-381C-4FAB-A815-CBDDC35FD2F0}">
      <dgm:prSet/>
      <dgm:spPr/>
      <dgm:t>
        <a:bodyPr/>
        <a:lstStyle/>
        <a:p>
          <a:pPr>
            <a:lnSpc>
              <a:spcPct val="100000"/>
            </a:lnSpc>
          </a:pPr>
          <a:r>
            <a:rPr lang="en-US"/>
            <a:t>Supporting others online and promoting positivity creates a safer, more respectful digital community.</a:t>
          </a:r>
        </a:p>
      </dgm:t>
    </dgm:pt>
    <dgm:pt modelId="{E9DBEF31-1C10-4276-B5F3-25F0535AAD13}" type="parTrans" cxnId="{D1AB670F-D992-4F6E-BF4F-1DEC02865183}">
      <dgm:prSet/>
      <dgm:spPr/>
      <dgm:t>
        <a:bodyPr/>
        <a:lstStyle/>
        <a:p>
          <a:endParaRPr lang="en-US"/>
        </a:p>
      </dgm:t>
    </dgm:pt>
    <dgm:pt modelId="{64B53242-1B26-4F4E-B109-8B3E979EA84E}" type="sibTrans" cxnId="{D1AB670F-D992-4F6E-BF4F-1DEC02865183}">
      <dgm:prSet/>
      <dgm:spPr/>
      <dgm:t>
        <a:bodyPr/>
        <a:lstStyle/>
        <a:p>
          <a:endParaRPr lang="en-US"/>
        </a:p>
      </dgm:t>
    </dgm:pt>
    <dgm:pt modelId="{45B41099-16DD-422E-B4F2-EED50E471001}" type="pres">
      <dgm:prSet presAssocID="{EF6739D4-7387-4C2F-A058-5396B4C1ACFE}" presName="Name0" presStyleCnt="0">
        <dgm:presLayoutVars>
          <dgm:dir/>
          <dgm:resizeHandles val="exact"/>
        </dgm:presLayoutVars>
      </dgm:prSet>
      <dgm:spPr/>
    </dgm:pt>
    <dgm:pt modelId="{A3094EC2-930E-4B50-9503-5686CCDDAFDE}" type="pres">
      <dgm:prSet presAssocID="{FA455B12-E528-495D-AC6E-8E199F915E46}" presName="compNode" presStyleCnt="0"/>
      <dgm:spPr/>
    </dgm:pt>
    <dgm:pt modelId="{717503DE-9720-4935-ACA8-058BB878862A}" type="pres">
      <dgm:prSet presAssocID="{FA455B12-E528-495D-AC6E-8E199F915E46}" presName="pictRect" presStyleLbl="revTx" presStyleIdx="0" presStyleCnt="6">
        <dgm:presLayoutVars>
          <dgm:chMax val="0"/>
          <dgm:bulletEnabled/>
        </dgm:presLayoutVars>
      </dgm:prSet>
      <dgm:spPr/>
    </dgm:pt>
    <dgm:pt modelId="{138161BA-2A16-49EA-99FB-8B5BF2CDB2AD}" type="pres">
      <dgm:prSet presAssocID="{FA455B12-E528-495D-AC6E-8E199F915E46}" presName="textRect" presStyleLbl="revTx" presStyleIdx="1" presStyleCnt="6">
        <dgm:presLayoutVars>
          <dgm:bulletEnabled/>
        </dgm:presLayoutVars>
      </dgm:prSet>
      <dgm:spPr/>
    </dgm:pt>
    <dgm:pt modelId="{5628771D-A8C2-4767-9BEC-EB7001A613C7}" type="pres">
      <dgm:prSet presAssocID="{5168E95C-D838-4CD7-A834-F49E9B499B0E}" presName="sibTrans" presStyleLbl="sibTrans2D1" presStyleIdx="0" presStyleCnt="0"/>
      <dgm:spPr/>
    </dgm:pt>
    <dgm:pt modelId="{D9BCCDED-F249-4001-BFA4-2061E71191D4}" type="pres">
      <dgm:prSet presAssocID="{FD9CE489-53CA-4A8B-AC0C-112B8C7BD50C}" presName="compNode" presStyleCnt="0"/>
      <dgm:spPr/>
    </dgm:pt>
    <dgm:pt modelId="{8E50473A-861F-4687-B4CA-5FC55C837B11}" type="pres">
      <dgm:prSet presAssocID="{FD9CE489-53CA-4A8B-AC0C-112B8C7BD50C}" presName="pictRect" presStyleLbl="revTx" presStyleIdx="2" presStyleCnt="6">
        <dgm:presLayoutVars>
          <dgm:chMax val="0"/>
          <dgm:bulletEnabled/>
        </dgm:presLayoutVars>
      </dgm:prSet>
      <dgm:spPr/>
    </dgm:pt>
    <dgm:pt modelId="{900412D1-4A73-41AD-A506-E6F9311FC13A}" type="pres">
      <dgm:prSet presAssocID="{FD9CE489-53CA-4A8B-AC0C-112B8C7BD50C}" presName="textRect" presStyleLbl="revTx" presStyleIdx="3" presStyleCnt="6">
        <dgm:presLayoutVars>
          <dgm:bulletEnabled/>
        </dgm:presLayoutVars>
      </dgm:prSet>
      <dgm:spPr/>
    </dgm:pt>
    <dgm:pt modelId="{A531B1DC-138C-4A81-AB89-D416C10941A1}" type="pres">
      <dgm:prSet presAssocID="{C5027D97-FA88-4B61-86D8-ADD9048981C2}" presName="sibTrans" presStyleLbl="sibTrans2D1" presStyleIdx="0" presStyleCnt="0"/>
      <dgm:spPr/>
    </dgm:pt>
    <dgm:pt modelId="{B191AE8C-E6BE-4606-AD06-02B3E05EBC40}" type="pres">
      <dgm:prSet presAssocID="{E7F42343-0D31-45C7-922B-C9DE0B21C3A5}" presName="compNode" presStyleCnt="0"/>
      <dgm:spPr/>
    </dgm:pt>
    <dgm:pt modelId="{DD8327F0-B32D-4254-965D-3A5B992709A5}" type="pres">
      <dgm:prSet presAssocID="{E7F42343-0D31-45C7-922B-C9DE0B21C3A5}" presName="pictRect" presStyleLbl="revTx" presStyleIdx="4" presStyleCnt="6">
        <dgm:presLayoutVars>
          <dgm:chMax val="0"/>
          <dgm:bulletEnabled/>
        </dgm:presLayoutVars>
      </dgm:prSet>
      <dgm:spPr/>
    </dgm:pt>
    <dgm:pt modelId="{9D215815-C830-40B0-93B7-7DFA58D67317}" type="pres">
      <dgm:prSet presAssocID="{E7F42343-0D31-45C7-922B-C9DE0B21C3A5}" presName="textRect" presStyleLbl="revTx" presStyleIdx="5" presStyleCnt="6">
        <dgm:presLayoutVars>
          <dgm:bulletEnabled/>
        </dgm:presLayoutVars>
      </dgm:prSet>
      <dgm:spPr/>
    </dgm:pt>
  </dgm:ptLst>
  <dgm:cxnLst>
    <dgm:cxn modelId="{75D01F07-2492-4D6C-BDCF-16D306E15CE8}" type="presOf" srcId="{1A0AFB4A-2457-4F80-A7BB-73EFA9BDE143}" destId="{138161BA-2A16-49EA-99FB-8B5BF2CDB2AD}" srcOrd="0" destOrd="0" presId="urn:microsoft.com/office/officeart/2024/3/layout/hArchList1"/>
    <dgm:cxn modelId="{D1AB670F-D992-4F6E-BF4F-1DEC02865183}" srcId="{E7F42343-0D31-45C7-922B-C9DE0B21C3A5}" destId="{3ADC550F-381C-4FAB-A815-CBDDC35FD2F0}" srcOrd="0" destOrd="0" parTransId="{E9DBEF31-1C10-4276-B5F3-25F0535AAD13}" sibTransId="{64B53242-1B26-4F4E-B109-8B3E979EA84E}"/>
    <dgm:cxn modelId="{C24B6710-3B8E-4A6C-AEF8-DEFD9FA0FFAC}" type="presOf" srcId="{C5027D97-FA88-4B61-86D8-ADD9048981C2}" destId="{A531B1DC-138C-4A81-AB89-D416C10941A1}" srcOrd="0" destOrd="0" presId="urn:microsoft.com/office/officeart/2024/3/layout/hArchList1"/>
    <dgm:cxn modelId="{0CBA9E32-163D-4E49-826F-F4B66B3C2879}" srcId="{EF6739D4-7387-4C2F-A058-5396B4C1ACFE}" destId="{E7F42343-0D31-45C7-922B-C9DE0B21C3A5}" srcOrd="2" destOrd="0" parTransId="{C1C63D73-1F80-4277-853F-2922549D4D7D}" sibTransId="{9F1D46AB-D9BA-420B-986F-571C312E30A5}"/>
    <dgm:cxn modelId="{62950139-BC39-4DD3-8C4B-CAED96E47184}" srcId="{FA455B12-E528-495D-AC6E-8E199F915E46}" destId="{1A0AFB4A-2457-4F80-A7BB-73EFA9BDE143}" srcOrd="0" destOrd="0" parTransId="{BABCE30D-47E6-489E-99E2-86F32A21446A}" sibTransId="{80073A44-B931-4F7F-963C-A08204114B22}"/>
    <dgm:cxn modelId="{74C8E95F-25E1-4DB5-B721-B8DD85A97EE8}" type="presOf" srcId="{E7F42343-0D31-45C7-922B-C9DE0B21C3A5}" destId="{DD8327F0-B32D-4254-965D-3A5B992709A5}" srcOrd="0" destOrd="0" presId="urn:microsoft.com/office/officeart/2024/3/layout/hArchList1"/>
    <dgm:cxn modelId="{D9F6826D-6BDB-4C41-90EC-CC580E9C1D37}" type="presOf" srcId="{EF6739D4-7387-4C2F-A058-5396B4C1ACFE}" destId="{45B41099-16DD-422E-B4F2-EED50E471001}" srcOrd="0" destOrd="0" presId="urn:microsoft.com/office/officeart/2024/3/layout/hArchList1"/>
    <dgm:cxn modelId="{3FA2585A-1054-4E2F-8E90-4265605867CF}" srcId="{EF6739D4-7387-4C2F-A058-5396B4C1ACFE}" destId="{FD9CE489-53CA-4A8B-AC0C-112B8C7BD50C}" srcOrd="1" destOrd="0" parTransId="{F5A8946B-5099-44C7-A595-81AFEFBA4DAC}" sibTransId="{C5027D97-FA88-4B61-86D8-ADD9048981C2}"/>
    <dgm:cxn modelId="{22EEE17B-6064-4FD6-9F0B-58BB4937F246}" type="presOf" srcId="{495837C9-8CCD-4D81-9EE6-39478F9A2F19}" destId="{900412D1-4A73-41AD-A506-E6F9311FC13A}" srcOrd="0" destOrd="0" presId="urn:microsoft.com/office/officeart/2024/3/layout/hArchList1"/>
    <dgm:cxn modelId="{90D16686-2F50-4C1D-A7F3-94FB9267B2F7}" srcId="{FD9CE489-53CA-4A8B-AC0C-112B8C7BD50C}" destId="{495837C9-8CCD-4D81-9EE6-39478F9A2F19}" srcOrd="0" destOrd="0" parTransId="{6A1C0733-AF7A-43C5-9489-8E0B05A2C3D0}" sibTransId="{1E2FF7E3-17A9-49A2-BB36-C2C15DE647D9}"/>
    <dgm:cxn modelId="{6530128E-A7FF-4CE4-9DB1-A295B9CE4E23}" srcId="{EF6739D4-7387-4C2F-A058-5396B4C1ACFE}" destId="{FA455B12-E528-495D-AC6E-8E199F915E46}" srcOrd="0" destOrd="0" parTransId="{34325C27-C688-4AE4-9A9A-8DF839CAAA23}" sibTransId="{5168E95C-D838-4CD7-A834-F49E9B499B0E}"/>
    <dgm:cxn modelId="{19365FAE-AB34-461E-9355-F980E5F31BB6}" type="presOf" srcId="{FD9CE489-53CA-4A8B-AC0C-112B8C7BD50C}" destId="{8E50473A-861F-4687-B4CA-5FC55C837B11}" srcOrd="0" destOrd="0" presId="urn:microsoft.com/office/officeart/2024/3/layout/hArchList1"/>
    <dgm:cxn modelId="{19B3E6B9-9946-461D-8699-491771EEE819}" type="presOf" srcId="{3ADC550F-381C-4FAB-A815-CBDDC35FD2F0}" destId="{9D215815-C830-40B0-93B7-7DFA58D67317}" srcOrd="0" destOrd="0" presId="urn:microsoft.com/office/officeart/2024/3/layout/hArchList1"/>
    <dgm:cxn modelId="{16F168EA-4772-42FC-BC00-0585C2274CAB}" type="presOf" srcId="{5168E95C-D838-4CD7-A834-F49E9B499B0E}" destId="{5628771D-A8C2-4767-9BEC-EB7001A613C7}" srcOrd="0" destOrd="0" presId="urn:microsoft.com/office/officeart/2024/3/layout/hArchList1"/>
    <dgm:cxn modelId="{ECA245EE-EEC8-4A14-BB7F-2F7891467CC4}" type="presOf" srcId="{FA455B12-E528-495D-AC6E-8E199F915E46}" destId="{717503DE-9720-4935-ACA8-058BB878862A}" srcOrd="0" destOrd="0" presId="urn:microsoft.com/office/officeart/2024/3/layout/hArchList1"/>
    <dgm:cxn modelId="{43061729-BD54-4598-9169-0DDCCD6FC378}" type="presParOf" srcId="{45B41099-16DD-422E-B4F2-EED50E471001}" destId="{A3094EC2-930E-4B50-9503-5686CCDDAFDE}" srcOrd="0" destOrd="0" presId="urn:microsoft.com/office/officeart/2024/3/layout/hArchList1"/>
    <dgm:cxn modelId="{79FD9A1F-CF2C-452F-8C17-A9EFCD63A5F0}" type="presParOf" srcId="{A3094EC2-930E-4B50-9503-5686CCDDAFDE}" destId="{717503DE-9720-4935-ACA8-058BB878862A}" srcOrd="0" destOrd="0" presId="urn:microsoft.com/office/officeart/2024/3/layout/hArchList1"/>
    <dgm:cxn modelId="{61E83B2C-9498-42E2-A7A4-F42C223AAD58}" type="presParOf" srcId="{A3094EC2-930E-4B50-9503-5686CCDDAFDE}" destId="{138161BA-2A16-49EA-99FB-8B5BF2CDB2AD}" srcOrd="1" destOrd="0" presId="urn:microsoft.com/office/officeart/2024/3/layout/hArchList1"/>
    <dgm:cxn modelId="{7CCC3683-94B3-4D0B-BAEB-9FB7741130FA}" type="presParOf" srcId="{45B41099-16DD-422E-B4F2-EED50E471001}" destId="{5628771D-A8C2-4767-9BEC-EB7001A613C7}" srcOrd="1" destOrd="0" presId="urn:microsoft.com/office/officeart/2024/3/layout/hArchList1"/>
    <dgm:cxn modelId="{E69C6121-72C1-4C3B-9A3F-1B8EDBB27103}" type="presParOf" srcId="{45B41099-16DD-422E-B4F2-EED50E471001}" destId="{D9BCCDED-F249-4001-BFA4-2061E71191D4}" srcOrd="2" destOrd="0" presId="urn:microsoft.com/office/officeart/2024/3/layout/hArchList1"/>
    <dgm:cxn modelId="{28B23558-CAB5-4F74-B8ED-31CB77658CBA}" type="presParOf" srcId="{D9BCCDED-F249-4001-BFA4-2061E71191D4}" destId="{8E50473A-861F-4687-B4CA-5FC55C837B11}" srcOrd="0" destOrd="0" presId="urn:microsoft.com/office/officeart/2024/3/layout/hArchList1"/>
    <dgm:cxn modelId="{92D03772-F166-45A6-92C3-F3905EA799A4}" type="presParOf" srcId="{D9BCCDED-F249-4001-BFA4-2061E71191D4}" destId="{900412D1-4A73-41AD-A506-E6F9311FC13A}" srcOrd="1" destOrd="0" presId="urn:microsoft.com/office/officeart/2024/3/layout/hArchList1"/>
    <dgm:cxn modelId="{C8CC9BAF-3EAB-454F-8BE0-0F8A60188DAC}" type="presParOf" srcId="{45B41099-16DD-422E-B4F2-EED50E471001}" destId="{A531B1DC-138C-4A81-AB89-D416C10941A1}" srcOrd="3" destOrd="0" presId="urn:microsoft.com/office/officeart/2024/3/layout/hArchList1"/>
    <dgm:cxn modelId="{FF6AFA4C-395A-464F-9D49-CA95588F13D1}" type="presParOf" srcId="{45B41099-16DD-422E-B4F2-EED50E471001}" destId="{B191AE8C-E6BE-4606-AD06-02B3E05EBC40}" srcOrd="4" destOrd="0" presId="urn:microsoft.com/office/officeart/2024/3/layout/hArchList1"/>
    <dgm:cxn modelId="{1BA05D02-A4DC-4FF0-B8F1-51D046BEFDE9}" type="presParOf" srcId="{B191AE8C-E6BE-4606-AD06-02B3E05EBC40}" destId="{DD8327F0-B32D-4254-965D-3A5B992709A5}" srcOrd="0" destOrd="0" presId="urn:microsoft.com/office/officeart/2024/3/layout/hArchList1"/>
    <dgm:cxn modelId="{A96EFE67-BACA-419F-B682-CE0DB58FED73}" type="presParOf" srcId="{B191AE8C-E6BE-4606-AD06-02B3E05EBC40}" destId="{9D215815-C830-40B0-93B7-7DFA58D6731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6739D4-7387-4C2F-A058-5396B4C1ACF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A455B12-E528-495D-AC6E-8E199F915E46}">
      <dgm:prSet/>
      <dgm:spPr/>
      <dgm:t>
        <a:bodyPr/>
        <a:lstStyle/>
        <a:p>
          <a:pPr>
            <a:lnSpc>
              <a:spcPct val="100000"/>
            </a:lnSpc>
            <a:defRPr b="1"/>
          </a:pPr>
          <a:r>
            <a:rPr lang="en-US" dirty="0" err="1"/>
            <a:t>Interland</a:t>
          </a:r>
          <a:endParaRPr lang="en-US" dirty="0"/>
        </a:p>
      </dgm:t>
    </dgm:pt>
    <dgm:pt modelId="{34325C27-C688-4AE4-9A9A-8DF839CAAA23}" type="parTrans" cxnId="{6530128E-A7FF-4CE4-9DB1-A295B9CE4E23}">
      <dgm:prSet/>
      <dgm:spPr/>
      <dgm:t>
        <a:bodyPr/>
        <a:lstStyle/>
        <a:p>
          <a:endParaRPr lang="en-US"/>
        </a:p>
      </dgm:t>
    </dgm:pt>
    <dgm:pt modelId="{5168E95C-D838-4CD7-A834-F49E9B499B0E}" type="sibTrans" cxnId="{6530128E-A7FF-4CE4-9DB1-A295B9CE4E23}">
      <dgm:prSet/>
      <dgm:spPr/>
      <dgm:t>
        <a:bodyPr/>
        <a:lstStyle/>
        <a:p>
          <a:pPr>
            <a:lnSpc>
              <a:spcPct val="100000"/>
            </a:lnSpc>
            <a:defRPr b="1"/>
          </a:pPr>
          <a:endParaRPr lang="en-US"/>
        </a:p>
      </dgm:t>
    </dgm:pt>
    <dgm:pt modelId="{1A0AFB4A-2457-4F80-A7BB-73EFA9BDE143}">
      <dgm:prSet/>
      <dgm:spPr/>
      <dgm:t>
        <a:bodyPr/>
        <a:lstStyle/>
        <a:p>
          <a:pPr>
            <a:lnSpc>
              <a:spcPct val="100000"/>
            </a:lnSpc>
          </a:pPr>
          <a:r>
            <a:rPr lang="en-US" dirty="0"/>
            <a:t>Go to the </a:t>
          </a:r>
          <a:r>
            <a:rPr lang="en-US" dirty="0" err="1"/>
            <a:t>Interland</a:t>
          </a:r>
          <a:r>
            <a:rPr lang="en-US" dirty="0"/>
            <a:t> website and play the Kind Level and the Responsible Sharing Level</a:t>
          </a:r>
        </a:p>
      </dgm:t>
    </dgm:pt>
    <dgm:pt modelId="{BABCE30D-47E6-489E-99E2-86F32A21446A}" type="parTrans" cxnId="{62950139-BC39-4DD3-8C4B-CAED96E47184}">
      <dgm:prSet/>
      <dgm:spPr/>
      <dgm:t>
        <a:bodyPr/>
        <a:lstStyle/>
        <a:p>
          <a:endParaRPr lang="en-US"/>
        </a:p>
      </dgm:t>
    </dgm:pt>
    <dgm:pt modelId="{80073A44-B931-4F7F-963C-A08204114B22}" type="sibTrans" cxnId="{62950139-BC39-4DD3-8C4B-CAED96E47184}">
      <dgm:prSet/>
      <dgm:spPr/>
      <dgm:t>
        <a:bodyPr/>
        <a:lstStyle/>
        <a:p>
          <a:endParaRPr lang="en-US"/>
        </a:p>
      </dgm:t>
    </dgm:pt>
    <dgm:pt modelId="{FD9CE489-53CA-4A8B-AC0C-112B8C7BD50C}">
      <dgm:prSet/>
      <dgm:spPr/>
      <dgm:t>
        <a:bodyPr/>
        <a:lstStyle/>
        <a:p>
          <a:pPr>
            <a:lnSpc>
              <a:spcPct val="100000"/>
            </a:lnSpc>
            <a:defRPr b="1"/>
          </a:pPr>
          <a:r>
            <a:rPr lang="en-US" dirty="0"/>
            <a:t>Digital Passport</a:t>
          </a:r>
        </a:p>
      </dgm:t>
    </dgm:pt>
    <dgm:pt modelId="{F5A8946B-5099-44C7-A595-81AFEFBA4DAC}" type="parTrans" cxnId="{3FA2585A-1054-4E2F-8E90-4265605867CF}">
      <dgm:prSet/>
      <dgm:spPr/>
      <dgm:t>
        <a:bodyPr/>
        <a:lstStyle/>
        <a:p>
          <a:endParaRPr lang="en-US"/>
        </a:p>
      </dgm:t>
    </dgm:pt>
    <dgm:pt modelId="{C5027D97-FA88-4B61-86D8-ADD9048981C2}" type="sibTrans" cxnId="{3FA2585A-1054-4E2F-8E90-4265605867CF}">
      <dgm:prSet/>
      <dgm:spPr/>
      <dgm:t>
        <a:bodyPr/>
        <a:lstStyle/>
        <a:p>
          <a:pPr>
            <a:lnSpc>
              <a:spcPct val="100000"/>
            </a:lnSpc>
            <a:defRPr b="1"/>
          </a:pPr>
          <a:endParaRPr lang="en-US"/>
        </a:p>
      </dgm:t>
    </dgm:pt>
    <dgm:pt modelId="{495837C9-8CCD-4D81-9EE6-39478F9A2F19}">
      <dgm:prSet/>
      <dgm:spPr/>
      <dgm:t>
        <a:bodyPr/>
        <a:lstStyle/>
        <a:p>
          <a:pPr>
            <a:lnSpc>
              <a:spcPct val="100000"/>
            </a:lnSpc>
          </a:pPr>
          <a:r>
            <a:rPr lang="en-US" dirty="0"/>
            <a:t>Go to 1 </a:t>
          </a:r>
          <a:r>
            <a:rPr lang="en-NZ" dirty="0"/>
            <a:t>a</a:t>
          </a:r>
          <a:r>
            <a:rPr lang="en-US" dirty="0" err="1"/>
            <a:t>nd</a:t>
          </a:r>
          <a:r>
            <a:rPr lang="en-US" dirty="0"/>
            <a:t> play either the Share Jumper or E–Volve games</a:t>
          </a:r>
        </a:p>
      </dgm:t>
    </dgm:pt>
    <dgm:pt modelId="{6A1C0733-AF7A-43C5-9489-8E0B05A2C3D0}" type="parTrans" cxnId="{90D16686-2F50-4C1D-A7F3-94FB9267B2F7}">
      <dgm:prSet/>
      <dgm:spPr/>
      <dgm:t>
        <a:bodyPr/>
        <a:lstStyle/>
        <a:p>
          <a:endParaRPr lang="en-US"/>
        </a:p>
      </dgm:t>
    </dgm:pt>
    <dgm:pt modelId="{1E2FF7E3-17A9-49A2-BB36-C2C15DE647D9}" type="sibTrans" cxnId="{90D16686-2F50-4C1D-A7F3-94FB9267B2F7}">
      <dgm:prSet/>
      <dgm:spPr/>
      <dgm:t>
        <a:bodyPr/>
        <a:lstStyle/>
        <a:p>
          <a:endParaRPr lang="en-US"/>
        </a:p>
      </dgm:t>
    </dgm:pt>
    <dgm:pt modelId="{E7F42343-0D31-45C7-922B-C9DE0B21C3A5}">
      <dgm:prSet/>
      <dgm:spPr/>
      <dgm:t>
        <a:bodyPr/>
        <a:lstStyle/>
        <a:p>
          <a:pPr>
            <a:lnSpc>
              <a:spcPct val="100000"/>
            </a:lnSpc>
            <a:defRPr b="1"/>
          </a:pPr>
          <a:r>
            <a:rPr lang="en-US" dirty="0"/>
            <a:t>Nova Labs (Cyber Security)</a:t>
          </a:r>
        </a:p>
      </dgm:t>
    </dgm:pt>
    <dgm:pt modelId="{C1C63D73-1F80-4277-853F-2922549D4D7D}" type="parTrans" cxnId="{0CBA9E32-163D-4E49-826F-F4B66B3C2879}">
      <dgm:prSet/>
      <dgm:spPr/>
      <dgm:t>
        <a:bodyPr/>
        <a:lstStyle/>
        <a:p>
          <a:endParaRPr lang="en-US"/>
        </a:p>
      </dgm:t>
    </dgm:pt>
    <dgm:pt modelId="{9F1D46AB-D9BA-420B-986F-571C312E30A5}" type="sibTrans" cxnId="{0CBA9E32-163D-4E49-826F-F4B66B3C2879}">
      <dgm:prSet/>
      <dgm:spPr/>
      <dgm:t>
        <a:bodyPr/>
        <a:lstStyle/>
        <a:p>
          <a:endParaRPr lang="en-US"/>
        </a:p>
      </dgm:t>
    </dgm:pt>
    <dgm:pt modelId="{3ADC550F-381C-4FAB-A815-CBDDC35FD2F0}">
      <dgm:prSet/>
      <dgm:spPr/>
      <dgm:t>
        <a:bodyPr/>
        <a:lstStyle/>
        <a:p>
          <a:pPr>
            <a:lnSpc>
              <a:spcPct val="100000"/>
            </a:lnSpc>
          </a:pPr>
          <a:r>
            <a:rPr lang="en-US" dirty="0"/>
            <a:t>Go to 2 </a:t>
          </a:r>
          <a:r>
            <a:rPr lang="en-NZ" dirty="0"/>
            <a:t>play cyber security simulator</a:t>
          </a:r>
          <a:endParaRPr lang="en-US" dirty="0"/>
        </a:p>
      </dgm:t>
    </dgm:pt>
    <dgm:pt modelId="{E9DBEF31-1C10-4276-B5F3-25F0535AAD13}" type="parTrans" cxnId="{D1AB670F-D992-4F6E-BF4F-1DEC02865183}">
      <dgm:prSet/>
      <dgm:spPr/>
      <dgm:t>
        <a:bodyPr/>
        <a:lstStyle/>
        <a:p>
          <a:endParaRPr lang="en-US"/>
        </a:p>
      </dgm:t>
    </dgm:pt>
    <dgm:pt modelId="{64B53242-1B26-4F4E-B109-8B3E979EA84E}" type="sibTrans" cxnId="{D1AB670F-D992-4F6E-BF4F-1DEC02865183}">
      <dgm:prSet/>
      <dgm:spPr/>
      <dgm:t>
        <a:bodyPr/>
        <a:lstStyle/>
        <a:p>
          <a:endParaRPr lang="en-US"/>
        </a:p>
      </dgm:t>
    </dgm:pt>
    <dgm:pt modelId="{45B41099-16DD-422E-B4F2-EED50E471001}" type="pres">
      <dgm:prSet presAssocID="{EF6739D4-7387-4C2F-A058-5396B4C1ACFE}" presName="Name0" presStyleCnt="0">
        <dgm:presLayoutVars>
          <dgm:dir/>
          <dgm:resizeHandles val="exact"/>
        </dgm:presLayoutVars>
      </dgm:prSet>
      <dgm:spPr/>
    </dgm:pt>
    <dgm:pt modelId="{A3094EC2-930E-4B50-9503-5686CCDDAFDE}" type="pres">
      <dgm:prSet presAssocID="{FA455B12-E528-495D-AC6E-8E199F915E46}" presName="compNode" presStyleCnt="0"/>
      <dgm:spPr/>
    </dgm:pt>
    <dgm:pt modelId="{717503DE-9720-4935-ACA8-058BB878862A}" type="pres">
      <dgm:prSet presAssocID="{FA455B12-E528-495D-AC6E-8E199F915E46}" presName="pictRect" presStyleLbl="revTx" presStyleIdx="0" presStyleCnt="6">
        <dgm:presLayoutVars>
          <dgm:chMax val="0"/>
          <dgm:bulletEnabled/>
        </dgm:presLayoutVars>
      </dgm:prSet>
      <dgm:spPr/>
    </dgm:pt>
    <dgm:pt modelId="{138161BA-2A16-49EA-99FB-8B5BF2CDB2AD}" type="pres">
      <dgm:prSet presAssocID="{FA455B12-E528-495D-AC6E-8E199F915E46}" presName="textRect" presStyleLbl="revTx" presStyleIdx="1" presStyleCnt="6">
        <dgm:presLayoutVars>
          <dgm:bulletEnabled/>
        </dgm:presLayoutVars>
      </dgm:prSet>
      <dgm:spPr/>
    </dgm:pt>
    <dgm:pt modelId="{5628771D-A8C2-4767-9BEC-EB7001A613C7}" type="pres">
      <dgm:prSet presAssocID="{5168E95C-D838-4CD7-A834-F49E9B499B0E}" presName="sibTrans" presStyleLbl="sibTrans2D1" presStyleIdx="0" presStyleCnt="0"/>
      <dgm:spPr/>
    </dgm:pt>
    <dgm:pt modelId="{D9BCCDED-F249-4001-BFA4-2061E71191D4}" type="pres">
      <dgm:prSet presAssocID="{FD9CE489-53CA-4A8B-AC0C-112B8C7BD50C}" presName="compNode" presStyleCnt="0"/>
      <dgm:spPr/>
    </dgm:pt>
    <dgm:pt modelId="{8E50473A-861F-4687-B4CA-5FC55C837B11}" type="pres">
      <dgm:prSet presAssocID="{FD9CE489-53CA-4A8B-AC0C-112B8C7BD50C}" presName="pictRect" presStyleLbl="revTx" presStyleIdx="2" presStyleCnt="6">
        <dgm:presLayoutVars>
          <dgm:chMax val="0"/>
          <dgm:bulletEnabled/>
        </dgm:presLayoutVars>
      </dgm:prSet>
      <dgm:spPr/>
    </dgm:pt>
    <dgm:pt modelId="{900412D1-4A73-41AD-A506-E6F9311FC13A}" type="pres">
      <dgm:prSet presAssocID="{FD9CE489-53CA-4A8B-AC0C-112B8C7BD50C}" presName="textRect" presStyleLbl="revTx" presStyleIdx="3" presStyleCnt="6">
        <dgm:presLayoutVars>
          <dgm:bulletEnabled/>
        </dgm:presLayoutVars>
      </dgm:prSet>
      <dgm:spPr/>
    </dgm:pt>
    <dgm:pt modelId="{A531B1DC-138C-4A81-AB89-D416C10941A1}" type="pres">
      <dgm:prSet presAssocID="{C5027D97-FA88-4B61-86D8-ADD9048981C2}" presName="sibTrans" presStyleLbl="sibTrans2D1" presStyleIdx="0" presStyleCnt="0"/>
      <dgm:spPr/>
    </dgm:pt>
    <dgm:pt modelId="{B191AE8C-E6BE-4606-AD06-02B3E05EBC40}" type="pres">
      <dgm:prSet presAssocID="{E7F42343-0D31-45C7-922B-C9DE0B21C3A5}" presName="compNode" presStyleCnt="0"/>
      <dgm:spPr/>
    </dgm:pt>
    <dgm:pt modelId="{DD8327F0-B32D-4254-965D-3A5B992709A5}" type="pres">
      <dgm:prSet presAssocID="{E7F42343-0D31-45C7-922B-C9DE0B21C3A5}" presName="pictRect" presStyleLbl="revTx" presStyleIdx="4" presStyleCnt="6">
        <dgm:presLayoutVars>
          <dgm:chMax val="0"/>
          <dgm:bulletEnabled/>
        </dgm:presLayoutVars>
      </dgm:prSet>
      <dgm:spPr/>
    </dgm:pt>
    <dgm:pt modelId="{9D215815-C830-40B0-93B7-7DFA58D67317}" type="pres">
      <dgm:prSet presAssocID="{E7F42343-0D31-45C7-922B-C9DE0B21C3A5}" presName="textRect" presStyleLbl="revTx" presStyleIdx="5" presStyleCnt="6">
        <dgm:presLayoutVars>
          <dgm:bulletEnabled/>
        </dgm:presLayoutVars>
      </dgm:prSet>
      <dgm:spPr/>
    </dgm:pt>
  </dgm:ptLst>
  <dgm:cxnLst>
    <dgm:cxn modelId="{75D01F07-2492-4D6C-BDCF-16D306E15CE8}" type="presOf" srcId="{1A0AFB4A-2457-4F80-A7BB-73EFA9BDE143}" destId="{138161BA-2A16-49EA-99FB-8B5BF2CDB2AD}" srcOrd="0" destOrd="0" presId="urn:microsoft.com/office/officeart/2024/3/layout/hArchList1"/>
    <dgm:cxn modelId="{D1AB670F-D992-4F6E-BF4F-1DEC02865183}" srcId="{E7F42343-0D31-45C7-922B-C9DE0B21C3A5}" destId="{3ADC550F-381C-4FAB-A815-CBDDC35FD2F0}" srcOrd="0" destOrd="0" parTransId="{E9DBEF31-1C10-4276-B5F3-25F0535AAD13}" sibTransId="{64B53242-1B26-4F4E-B109-8B3E979EA84E}"/>
    <dgm:cxn modelId="{C24B6710-3B8E-4A6C-AEF8-DEFD9FA0FFAC}" type="presOf" srcId="{C5027D97-FA88-4B61-86D8-ADD9048981C2}" destId="{A531B1DC-138C-4A81-AB89-D416C10941A1}" srcOrd="0" destOrd="0" presId="urn:microsoft.com/office/officeart/2024/3/layout/hArchList1"/>
    <dgm:cxn modelId="{0CBA9E32-163D-4E49-826F-F4B66B3C2879}" srcId="{EF6739D4-7387-4C2F-A058-5396B4C1ACFE}" destId="{E7F42343-0D31-45C7-922B-C9DE0B21C3A5}" srcOrd="2" destOrd="0" parTransId="{C1C63D73-1F80-4277-853F-2922549D4D7D}" sibTransId="{9F1D46AB-D9BA-420B-986F-571C312E30A5}"/>
    <dgm:cxn modelId="{62950139-BC39-4DD3-8C4B-CAED96E47184}" srcId="{FA455B12-E528-495D-AC6E-8E199F915E46}" destId="{1A0AFB4A-2457-4F80-A7BB-73EFA9BDE143}" srcOrd="0" destOrd="0" parTransId="{BABCE30D-47E6-489E-99E2-86F32A21446A}" sibTransId="{80073A44-B931-4F7F-963C-A08204114B22}"/>
    <dgm:cxn modelId="{74C8E95F-25E1-4DB5-B721-B8DD85A97EE8}" type="presOf" srcId="{E7F42343-0D31-45C7-922B-C9DE0B21C3A5}" destId="{DD8327F0-B32D-4254-965D-3A5B992709A5}" srcOrd="0" destOrd="0" presId="urn:microsoft.com/office/officeart/2024/3/layout/hArchList1"/>
    <dgm:cxn modelId="{D9F6826D-6BDB-4C41-90EC-CC580E9C1D37}" type="presOf" srcId="{EF6739D4-7387-4C2F-A058-5396B4C1ACFE}" destId="{45B41099-16DD-422E-B4F2-EED50E471001}" srcOrd="0" destOrd="0" presId="urn:microsoft.com/office/officeart/2024/3/layout/hArchList1"/>
    <dgm:cxn modelId="{3FA2585A-1054-4E2F-8E90-4265605867CF}" srcId="{EF6739D4-7387-4C2F-A058-5396B4C1ACFE}" destId="{FD9CE489-53CA-4A8B-AC0C-112B8C7BD50C}" srcOrd="1" destOrd="0" parTransId="{F5A8946B-5099-44C7-A595-81AFEFBA4DAC}" sibTransId="{C5027D97-FA88-4B61-86D8-ADD9048981C2}"/>
    <dgm:cxn modelId="{22EEE17B-6064-4FD6-9F0B-58BB4937F246}" type="presOf" srcId="{495837C9-8CCD-4D81-9EE6-39478F9A2F19}" destId="{900412D1-4A73-41AD-A506-E6F9311FC13A}" srcOrd="0" destOrd="0" presId="urn:microsoft.com/office/officeart/2024/3/layout/hArchList1"/>
    <dgm:cxn modelId="{90D16686-2F50-4C1D-A7F3-94FB9267B2F7}" srcId="{FD9CE489-53CA-4A8B-AC0C-112B8C7BD50C}" destId="{495837C9-8CCD-4D81-9EE6-39478F9A2F19}" srcOrd="0" destOrd="0" parTransId="{6A1C0733-AF7A-43C5-9489-8E0B05A2C3D0}" sibTransId="{1E2FF7E3-17A9-49A2-BB36-C2C15DE647D9}"/>
    <dgm:cxn modelId="{6530128E-A7FF-4CE4-9DB1-A295B9CE4E23}" srcId="{EF6739D4-7387-4C2F-A058-5396B4C1ACFE}" destId="{FA455B12-E528-495D-AC6E-8E199F915E46}" srcOrd="0" destOrd="0" parTransId="{34325C27-C688-4AE4-9A9A-8DF839CAAA23}" sibTransId="{5168E95C-D838-4CD7-A834-F49E9B499B0E}"/>
    <dgm:cxn modelId="{19365FAE-AB34-461E-9355-F980E5F31BB6}" type="presOf" srcId="{FD9CE489-53CA-4A8B-AC0C-112B8C7BD50C}" destId="{8E50473A-861F-4687-B4CA-5FC55C837B11}" srcOrd="0" destOrd="0" presId="urn:microsoft.com/office/officeart/2024/3/layout/hArchList1"/>
    <dgm:cxn modelId="{19B3E6B9-9946-461D-8699-491771EEE819}" type="presOf" srcId="{3ADC550F-381C-4FAB-A815-CBDDC35FD2F0}" destId="{9D215815-C830-40B0-93B7-7DFA58D67317}" srcOrd="0" destOrd="0" presId="urn:microsoft.com/office/officeart/2024/3/layout/hArchList1"/>
    <dgm:cxn modelId="{16F168EA-4772-42FC-BC00-0585C2274CAB}" type="presOf" srcId="{5168E95C-D838-4CD7-A834-F49E9B499B0E}" destId="{5628771D-A8C2-4767-9BEC-EB7001A613C7}" srcOrd="0" destOrd="0" presId="urn:microsoft.com/office/officeart/2024/3/layout/hArchList1"/>
    <dgm:cxn modelId="{ECA245EE-EEC8-4A14-BB7F-2F7891467CC4}" type="presOf" srcId="{FA455B12-E528-495D-AC6E-8E199F915E46}" destId="{717503DE-9720-4935-ACA8-058BB878862A}" srcOrd="0" destOrd="0" presId="urn:microsoft.com/office/officeart/2024/3/layout/hArchList1"/>
    <dgm:cxn modelId="{43061729-BD54-4598-9169-0DDCCD6FC378}" type="presParOf" srcId="{45B41099-16DD-422E-B4F2-EED50E471001}" destId="{A3094EC2-930E-4B50-9503-5686CCDDAFDE}" srcOrd="0" destOrd="0" presId="urn:microsoft.com/office/officeart/2024/3/layout/hArchList1"/>
    <dgm:cxn modelId="{79FD9A1F-CF2C-452F-8C17-A9EFCD63A5F0}" type="presParOf" srcId="{A3094EC2-930E-4B50-9503-5686CCDDAFDE}" destId="{717503DE-9720-4935-ACA8-058BB878862A}" srcOrd="0" destOrd="0" presId="urn:microsoft.com/office/officeart/2024/3/layout/hArchList1"/>
    <dgm:cxn modelId="{61E83B2C-9498-42E2-A7A4-F42C223AAD58}" type="presParOf" srcId="{A3094EC2-930E-4B50-9503-5686CCDDAFDE}" destId="{138161BA-2A16-49EA-99FB-8B5BF2CDB2AD}" srcOrd="1" destOrd="0" presId="urn:microsoft.com/office/officeart/2024/3/layout/hArchList1"/>
    <dgm:cxn modelId="{7CCC3683-94B3-4D0B-BAEB-9FB7741130FA}" type="presParOf" srcId="{45B41099-16DD-422E-B4F2-EED50E471001}" destId="{5628771D-A8C2-4767-9BEC-EB7001A613C7}" srcOrd="1" destOrd="0" presId="urn:microsoft.com/office/officeart/2024/3/layout/hArchList1"/>
    <dgm:cxn modelId="{E69C6121-72C1-4C3B-9A3F-1B8EDBB27103}" type="presParOf" srcId="{45B41099-16DD-422E-B4F2-EED50E471001}" destId="{D9BCCDED-F249-4001-BFA4-2061E71191D4}" srcOrd="2" destOrd="0" presId="urn:microsoft.com/office/officeart/2024/3/layout/hArchList1"/>
    <dgm:cxn modelId="{28B23558-CAB5-4F74-B8ED-31CB77658CBA}" type="presParOf" srcId="{D9BCCDED-F249-4001-BFA4-2061E71191D4}" destId="{8E50473A-861F-4687-B4CA-5FC55C837B11}" srcOrd="0" destOrd="0" presId="urn:microsoft.com/office/officeart/2024/3/layout/hArchList1"/>
    <dgm:cxn modelId="{92D03772-F166-45A6-92C3-F3905EA799A4}" type="presParOf" srcId="{D9BCCDED-F249-4001-BFA4-2061E71191D4}" destId="{900412D1-4A73-41AD-A506-E6F9311FC13A}" srcOrd="1" destOrd="0" presId="urn:microsoft.com/office/officeart/2024/3/layout/hArchList1"/>
    <dgm:cxn modelId="{C8CC9BAF-3EAB-454F-8BE0-0F8A60188DAC}" type="presParOf" srcId="{45B41099-16DD-422E-B4F2-EED50E471001}" destId="{A531B1DC-138C-4A81-AB89-D416C10941A1}" srcOrd="3" destOrd="0" presId="urn:microsoft.com/office/officeart/2024/3/layout/hArchList1"/>
    <dgm:cxn modelId="{FF6AFA4C-395A-464F-9D49-CA95588F13D1}" type="presParOf" srcId="{45B41099-16DD-422E-B4F2-EED50E471001}" destId="{B191AE8C-E6BE-4606-AD06-02B3E05EBC40}" srcOrd="4" destOrd="0" presId="urn:microsoft.com/office/officeart/2024/3/layout/hArchList1"/>
    <dgm:cxn modelId="{1BA05D02-A4DC-4FF0-B8F1-51D046BEFDE9}" type="presParOf" srcId="{B191AE8C-E6BE-4606-AD06-02B3E05EBC40}" destId="{DD8327F0-B32D-4254-965D-3A5B992709A5}" srcOrd="0" destOrd="0" presId="urn:microsoft.com/office/officeart/2024/3/layout/hArchList1"/>
    <dgm:cxn modelId="{A96EFE67-BACA-419F-B682-CE0DB58FED73}" type="presParOf" srcId="{B191AE8C-E6BE-4606-AD06-02B3E05EBC40}" destId="{9D215815-C830-40B0-93B7-7DFA58D6731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C29C9-284E-42AC-B433-009CAC2709EE}">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005" r="22243" b="-2"/>
          <a:stretch/>
        </a:blipFill>
        <a:ln>
          <a:noFill/>
        </a:ln>
        <a:effectLst/>
      </dsp:spPr>
      <dsp:style>
        <a:lnRef idx="0">
          <a:scrgbClr r="0" g="0" b="0"/>
        </a:lnRef>
        <a:fillRef idx="3">
          <a:scrgbClr r="0" g="0" b="0"/>
        </a:fillRef>
        <a:effectRef idx="2">
          <a:scrgbClr r="0" g="0" b="0"/>
        </a:effectRef>
        <a:fontRef idx="minor">
          <a:schemeClr val="lt1"/>
        </a:fontRef>
      </dsp:style>
    </dsp:sp>
    <dsp:sp modelId="{226429F9-C3CC-4914-B6EE-64C5A63CD030}">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Legal Actions</a:t>
          </a:r>
        </a:p>
      </dsp:txBody>
      <dsp:txXfrm>
        <a:off x="1861599" y="0"/>
        <a:ext cx="5167674" cy="346182"/>
      </dsp:txXfrm>
    </dsp:sp>
    <dsp:sp modelId="{4A6BB09B-426D-4303-A0DA-615EE43B30B1}">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Cyberbullying perpetrators may be subject to criminal or civil legal consequences, including fines or prosecution.</a:t>
          </a:r>
        </a:p>
      </dsp:txBody>
      <dsp:txXfrm>
        <a:off x="1861599" y="346182"/>
        <a:ext cx="5167674" cy="1335417"/>
      </dsp:txXfrm>
    </dsp:sp>
    <dsp:sp modelId="{C649AE54-14B4-4CA5-9DB8-E27446D56301}">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6173" r="17076" b="-2"/>
          <a:stretch/>
        </a:blipFill>
        <a:ln>
          <a:noFill/>
        </a:ln>
        <a:effectLst/>
      </dsp:spPr>
      <dsp:style>
        <a:lnRef idx="0">
          <a:scrgbClr r="0" g="0" b="0"/>
        </a:lnRef>
        <a:fillRef idx="3">
          <a:scrgbClr r="0" g="0" b="0"/>
        </a:fillRef>
        <a:effectRef idx="2">
          <a:scrgbClr r="0" g="0" b="0"/>
        </a:effectRef>
        <a:fontRef idx="minor">
          <a:schemeClr val="lt1"/>
        </a:fontRef>
      </dsp:style>
    </dsp:sp>
    <dsp:sp modelId="{4CD87F80-F234-4534-B233-C551C18BB21F}">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Educational Disciplinary Measures</a:t>
          </a:r>
        </a:p>
      </dsp:txBody>
      <dsp:txXfrm>
        <a:off x="1861599" y="1816127"/>
        <a:ext cx="5167674" cy="346182"/>
      </dsp:txXfrm>
    </dsp:sp>
    <dsp:sp modelId="{BD0FF8D6-53D3-47C8-B8AE-DE9E6779CB36}">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Schools can impose disciplinary actions such as suspension or expulsion on students involved in cyberbullying.</a:t>
          </a:r>
        </a:p>
      </dsp:txBody>
      <dsp:txXfrm>
        <a:off x="1861599" y="2162310"/>
        <a:ext cx="5167674" cy="1335417"/>
      </dsp:txXfrm>
    </dsp:sp>
    <dsp:sp modelId="{AB314A92-9004-43B7-A0A1-C7D587234ECE}">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33249" b="-2"/>
          <a:stretch/>
        </a:blipFill>
        <a:ln>
          <a:noFill/>
        </a:ln>
        <a:effectLst/>
      </dsp:spPr>
      <dsp:style>
        <a:lnRef idx="0">
          <a:scrgbClr r="0" g="0" b="0"/>
        </a:lnRef>
        <a:fillRef idx="3">
          <a:scrgbClr r="0" g="0" b="0"/>
        </a:fillRef>
        <a:effectRef idx="2">
          <a:scrgbClr r="0" g="0" b="0"/>
        </a:effectRef>
        <a:fontRef idx="minor">
          <a:schemeClr val="lt1"/>
        </a:fontRef>
      </dsp:style>
    </dsp:sp>
    <dsp:sp modelId="{123DF7F5-5655-4295-82A2-F374B7A5F45F}">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Personal Reputation Damage</a:t>
          </a:r>
        </a:p>
      </dsp:txBody>
      <dsp:txXfrm>
        <a:off x="1861599" y="3632255"/>
        <a:ext cx="5167674" cy="346182"/>
      </dsp:txXfrm>
    </dsp:sp>
    <dsp:sp modelId="{470BBD6D-B5D1-4EE2-9575-78453C36BB24}">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Engaging in cyberbullying can harm personal relationships and social standing among peers and family.</a:t>
          </a:r>
        </a:p>
      </dsp:txBody>
      <dsp:txXfrm>
        <a:off x="1861599" y="3978438"/>
        <a:ext cx="5167674" cy="13354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B516C-0FD0-48BB-92F5-D04C1BB51A75}">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720" r="29529" b="-2"/>
          <a:stretch/>
        </a:blipFill>
        <a:ln>
          <a:noFill/>
        </a:ln>
        <a:effectLst/>
      </dsp:spPr>
      <dsp:style>
        <a:lnRef idx="0">
          <a:scrgbClr r="0" g="0" b="0"/>
        </a:lnRef>
        <a:fillRef idx="3">
          <a:scrgbClr r="0" g="0" b="0"/>
        </a:fillRef>
        <a:effectRef idx="2">
          <a:scrgbClr r="0" g="0" b="0"/>
        </a:effectRef>
        <a:fontRef idx="minor">
          <a:schemeClr val="lt1"/>
        </a:fontRef>
      </dsp:style>
    </dsp:sp>
    <dsp:sp modelId="{4F353EF4-6F91-4A66-9071-D8846AD3CE02}">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dirty="0"/>
            <a:t>Blocking Offenders</a:t>
          </a:r>
        </a:p>
      </dsp:txBody>
      <dsp:txXfrm>
        <a:off x="1861599" y="0"/>
        <a:ext cx="5167674" cy="346182"/>
      </dsp:txXfrm>
    </dsp:sp>
    <dsp:sp modelId="{FB488522-E1B9-4A48-A971-734DA865140D}">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dirty="0"/>
            <a:t>Blocking offenders helps prevent further harassment by stopping unwanted communication from bullies.</a:t>
          </a:r>
        </a:p>
      </dsp:txBody>
      <dsp:txXfrm>
        <a:off x="1861599" y="346182"/>
        <a:ext cx="5167674" cy="1335417"/>
      </dsp:txXfrm>
    </dsp:sp>
    <dsp:sp modelId="{B53B6566-F852-46B7-BC94-FC90EBD000D3}">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494" r="17755" b="-2"/>
          <a:stretch/>
        </a:blipFill>
        <a:ln>
          <a:noFill/>
        </a:ln>
        <a:effectLst/>
      </dsp:spPr>
      <dsp:style>
        <a:lnRef idx="0">
          <a:scrgbClr r="0" g="0" b="0"/>
        </a:lnRef>
        <a:fillRef idx="3">
          <a:scrgbClr r="0" g="0" b="0"/>
        </a:fillRef>
        <a:effectRef idx="2">
          <a:scrgbClr r="0" g="0" b="0"/>
        </a:effectRef>
        <a:fontRef idx="minor">
          <a:schemeClr val="lt1"/>
        </a:fontRef>
      </dsp:style>
    </dsp:sp>
    <dsp:sp modelId="{382339D9-FB1F-4B3B-A37A-74CD01A37045}">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dirty="0"/>
            <a:t>Reporting Incidents</a:t>
          </a:r>
        </a:p>
      </dsp:txBody>
      <dsp:txXfrm>
        <a:off x="1861599" y="1816127"/>
        <a:ext cx="5167674" cy="346182"/>
      </dsp:txXfrm>
    </dsp:sp>
    <dsp:sp modelId="{6487730D-E9D9-4AC0-ACD6-F3B1009E0627}">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dirty="0"/>
            <a:t>Reporting cyberbullying to platform authorities enables swift action and enforcement of policies.</a:t>
          </a:r>
        </a:p>
      </dsp:txBody>
      <dsp:txXfrm>
        <a:off x="1861599" y="2162310"/>
        <a:ext cx="5167674" cy="1335417"/>
      </dsp:txXfrm>
    </dsp:sp>
    <dsp:sp modelId="{0C8766CB-FA36-4265-95B5-CFFE6A40596B}">
      <dsp:nvSpPr>
        <dsp:cNvPr id="0" name=""/>
        <dsp:cNvSpPr/>
      </dsp:nvSpPr>
      <dsp:spPr>
        <a:xfrm>
          <a:off x="0" y="3632255"/>
          <a:ext cx="1681599" cy="1681599"/>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496F679-5437-455F-83A1-B80B21D0D297}">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dirty="0"/>
            <a:t>Seeking Support</a:t>
          </a:r>
        </a:p>
      </dsp:txBody>
      <dsp:txXfrm>
        <a:off x="1861599" y="3632255"/>
        <a:ext cx="5167674" cy="346182"/>
      </dsp:txXfrm>
    </dsp:sp>
    <dsp:sp modelId="{A39B4ED8-E8A4-4CA5-B739-921F1355CA80}">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dirty="0"/>
            <a:t>Reaching out to trusted adults or support services provides emotional help and guidance.</a:t>
          </a:r>
        </a:p>
      </dsp:txBody>
      <dsp:txXfrm>
        <a:off x="1861599" y="3978438"/>
        <a:ext cx="5167674" cy="13354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A44EA-1D9C-4F5C-BA87-C75CF1CA43B0}">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2371" r="10877" b="-2"/>
          <a:stretch/>
        </a:blipFill>
        <a:ln>
          <a:noFill/>
        </a:ln>
        <a:effectLst/>
      </dsp:spPr>
      <dsp:style>
        <a:lnRef idx="0">
          <a:scrgbClr r="0" g="0" b="0"/>
        </a:lnRef>
        <a:fillRef idx="3">
          <a:scrgbClr r="0" g="0" b="0"/>
        </a:fillRef>
        <a:effectRef idx="2">
          <a:scrgbClr r="0" g="0" b="0"/>
        </a:effectRef>
        <a:fontRef idx="minor">
          <a:schemeClr val="lt1"/>
        </a:fontRef>
      </dsp:style>
    </dsp:sp>
    <dsp:sp modelId="{2B6261E8-23C3-45FB-80B1-371558687418}">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Employers Access Footprint</a:t>
          </a:r>
        </a:p>
      </dsp:txBody>
      <dsp:txXfrm>
        <a:off x="1861599" y="0"/>
        <a:ext cx="5167674" cy="346182"/>
      </dsp:txXfrm>
    </dsp:sp>
    <dsp:sp modelId="{A282B90B-FA53-483C-8C6E-AB95EE5CF27F}">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Employers review digital footprints to assess candidates’ professionalism and suitability for job opportunities.</a:t>
          </a:r>
        </a:p>
      </dsp:txBody>
      <dsp:txXfrm>
        <a:off x="1861599" y="346182"/>
        <a:ext cx="5167674" cy="1335417"/>
      </dsp:txXfrm>
    </dsp:sp>
    <dsp:sp modelId="{51801469-94FD-4C7C-9971-5FF2F1C2D9A0}">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9438" r="23810" b="-2"/>
          <a:stretch/>
        </a:blipFill>
        <a:ln>
          <a:noFill/>
        </a:ln>
        <a:effectLst/>
      </dsp:spPr>
      <dsp:style>
        <a:lnRef idx="0">
          <a:scrgbClr r="0" g="0" b="0"/>
        </a:lnRef>
        <a:fillRef idx="3">
          <a:scrgbClr r="0" g="0" b="0"/>
        </a:fillRef>
        <a:effectRef idx="2">
          <a:scrgbClr r="0" g="0" b="0"/>
        </a:effectRef>
        <a:fontRef idx="minor">
          <a:schemeClr val="lt1"/>
        </a:fontRef>
      </dsp:style>
    </dsp:sp>
    <dsp:sp modelId="{E5FBA1DA-E563-4305-82C0-3C6284A7E674}">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Schools Monitor Activity</a:t>
          </a:r>
        </a:p>
      </dsp:txBody>
      <dsp:txXfrm>
        <a:off x="1861599" y="1816127"/>
        <a:ext cx="5167674" cy="346182"/>
      </dsp:txXfrm>
    </dsp:sp>
    <dsp:sp modelId="{B2511522-4D6E-4325-B405-E2B48211F61E}">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Educational institutions may evaluate digital footprints for admissions and conduct decisions.</a:t>
          </a:r>
        </a:p>
      </dsp:txBody>
      <dsp:txXfrm>
        <a:off x="1861599" y="2162310"/>
        <a:ext cx="5167674" cy="1335417"/>
      </dsp:txXfrm>
    </dsp:sp>
    <dsp:sp modelId="{9BE40AB4-E00B-45DD-A64F-DC1D3283E926}">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7751" r="25498" b="-2"/>
          <a:stretch/>
        </a:blipFill>
        <a:ln>
          <a:noFill/>
        </a:ln>
        <a:effectLst/>
      </dsp:spPr>
      <dsp:style>
        <a:lnRef idx="0">
          <a:scrgbClr r="0" g="0" b="0"/>
        </a:lnRef>
        <a:fillRef idx="3">
          <a:scrgbClr r="0" g="0" b="0"/>
        </a:fillRef>
        <a:effectRef idx="2">
          <a:scrgbClr r="0" g="0" b="0"/>
        </a:effectRef>
        <a:fontRef idx="minor">
          <a:schemeClr val="lt1"/>
        </a:fontRef>
      </dsp:style>
    </dsp:sp>
    <dsp:sp modelId="{0FAA1F02-01E6-448A-B5A7-75DB3E9A49EE}">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NZ" sz="1800" kern="1200"/>
            <a:t>Strangers and Privacy Risks</a:t>
          </a:r>
        </a:p>
      </dsp:txBody>
      <dsp:txXfrm>
        <a:off x="1861599" y="3632255"/>
        <a:ext cx="5167674" cy="346182"/>
      </dsp:txXfrm>
    </dsp:sp>
    <dsp:sp modelId="{8C3FFB2E-59EE-4023-B0CB-1A724F678966}">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NZ" sz="1400" kern="1200"/>
            <a:t>Unknown individuals can access digital footprints, posing risks to personal privacy and security.</a:t>
          </a:r>
        </a:p>
      </dsp:txBody>
      <dsp:txXfrm>
        <a:off x="1861599" y="3978438"/>
        <a:ext cx="5167674" cy="13354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503DE-9720-4935-ACA8-058BB878862A}">
      <dsp:nvSpPr>
        <dsp:cNvPr id="0" name=""/>
        <dsp:cNvSpPr/>
      </dsp:nvSpPr>
      <dsp:spPr>
        <a:xfrm>
          <a:off x="0" y="0"/>
          <a:ext cx="3377565" cy="602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Cyberbullying</a:t>
          </a:r>
        </a:p>
      </dsp:txBody>
      <dsp:txXfrm>
        <a:off x="0" y="0"/>
        <a:ext cx="3377565" cy="602934"/>
      </dsp:txXfrm>
    </dsp:sp>
    <dsp:sp modelId="{138161BA-2A16-49EA-99FB-8B5BF2CDB2AD}">
      <dsp:nvSpPr>
        <dsp:cNvPr id="0" name=""/>
        <dsp:cNvSpPr/>
      </dsp:nvSpPr>
      <dsp:spPr>
        <a:xfrm>
          <a:off x="0" y="60293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Recognising cyberbullying helps you protect yourself and others from online harm and negativity.</a:t>
          </a:r>
        </a:p>
      </dsp:txBody>
      <dsp:txXfrm>
        <a:off x="0" y="602934"/>
        <a:ext cx="3377565" cy="1892815"/>
      </dsp:txXfrm>
    </dsp:sp>
    <dsp:sp modelId="{8E50473A-861F-4687-B4CA-5FC55C837B11}">
      <dsp:nvSpPr>
        <dsp:cNvPr id="0" name=""/>
        <dsp:cNvSpPr/>
      </dsp:nvSpPr>
      <dsp:spPr>
        <a:xfrm>
          <a:off x="3715321" y="0"/>
          <a:ext cx="3377565" cy="602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Managing Your Digital Footprint</a:t>
          </a:r>
        </a:p>
      </dsp:txBody>
      <dsp:txXfrm>
        <a:off x="3715321" y="0"/>
        <a:ext cx="3377565" cy="602934"/>
      </dsp:txXfrm>
    </dsp:sp>
    <dsp:sp modelId="{900412D1-4A73-41AD-A506-E6F9311FC13A}">
      <dsp:nvSpPr>
        <dsp:cNvPr id="0" name=""/>
        <dsp:cNvSpPr/>
      </dsp:nvSpPr>
      <dsp:spPr>
        <a:xfrm>
          <a:off x="3715321" y="60293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Being mindful about your digital footprint empowers you to shape your online reputation responsibly.</a:t>
          </a:r>
        </a:p>
      </dsp:txBody>
      <dsp:txXfrm>
        <a:off x="3715321" y="602934"/>
        <a:ext cx="3377565" cy="1892815"/>
      </dsp:txXfrm>
    </dsp:sp>
    <dsp:sp modelId="{DD8327F0-B32D-4254-965D-3A5B992709A5}">
      <dsp:nvSpPr>
        <dsp:cNvPr id="0" name=""/>
        <dsp:cNvSpPr/>
      </dsp:nvSpPr>
      <dsp:spPr>
        <a:xfrm>
          <a:off x="7430643" y="0"/>
          <a:ext cx="3377565" cy="602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Building a Positive Digital Future</a:t>
          </a:r>
        </a:p>
      </dsp:txBody>
      <dsp:txXfrm>
        <a:off x="7430643" y="0"/>
        <a:ext cx="3377565" cy="602934"/>
      </dsp:txXfrm>
    </dsp:sp>
    <dsp:sp modelId="{9D215815-C830-40B0-93B7-7DFA58D67317}">
      <dsp:nvSpPr>
        <dsp:cNvPr id="0" name=""/>
        <dsp:cNvSpPr/>
      </dsp:nvSpPr>
      <dsp:spPr>
        <a:xfrm>
          <a:off x="7430643" y="60293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Supporting others online and promoting positivity creates a safer, more respectful digital community.</a:t>
          </a:r>
        </a:p>
      </dsp:txBody>
      <dsp:txXfrm>
        <a:off x="7430643" y="602934"/>
        <a:ext cx="3377565" cy="18928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503DE-9720-4935-ACA8-058BB878862A}">
      <dsp:nvSpPr>
        <dsp:cNvPr id="0" name=""/>
        <dsp:cNvSpPr/>
      </dsp:nvSpPr>
      <dsp:spPr>
        <a:xfrm>
          <a:off x="0"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Interland</a:t>
          </a:r>
          <a:endParaRPr lang="en-US" sz="1800" kern="1200" dirty="0"/>
        </a:p>
      </dsp:txBody>
      <dsp:txXfrm>
        <a:off x="0" y="0"/>
        <a:ext cx="3377565" cy="320182"/>
      </dsp:txXfrm>
    </dsp:sp>
    <dsp:sp modelId="{138161BA-2A16-49EA-99FB-8B5BF2CDB2AD}">
      <dsp:nvSpPr>
        <dsp:cNvPr id="0" name=""/>
        <dsp:cNvSpPr/>
      </dsp:nvSpPr>
      <dsp:spPr>
        <a:xfrm>
          <a:off x="0"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Go to the </a:t>
          </a:r>
          <a:r>
            <a:rPr lang="en-US" sz="1400" kern="1200" dirty="0" err="1"/>
            <a:t>Interland</a:t>
          </a:r>
          <a:r>
            <a:rPr lang="en-US" sz="1400" kern="1200" dirty="0"/>
            <a:t> website and play the Kind Level and the Responsible Sharing Level</a:t>
          </a:r>
        </a:p>
      </dsp:txBody>
      <dsp:txXfrm>
        <a:off x="0" y="320182"/>
        <a:ext cx="3377565" cy="2135895"/>
      </dsp:txXfrm>
    </dsp:sp>
    <dsp:sp modelId="{8E50473A-861F-4687-B4CA-5FC55C837B11}">
      <dsp:nvSpPr>
        <dsp:cNvPr id="0" name=""/>
        <dsp:cNvSpPr/>
      </dsp:nvSpPr>
      <dsp:spPr>
        <a:xfrm>
          <a:off x="3715321"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Digital Passport</a:t>
          </a:r>
        </a:p>
      </dsp:txBody>
      <dsp:txXfrm>
        <a:off x="3715321" y="0"/>
        <a:ext cx="3377565" cy="320182"/>
      </dsp:txXfrm>
    </dsp:sp>
    <dsp:sp modelId="{900412D1-4A73-41AD-A506-E6F9311FC13A}">
      <dsp:nvSpPr>
        <dsp:cNvPr id="0" name=""/>
        <dsp:cNvSpPr/>
      </dsp:nvSpPr>
      <dsp:spPr>
        <a:xfrm>
          <a:off x="3715321"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Go to 1 </a:t>
          </a:r>
          <a:r>
            <a:rPr lang="en-NZ" sz="1400" kern="1200" dirty="0"/>
            <a:t>a</a:t>
          </a:r>
          <a:r>
            <a:rPr lang="en-US" sz="1400" kern="1200" dirty="0" err="1"/>
            <a:t>nd</a:t>
          </a:r>
          <a:r>
            <a:rPr lang="en-US" sz="1400" kern="1200" dirty="0"/>
            <a:t> play either the Share Jumper or E–Volve games</a:t>
          </a:r>
        </a:p>
      </dsp:txBody>
      <dsp:txXfrm>
        <a:off x="3715321" y="320182"/>
        <a:ext cx="3377565" cy="2135895"/>
      </dsp:txXfrm>
    </dsp:sp>
    <dsp:sp modelId="{DD8327F0-B32D-4254-965D-3A5B992709A5}">
      <dsp:nvSpPr>
        <dsp:cNvPr id="0" name=""/>
        <dsp:cNvSpPr/>
      </dsp:nvSpPr>
      <dsp:spPr>
        <a:xfrm>
          <a:off x="7430643"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Nova Labs (Cyber Security)</a:t>
          </a:r>
        </a:p>
      </dsp:txBody>
      <dsp:txXfrm>
        <a:off x="7430643" y="0"/>
        <a:ext cx="3377565" cy="320182"/>
      </dsp:txXfrm>
    </dsp:sp>
    <dsp:sp modelId="{9D215815-C830-40B0-93B7-7DFA58D67317}">
      <dsp:nvSpPr>
        <dsp:cNvPr id="0" name=""/>
        <dsp:cNvSpPr/>
      </dsp:nvSpPr>
      <dsp:spPr>
        <a:xfrm>
          <a:off x="7430643"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Go to 2 </a:t>
          </a:r>
          <a:r>
            <a:rPr lang="en-NZ" sz="1400" kern="1200" dirty="0"/>
            <a:t>play cyber security simulator</a:t>
          </a:r>
          <a:endParaRPr lang="en-US" sz="1400" kern="1200" dirty="0"/>
        </a:p>
      </dsp:txBody>
      <dsp:txXfrm>
        <a:off x="7430643" y="320182"/>
        <a:ext cx="3377565" cy="21358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893BE-78EB-4FA4-86DD-73F4A1B35288}" type="datetimeFigureOut">
              <a:rPr lang="en-NZ" smtClean="0"/>
              <a:t>25/07/2025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38BE6-16C2-48AC-A247-C8A4ADE6A128}" type="slidenum">
              <a:rPr lang="en-NZ" smtClean="0"/>
              <a:t>‹#›</a:t>
            </a:fld>
            <a:endParaRPr lang="en-NZ"/>
          </a:p>
        </p:txBody>
      </p:sp>
    </p:spTree>
    <p:extLst>
      <p:ext uri="{BB962C8B-B14F-4D97-AF65-F5344CB8AC3E}">
        <p14:creationId xmlns:p14="http://schemas.microsoft.com/office/powerpoint/2010/main" val="2018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AI-generated content may be incorrect.
---
This presentation addresses important aspects of cyber safety tailored for 17 to 18-year-olds. We will explore the nature of cyberbullying, its consequences, how to respond effectively, and the significance of managing your digital footprint wisely.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a:t>
            </a:fld>
            <a:endParaRPr lang="en-NZ" dirty="0"/>
          </a:p>
        </p:txBody>
      </p:sp>
    </p:spTree>
    <p:extLst>
      <p:ext uri="{BB962C8B-B14F-4D97-AF65-F5344CB8AC3E}">
        <p14:creationId xmlns:p14="http://schemas.microsoft.com/office/powerpoint/2010/main" val="2560987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Today, we will cover recognising and understanding cyberbullying, its consequences, strategies for responding and prevention, understanding your digital footprint, and real-world implications of online behaviour.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4</a:t>
            </a:fld>
            <a:endParaRPr lang="en-NZ"/>
          </a:p>
        </p:txBody>
      </p:sp>
    </p:spTree>
    <p:extLst>
      <p:ext uri="{BB962C8B-B14F-4D97-AF65-F5344CB8AC3E}">
        <p14:creationId xmlns:p14="http://schemas.microsoft.com/office/powerpoint/2010/main" val="2204382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0D4B-660E-BE2D-A939-3DE691807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C1681-EC13-CB99-3EE0-029662150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5B960-1B1F-3A43-7097-030F23654DEE}"/>
              </a:ext>
            </a:extLst>
          </p:cNvPr>
          <p:cNvSpPr>
            <a:spLocks noGrp="1"/>
          </p:cNvSpPr>
          <p:nvPr>
            <p:ph type="body" idx="1"/>
          </p:nvPr>
        </p:nvSpPr>
        <p:spPr/>
        <p:txBody>
          <a:bodyPr/>
          <a:lstStyle/>
          <a:p>
            <a:r>
              <a:rPr lang="en-NZ"/>
              <a:t>
---
Today, we will cover recognising and understanding cyberbullying, its consequences, strategies for responding and prevention, understanding your digital footprint, and real-world implications of online behaviour.
Image source: Microsoft 365 content library
</a:t>
            </a:r>
          </a:p>
        </p:txBody>
      </p:sp>
      <p:sp>
        <p:nvSpPr>
          <p:cNvPr id="4" name="Slide Number Placeholder 3">
            <a:extLst>
              <a:ext uri="{FF2B5EF4-FFF2-40B4-BE49-F238E27FC236}">
                <a16:creationId xmlns:a16="http://schemas.microsoft.com/office/drawing/2014/main" id="{154B9033-35AB-1C5C-1F0C-5306186D9A88}"/>
              </a:ext>
            </a:extLst>
          </p:cNvPr>
          <p:cNvSpPr>
            <a:spLocks noGrp="1"/>
          </p:cNvSpPr>
          <p:nvPr>
            <p:ph type="sldNum" sz="quarter" idx="5"/>
          </p:nvPr>
        </p:nvSpPr>
        <p:spPr/>
        <p:txBody>
          <a:bodyPr/>
          <a:lstStyle/>
          <a:p>
            <a:fld id="{A63EB00B-1786-4112-A797-72BDAB81E280}" type="slidenum">
              <a:rPr lang="en-NZ" smtClean="0"/>
              <a:t>5</a:t>
            </a:fld>
            <a:endParaRPr lang="en-NZ"/>
          </a:p>
        </p:txBody>
      </p:sp>
    </p:spTree>
    <p:extLst>
      <p:ext uri="{BB962C8B-B14F-4D97-AF65-F5344CB8AC3E}">
        <p14:creationId xmlns:p14="http://schemas.microsoft.com/office/powerpoint/2010/main" val="345995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It is vital to identify what cyberbullying looks like and understand the motivations behind it to better protect yourself and others. This section explores common forms, emotional effects, and real-life cases.</a:t>
            </a:r>
          </a:p>
        </p:txBody>
      </p:sp>
      <p:sp>
        <p:nvSpPr>
          <p:cNvPr id="4" name="Slide Number Placeholder 3"/>
          <p:cNvSpPr>
            <a:spLocks noGrp="1"/>
          </p:cNvSpPr>
          <p:nvPr>
            <p:ph type="sldNum" sz="quarter" idx="5"/>
          </p:nvPr>
        </p:nvSpPr>
        <p:spPr/>
        <p:txBody>
          <a:bodyPr/>
          <a:lstStyle/>
          <a:p>
            <a:fld id="{A63EB00B-1786-4112-A797-72BDAB81E280}" type="slidenum">
              <a:rPr lang="en-NZ" smtClean="0"/>
              <a:t>6</a:t>
            </a:fld>
            <a:endParaRPr lang="en-NZ"/>
          </a:p>
        </p:txBody>
      </p:sp>
    </p:spTree>
    <p:extLst>
      <p:ext uri="{BB962C8B-B14F-4D97-AF65-F5344CB8AC3E}">
        <p14:creationId xmlns:p14="http://schemas.microsoft.com/office/powerpoint/2010/main" val="3094722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Bullying is an </a:t>
            </a:r>
            <a:r>
              <a:rPr lang="en-AU" sz="1200" b="1" dirty="0"/>
              <a:t>ongoing</a:t>
            </a:r>
            <a:r>
              <a:rPr lang="en-AU" sz="1200" dirty="0"/>
              <a:t> and </a:t>
            </a:r>
            <a:r>
              <a:rPr lang="en-AU" sz="1200" b="1" dirty="0"/>
              <a:t>deliberate</a:t>
            </a:r>
            <a:r>
              <a:rPr lang="en-AU" sz="1200" dirty="0"/>
              <a:t> misuse of </a:t>
            </a:r>
            <a:r>
              <a:rPr lang="en-AU" sz="1200" b="1" dirty="0"/>
              <a:t>power </a:t>
            </a:r>
            <a:r>
              <a:rPr lang="en-AU" sz="1200" dirty="0"/>
              <a:t>in</a:t>
            </a:r>
            <a:r>
              <a:rPr lang="en-AU" sz="1200" b="1" dirty="0"/>
              <a:t> </a:t>
            </a:r>
            <a:r>
              <a:rPr lang="en-AU" sz="1200" dirty="0"/>
              <a:t>relationships through </a:t>
            </a:r>
            <a:r>
              <a:rPr lang="en-AU" sz="1200" b="1" dirty="0"/>
              <a:t>repeated</a:t>
            </a:r>
            <a:r>
              <a:rPr lang="en-AU" sz="1200" dirty="0"/>
              <a:t> </a:t>
            </a:r>
            <a:r>
              <a:rPr lang="en-AU" sz="1200" b="1" dirty="0"/>
              <a:t>verbal</a:t>
            </a:r>
            <a:r>
              <a:rPr lang="en-AU" sz="1200" dirty="0"/>
              <a:t>, </a:t>
            </a:r>
            <a:r>
              <a:rPr lang="en-AU" sz="1200" b="1" dirty="0"/>
              <a:t>physical</a:t>
            </a:r>
            <a:r>
              <a:rPr lang="en-AU" sz="1200" dirty="0"/>
              <a:t>, and/or </a:t>
            </a:r>
            <a:r>
              <a:rPr lang="en-AU" sz="1200" b="1" dirty="0"/>
              <a:t>social</a:t>
            </a:r>
            <a:r>
              <a:rPr lang="en-AU" sz="1200" dirty="0"/>
              <a:t> behaviour that intends to cause </a:t>
            </a:r>
            <a:r>
              <a:rPr lang="en-AU" sz="1200" b="1" dirty="0"/>
              <a:t>physical</a:t>
            </a:r>
            <a:r>
              <a:rPr lang="en-AU" sz="1200" dirty="0"/>
              <a:t>,</a:t>
            </a:r>
            <a:r>
              <a:rPr lang="en-AU" sz="1200" b="1" dirty="0"/>
              <a:t> social </a:t>
            </a:r>
            <a:r>
              <a:rPr lang="en-AU" sz="1200" dirty="0"/>
              <a:t>and/or </a:t>
            </a:r>
            <a:r>
              <a:rPr lang="en-AU" sz="1200" b="1" dirty="0"/>
              <a:t>psychological harm</a:t>
            </a:r>
            <a:r>
              <a:rPr lang="en-AU" sz="1200" dirty="0"/>
              <a:t>. It can involve an individual or group misusing their power, or perceived power, over one or more persons who feel unable to stop it from happening.</a:t>
            </a:r>
          </a:p>
          <a:p>
            <a:br>
              <a:rPr lang="en-NZ" dirty="0"/>
            </a:br>
            <a:endParaRPr lang="en-NZ" dirty="0"/>
          </a:p>
        </p:txBody>
      </p:sp>
      <p:sp>
        <p:nvSpPr>
          <p:cNvPr id="4" name="Slide Number Placeholder 3"/>
          <p:cNvSpPr>
            <a:spLocks noGrp="1"/>
          </p:cNvSpPr>
          <p:nvPr>
            <p:ph type="sldNum" sz="quarter" idx="5"/>
          </p:nvPr>
        </p:nvSpPr>
        <p:spPr/>
        <p:txBody>
          <a:bodyPr/>
          <a:lstStyle/>
          <a:p>
            <a:fld id="{D4438BE6-16C2-48AC-A247-C8A4ADE6A128}" type="slidenum">
              <a:rPr lang="en-NZ" smtClean="0"/>
              <a:t>7</a:t>
            </a:fld>
            <a:endParaRPr lang="en-NZ"/>
          </a:p>
        </p:txBody>
      </p:sp>
    </p:spTree>
    <p:extLst>
      <p:ext uri="{BB962C8B-B14F-4D97-AF65-F5344CB8AC3E}">
        <p14:creationId xmlns:p14="http://schemas.microsoft.com/office/powerpoint/2010/main" val="3439439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BC4D8-2482-A82D-322E-5BFC04C87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412E1-A89C-1CC5-EB70-1F0DC70BE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4D573-834E-8A69-A01E-D81842106A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Bullying is an </a:t>
            </a:r>
            <a:r>
              <a:rPr lang="en-AU" sz="1200" b="1" dirty="0"/>
              <a:t>ongoing</a:t>
            </a:r>
            <a:r>
              <a:rPr lang="en-AU" sz="1200" dirty="0"/>
              <a:t> and </a:t>
            </a:r>
            <a:r>
              <a:rPr lang="en-AU" sz="1200" b="1" dirty="0"/>
              <a:t>deliberate</a:t>
            </a:r>
            <a:r>
              <a:rPr lang="en-AU" sz="1200" dirty="0"/>
              <a:t> misuse of </a:t>
            </a:r>
            <a:r>
              <a:rPr lang="en-AU" sz="1200" b="1" dirty="0"/>
              <a:t>power </a:t>
            </a:r>
            <a:r>
              <a:rPr lang="en-AU" sz="1200" dirty="0"/>
              <a:t>in</a:t>
            </a:r>
            <a:r>
              <a:rPr lang="en-AU" sz="1200" b="1" dirty="0"/>
              <a:t> </a:t>
            </a:r>
            <a:r>
              <a:rPr lang="en-AU" sz="1200" dirty="0"/>
              <a:t>relationships through </a:t>
            </a:r>
            <a:r>
              <a:rPr lang="en-AU" sz="1200" b="1" dirty="0"/>
              <a:t>repeated</a:t>
            </a:r>
            <a:r>
              <a:rPr lang="en-AU" sz="1200" dirty="0"/>
              <a:t> </a:t>
            </a:r>
            <a:r>
              <a:rPr lang="en-AU" sz="1200" b="1" dirty="0"/>
              <a:t>verbal</a:t>
            </a:r>
            <a:r>
              <a:rPr lang="en-AU" sz="1200" dirty="0"/>
              <a:t>, </a:t>
            </a:r>
            <a:r>
              <a:rPr lang="en-AU" sz="1200" b="1" dirty="0"/>
              <a:t>physical</a:t>
            </a:r>
            <a:r>
              <a:rPr lang="en-AU" sz="1200" dirty="0"/>
              <a:t>, and/or </a:t>
            </a:r>
            <a:r>
              <a:rPr lang="en-AU" sz="1200" b="1" dirty="0"/>
              <a:t>social</a:t>
            </a:r>
            <a:r>
              <a:rPr lang="en-AU" sz="1200" dirty="0"/>
              <a:t> behaviour that intends to cause </a:t>
            </a:r>
            <a:r>
              <a:rPr lang="en-AU" sz="1200" b="1" dirty="0"/>
              <a:t>physical</a:t>
            </a:r>
            <a:r>
              <a:rPr lang="en-AU" sz="1200" dirty="0"/>
              <a:t>,</a:t>
            </a:r>
            <a:r>
              <a:rPr lang="en-AU" sz="1200" b="1" dirty="0"/>
              <a:t> social </a:t>
            </a:r>
            <a:r>
              <a:rPr lang="en-AU" sz="1200" dirty="0"/>
              <a:t>and/or </a:t>
            </a:r>
            <a:r>
              <a:rPr lang="en-AU" sz="1200" b="1" dirty="0"/>
              <a:t>psychological harm</a:t>
            </a:r>
            <a:r>
              <a:rPr lang="en-AU" sz="1200" dirty="0"/>
              <a:t>. It can involve an individual or group misusing their power, or perceived power, over one or more persons who feel unable to stop it from happening.</a:t>
            </a:r>
          </a:p>
          <a:p>
            <a:br>
              <a:rPr lang="en-NZ" dirty="0"/>
            </a:br>
            <a:endParaRPr lang="en-NZ" dirty="0"/>
          </a:p>
        </p:txBody>
      </p:sp>
      <p:sp>
        <p:nvSpPr>
          <p:cNvPr id="4" name="Slide Number Placeholder 3">
            <a:extLst>
              <a:ext uri="{FF2B5EF4-FFF2-40B4-BE49-F238E27FC236}">
                <a16:creationId xmlns:a16="http://schemas.microsoft.com/office/drawing/2014/main" id="{AC7639D3-7139-07D7-35EF-BF2C8C5EEA0F}"/>
              </a:ext>
            </a:extLst>
          </p:cNvPr>
          <p:cNvSpPr>
            <a:spLocks noGrp="1"/>
          </p:cNvSpPr>
          <p:nvPr>
            <p:ph type="sldNum" sz="quarter" idx="5"/>
          </p:nvPr>
        </p:nvSpPr>
        <p:spPr/>
        <p:txBody>
          <a:bodyPr/>
          <a:lstStyle/>
          <a:p>
            <a:fld id="{D4438BE6-16C2-48AC-A247-C8A4ADE6A128}" type="slidenum">
              <a:rPr lang="en-NZ" smtClean="0"/>
              <a:t>8</a:t>
            </a:fld>
            <a:endParaRPr lang="en-NZ"/>
          </a:p>
        </p:txBody>
      </p:sp>
    </p:spTree>
    <p:extLst>
      <p:ext uri="{BB962C8B-B14F-4D97-AF65-F5344CB8AC3E}">
        <p14:creationId xmlns:p14="http://schemas.microsoft.com/office/powerpoint/2010/main" val="1397181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A693F-1FCD-4A11-6F2F-957A9CBC9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73F49-093B-C8A4-3298-247F4E201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EAEC9-E741-6B8D-1F95-39D9552E690A}"/>
              </a:ext>
            </a:extLst>
          </p:cNvPr>
          <p:cNvSpPr>
            <a:spLocks noGrp="1"/>
          </p:cNvSpPr>
          <p:nvPr>
            <p:ph type="body" idx="1"/>
          </p:nvPr>
        </p:nvSpPr>
        <p:spPr/>
        <p:txBody>
          <a:bodyPr/>
          <a:lstStyle/>
          <a:p>
            <a:r>
              <a:rPr lang="en-AU" b="1" dirty="0"/>
              <a:t>Teacher notes:</a:t>
            </a:r>
          </a:p>
          <a:p>
            <a:r>
              <a:rPr lang="en-AU" dirty="0"/>
              <a:t>A national definition provides</a:t>
            </a:r>
            <a:r>
              <a:rPr lang="en-AU" baseline="0" dirty="0"/>
              <a:t> us with a collective understanding of what bullying is, and also what bullying is not. It is important for students to recognise the differences. </a:t>
            </a:r>
          </a:p>
          <a:p>
            <a:endParaRPr lang="en-AU" baseline="0" dirty="0"/>
          </a:p>
          <a:p>
            <a:r>
              <a:rPr lang="en-AU" baseline="0" dirty="0"/>
              <a:t>This could be an opportunity to tie in conversations about respectful relationships with the class.</a:t>
            </a:r>
            <a:endParaRPr lang="en-AU" dirty="0"/>
          </a:p>
          <a:p>
            <a:endParaRPr lang="en-AU" baseline="0" dirty="0"/>
          </a:p>
          <a:p>
            <a:r>
              <a:rPr lang="en-AU" dirty="0"/>
              <a:t>Highlight the following points with the class.</a:t>
            </a:r>
          </a:p>
          <a:p>
            <a:endParaRPr lang="en-AU" dirty="0"/>
          </a:p>
          <a:p>
            <a:r>
              <a:rPr lang="en-AU" dirty="0"/>
              <a:t>Bullying has three main features:</a:t>
            </a:r>
          </a:p>
          <a:p>
            <a:pPr marL="229652" indent="-229652">
              <a:buFont typeface="Arial" panose="020B0604020202020204" pitchFamily="34" charset="0"/>
              <a:buChar char="•"/>
            </a:pPr>
            <a:r>
              <a:rPr lang="en-AU" dirty="0"/>
              <a:t>it involves a misuse of power in a relationship</a:t>
            </a:r>
          </a:p>
          <a:p>
            <a:pPr marL="229652" indent="-229652">
              <a:buFont typeface="Arial" panose="020B0604020202020204" pitchFamily="34" charset="0"/>
              <a:buChar char="•"/>
            </a:pPr>
            <a:r>
              <a:rPr lang="en-AU" dirty="0"/>
              <a:t>it is ongoing and repeated, and</a:t>
            </a:r>
          </a:p>
          <a:p>
            <a:pPr marL="229652" indent="-229652">
              <a:buFont typeface="Arial" panose="020B0604020202020204" pitchFamily="34" charset="0"/>
              <a:buChar char="•"/>
            </a:pPr>
            <a:r>
              <a:rPr lang="en-AU" dirty="0"/>
              <a:t>it involves behaviours that can cause harm.</a:t>
            </a:r>
          </a:p>
          <a:p>
            <a:endParaRPr lang="en-NZ" dirty="0"/>
          </a:p>
        </p:txBody>
      </p:sp>
      <p:sp>
        <p:nvSpPr>
          <p:cNvPr id="4" name="Slide Number Placeholder 3">
            <a:extLst>
              <a:ext uri="{FF2B5EF4-FFF2-40B4-BE49-F238E27FC236}">
                <a16:creationId xmlns:a16="http://schemas.microsoft.com/office/drawing/2014/main" id="{0FE6B6DE-2958-ED8B-5F91-9004CC08D066}"/>
              </a:ext>
            </a:extLst>
          </p:cNvPr>
          <p:cNvSpPr>
            <a:spLocks noGrp="1"/>
          </p:cNvSpPr>
          <p:nvPr>
            <p:ph type="sldNum" sz="quarter" idx="5"/>
          </p:nvPr>
        </p:nvSpPr>
        <p:spPr/>
        <p:txBody>
          <a:bodyPr/>
          <a:lstStyle/>
          <a:p>
            <a:fld id="{D4438BE6-16C2-48AC-A247-C8A4ADE6A128}" type="slidenum">
              <a:rPr lang="en-NZ" smtClean="0"/>
              <a:t>9</a:t>
            </a:fld>
            <a:endParaRPr lang="en-NZ"/>
          </a:p>
        </p:txBody>
      </p:sp>
    </p:spTree>
    <p:extLst>
      <p:ext uri="{BB962C8B-B14F-4D97-AF65-F5344CB8AC3E}">
        <p14:creationId xmlns:p14="http://schemas.microsoft.com/office/powerpoint/2010/main" val="1748442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B5261-EF93-631F-4498-50B8EBF51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5F491-ABB0-7548-A87B-2168D33E7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1053F-ED2E-033B-586C-4DB2F4EB5228}"/>
              </a:ext>
            </a:extLst>
          </p:cNvPr>
          <p:cNvSpPr>
            <a:spLocks noGrp="1"/>
          </p:cNvSpPr>
          <p:nvPr>
            <p:ph type="body" idx="1"/>
          </p:nvPr>
        </p:nvSpPr>
        <p:spPr/>
        <p:txBody>
          <a:bodyPr/>
          <a:lstStyle/>
          <a:p>
            <a:r>
              <a:rPr lang="en-NZ" dirty="0"/>
              <a:t>In your groups come up with one or two controversial scenarios where it either is or is not based on the definitions we just learnt. Try to make them as </a:t>
            </a:r>
            <a:r>
              <a:rPr lang="en-NZ" dirty="0" err="1"/>
              <a:t>ordre</a:t>
            </a:r>
            <a:r>
              <a:rPr lang="en-NZ" dirty="0"/>
              <a:t> line as possible to help address or ask questions you may have in the future.</a:t>
            </a:r>
          </a:p>
        </p:txBody>
      </p:sp>
      <p:sp>
        <p:nvSpPr>
          <p:cNvPr id="4" name="Slide Number Placeholder 3">
            <a:extLst>
              <a:ext uri="{FF2B5EF4-FFF2-40B4-BE49-F238E27FC236}">
                <a16:creationId xmlns:a16="http://schemas.microsoft.com/office/drawing/2014/main" id="{0687ED40-71DB-5F1E-4817-DDF810F19113}"/>
              </a:ext>
            </a:extLst>
          </p:cNvPr>
          <p:cNvSpPr>
            <a:spLocks noGrp="1"/>
          </p:cNvSpPr>
          <p:nvPr>
            <p:ph type="sldNum" sz="quarter" idx="5"/>
          </p:nvPr>
        </p:nvSpPr>
        <p:spPr/>
        <p:txBody>
          <a:bodyPr/>
          <a:lstStyle/>
          <a:p>
            <a:fld id="{D4438BE6-16C2-48AC-A247-C8A4ADE6A128}" type="slidenum">
              <a:rPr lang="en-NZ" smtClean="0"/>
              <a:t>10</a:t>
            </a:fld>
            <a:endParaRPr lang="en-NZ"/>
          </a:p>
        </p:txBody>
      </p:sp>
    </p:spTree>
    <p:extLst>
      <p:ext uri="{BB962C8B-B14F-4D97-AF65-F5344CB8AC3E}">
        <p14:creationId xmlns:p14="http://schemas.microsoft.com/office/powerpoint/2010/main" val="343252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86FF6-D9FB-F043-4042-3AF491631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33572-4E37-0034-CD96-D0DA83553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3D992-5C3E-AA71-8E1F-F727AAE8666F}"/>
              </a:ext>
            </a:extLst>
          </p:cNvPr>
          <p:cNvSpPr>
            <a:spLocks noGrp="1"/>
          </p:cNvSpPr>
          <p:nvPr>
            <p:ph type="body" idx="1"/>
          </p:nvPr>
        </p:nvSpPr>
        <p:spPr/>
        <p:txBody>
          <a:bodyPr/>
          <a:lstStyle/>
          <a:p>
            <a:pPr marL="0" indent="0">
              <a:lnSpc>
                <a:spcPct val="100000"/>
              </a:lnSpc>
              <a:buNone/>
            </a:pPr>
            <a:r>
              <a:rPr lang="en-AU" sz="1200" dirty="0"/>
              <a:t>Bullying can happen in </a:t>
            </a:r>
            <a:r>
              <a:rPr lang="en-AU" sz="1200" b="1" dirty="0"/>
              <a:t>person</a:t>
            </a:r>
            <a:r>
              <a:rPr lang="en-AU" sz="1200" dirty="0"/>
              <a:t> or </a:t>
            </a:r>
            <a:r>
              <a:rPr lang="en-AU" sz="1200" b="1" dirty="0"/>
              <a:t>online</a:t>
            </a:r>
            <a:r>
              <a:rPr lang="en-AU" sz="1200" dirty="0"/>
              <a:t>, via various digital platforms and devices and it can be </a:t>
            </a:r>
            <a:r>
              <a:rPr lang="en-AU" sz="1200" b="1" dirty="0"/>
              <a:t>obvious</a:t>
            </a:r>
            <a:r>
              <a:rPr lang="en-AU" sz="1200" dirty="0"/>
              <a:t> (overt) or </a:t>
            </a:r>
            <a:r>
              <a:rPr lang="en-AU" sz="1200" b="1" dirty="0"/>
              <a:t>hidden </a:t>
            </a:r>
            <a:r>
              <a:rPr lang="en-AU" sz="1200" dirty="0"/>
              <a:t>(covert). Bullying behaviour is repeated, or has the potential to be repeated, over time (for example, through sharing of digital records).</a:t>
            </a:r>
          </a:p>
          <a:p>
            <a:pPr marL="0" indent="0">
              <a:lnSpc>
                <a:spcPct val="100000"/>
              </a:lnSpc>
              <a:buNone/>
            </a:pPr>
            <a:r>
              <a:rPr lang="en-AU" sz="1200" dirty="0"/>
              <a:t>Bullying of any form or for any reason can have immediate, medium and long-term effects on those involved, including bystanders</a:t>
            </a:r>
          </a:p>
          <a:p>
            <a:pPr marL="0" indent="0">
              <a:lnSpc>
                <a:spcPct val="100000"/>
              </a:lnSpc>
              <a:buNone/>
            </a:pPr>
            <a:endParaRPr lang="en-AU"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What do you think the difference is between obvious bullying and hidden bullying?</a:t>
            </a:r>
          </a:p>
          <a:p>
            <a:pPr marL="0" indent="0">
              <a:lnSpc>
                <a:spcPct val="100000"/>
              </a:lnSpc>
              <a:buNone/>
            </a:pPr>
            <a:endParaRPr lang="en-NZ" dirty="0"/>
          </a:p>
        </p:txBody>
      </p:sp>
      <p:sp>
        <p:nvSpPr>
          <p:cNvPr id="4" name="Slide Number Placeholder 3">
            <a:extLst>
              <a:ext uri="{FF2B5EF4-FFF2-40B4-BE49-F238E27FC236}">
                <a16:creationId xmlns:a16="http://schemas.microsoft.com/office/drawing/2014/main" id="{C672202A-5DC0-C751-7142-7258B22FEFCC}"/>
              </a:ext>
            </a:extLst>
          </p:cNvPr>
          <p:cNvSpPr>
            <a:spLocks noGrp="1"/>
          </p:cNvSpPr>
          <p:nvPr>
            <p:ph type="sldNum" sz="quarter" idx="5"/>
          </p:nvPr>
        </p:nvSpPr>
        <p:spPr/>
        <p:txBody>
          <a:bodyPr/>
          <a:lstStyle/>
          <a:p>
            <a:fld id="{D4438BE6-16C2-48AC-A247-C8A4ADE6A128}" type="slidenum">
              <a:rPr lang="en-NZ" smtClean="0"/>
              <a:t>11</a:t>
            </a:fld>
            <a:endParaRPr lang="en-NZ"/>
          </a:p>
        </p:txBody>
      </p:sp>
    </p:spTree>
    <p:extLst>
      <p:ext uri="{BB962C8B-B14F-4D97-AF65-F5344CB8AC3E}">
        <p14:creationId xmlns:p14="http://schemas.microsoft.com/office/powerpoint/2010/main" val="1585804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Cyberbullying can take many shapes — from hurtful comments on social media to hostile messages in group chats. Recognising these forms helps in early detection and appropriate action.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12</a:t>
            </a:fld>
            <a:endParaRPr lang="en-NZ"/>
          </a:p>
        </p:txBody>
      </p:sp>
    </p:spTree>
    <p:extLst>
      <p:ext uri="{BB962C8B-B14F-4D97-AF65-F5344CB8AC3E}">
        <p14:creationId xmlns:p14="http://schemas.microsoft.com/office/powerpoint/2010/main" val="2651461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F3A61-D8F0-84EF-80F9-D966B245E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7BDB2-8876-4222-C90E-962AD97E6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3C70D-278C-EA60-4DD4-C73B7D2025D2}"/>
              </a:ext>
            </a:extLst>
          </p:cNvPr>
          <p:cNvSpPr>
            <a:spLocks noGrp="1"/>
          </p:cNvSpPr>
          <p:nvPr>
            <p:ph type="body" idx="1"/>
          </p:nvPr>
        </p:nvSpPr>
        <p:spPr/>
        <p:txBody>
          <a:bodyPr/>
          <a:lstStyle/>
          <a:p>
            <a:pPr marL="0" indent="0">
              <a:lnSpc>
                <a:spcPct val="100000"/>
              </a:lnSpc>
              <a:buNone/>
            </a:pPr>
            <a:r>
              <a:rPr lang="en-AU" sz="1200" dirty="0"/>
              <a:t>Bullying can happen in </a:t>
            </a:r>
            <a:r>
              <a:rPr lang="en-AU" sz="1200" b="1" dirty="0"/>
              <a:t>person</a:t>
            </a:r>
            <a:r>
              <a:rPr lang="en-AU" sz="1200" dirty="0"/>
              <a:t> or </a:t>
            </a:r>
            <a:r>
              <a:rPr lang="en-AU" sz="1200" b="1" dirty="0"/>
              <a:t>online</a:t>
            </a:r>
            <a:r>
              <a:rPr lang="en-AU" sz="1200" dirty="0"/>
              <a:t>, via various digital platforms and devices and it can be </a:t>
            </a:r>
            <a:r>
              <a:rPr lang="en-AU" sz="1200" b="1" dirty="0"/>
              <a:t>obvious</a:t>
            </a:r>
            <a:r>
              <a:rPr lang="en-AU" sz="1200" dirty="0"/>
              <a:t> (overt) or </a:t>
            </a:r>
            <a:r>
              <a:rPr lang="en-AU" sz="1200" b="1" dirty="0"/>
              <a:t>hidden </a:t>
            </a:r>
            <a:r>
              <a:rPr lang="en-AU" sz="1200" dirty="0"/>
              <a:t>(covert). Bullying behaviour is repeated, or has the potential to be repeated, over time (for example, through sharing of digital records).</a:t>
            </a:r>
          </a:p>
          <a:p>
            <a:pPr marL="0" indent="0">
              <a:lnSpc>
                <a:spcPct val="100000"/>
              </a:lnSpc>
              <a:buNone/>
            </a:pPr>
            <a:r>
              <a:rPr lang="en-AU" sz="1200" dirty="0"/>
              <a:t>Bullying of any form or for any reason can have immediate, medium and long-term effects on those involved, including bystanders</a:t>
            </a:r>
          </a:p>
          <a:p>
            <a:pPr marL="0" indent="0">
              <a:lnSpc>
                <a:spcPct val="100000"/>
              </a:lnSpc>
              <a:buNone/>
            </a:pPr>
            <a:endParaRPr lang="en-AU"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What do you think the difference is between obvious bullying and hidden bullying?</a:t>
            </a:r>
          </a:p>
          <a:p>
            <a:pPr marL="0" indent="0">
              <a:lnSpc>
                <a:spcPct val="100000"/>
              </a:lnSpc>
              <a:buNone/>
            </a:pPr>
            <a:endParaRPr lang="en-NZ" dirty="0"/>
          </a:p>
        </p:txBody>
      </p:sp>
      <p:sp>
        <p:nvSpPr>
          <p:cNvPr id="4" name="Slide Number Placeholder 3">
            <a:extLst>
              <a:ext uri="{FF2B5EF4-FFF2-40B4-BE49-F238E27FC236}">
                <a16:creationId xmlns:a16="http://schemas.microsoft.com/office/drawing/2014/main" id="{97F9310A-A5ED-068F-327A-05EF5E8BA7C0}"/>
              </a:ext>
            </a:extLst>
          </p:cNvPr>
          <p:cNvSpPr>
            <a:spLocks noGrp="1"/>
          </p:cNvSpPr>
          <p:nvPr>
            <p:ph type="sldNum" sz="quarter" idx="5"/>
          </p:nvPr>
        </p:nvSpPr>
        <p:spPr/>
        <p:txBody>
          <a:bodyPr/>
          <a:lstStyle/>
          <a:p>
            <a:fld id="{D4438BE6-16C2-48AC-A247-C8A4ADE6A128}" type="slidenum">
              <a:rPr lang="en-NZ" smtClean="0"/>
              <a:t>13</a:t>
            </a:fld>
            <a:endParaRPr lang="en-NZ"/>
          </a:p>
        </p:txBody>
      </p:sp>
    </p:spTree>
    <p:extLst>
      <p:ext uri="{BB962C8B-B14F-4D97-AF65-F5344CB8AC3E}">
        <p14:creationId xmlns:p14="http://schemas.microsoft.com/office/powerpoint/2010/main" val="2457633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Understanding why individuals cyberbully, such as seeking power or retaliation, sheds light on its emotional toll on victims, including anxiety, depression, and isolation.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14</a:t>
            </a:fld>
            <a:endParaRPr lang="en-NZ"/>
          </a:p>
        </p:txBody>
      </p:sp>
    </p:spTree>
    <p:extLst>
      <p:ext uri="{BB962C8B-B14F-4D97-AF65-F5344CB8AC3E}">
        <p14:creationId xmlns:p14="http://schemas.microsoft.com/office/powerpoint/2010/main" val="687971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A871-DA6D-26C7-3A6E-097AF9B68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F2D0A-BAAD-555F-89F2-F35E9F687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E74C9-D223-4EFC-D9EE-D5781D8B43C6}"/>
              </a:ext>
            </a:extLst>
          </p:cNvPr>
          <p:cNvSpPr>
            <a:spLocks noGrp="1"/>
          </p:cNvSpPr>
          <p:nvPr>
            <p:ph type="body" idx="1"/>
          </p:nvPr>
        </p:nvSpPr>
        <p:spPr/>
        <p:txBody>
          <a:bodyPr/>
          <a:lstStyle/>
          <a:p>
            <a:pPr marL="0" indent="0">
              <a:lnSpc>
                <a:spcPct val="100000"/>
              </a:lnSpc>
              <a:buNone/>
            </a:pPr>
            <a:endParaRPr lang="en-AU" sz="1200" dirty="0"/>
          </a:p>
          <a:p>
            <a:pPr marL="0" indent="0">
              <a:lnSpc>
                <a:spcPct val="100000"/>
              </a:lnSpc>
              <a:buNone/>
            </a:pPr>
            <a:endParaRPr lang="en-AU"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What do you think the difference is between obvious bullying and hidden bullying?</a:t>
            </a:r>
          </a:p>
          <a:p>
            <a:pPr marL="0" indent="0">
              <a:lnSpc>
                <a:spcPct val="100000"/>
              </a:lnSpc>
              <a:buNone/>
            </a:pPr>
            <a:endParaRPr lang="en-NZ" dirty="0"/>
          </a:p>
        </p:txBody>
      </p:sp>
      <p:sp>
        <p:nvSpPr>
          <p:cNvPr id="4" name="Slide Number Placeholder 3">
            <a:extLst>
              <a:ext uri="{FF2B5EF4-FFF2-40B4-BE49-F238E27FC236}">
                <a16:creationId xmlns:a16="http://schemas.microsoft.com/office/drawing/2014/main" id="{D1F4B153-8BAB-6570-0CEB-1AA0C5D5320B}"/>
              </a:ext>
            </a:extLst>
          </p:cNvPr>
          <p:cNvSpPr>
            <a:spLocks noGrp="1"/>
          </p:cNvSpPr>
          <p:nvPr>
            <p:ph type="sldNum" sz="quarter" idx="5"/>
          </p:nvPr>
        </p:nvSpPr>
        <p:spPr/>
        <p:txBody>
          <a:bodyPr/>
          <a:lstStyle/>
          <a:p>
            <a:fld id="{D4438BE6-16C2-48AC-A247-C8A4ADE6A128}" type="slidenum">
              <a:rPr lang="en-NZ" smtClean="0"/>
              <a:t>15</a:t>
            </a:fld>
            <a:endParaRPr lang="en-NZ"/>
          </a:p>
        </p:txBody>
      </p:sp>
    </p:spTree>
    <p:extLst>
      <p:ext uri="{BB962C8B-B14F-4D97-AF65-F5344CB8AC3E}">
        <p14:creationId xmlns:p14="http://schemas.microsoft.com/office/powerpoint/2010/main" val="3651000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Reviewing real scenarios helps illustrate the seriousness of cyberbullying and the variety of ways it can affect young people’s lives.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16</a:t>
            </a:fld>
            <a:endParaRPr lang="en-NZ"/>
          </a:p>
        </p:txBody>
      </p:sp>
    </p:spTree>
    <p:extLst>
      <p:ext uri="{BB962C8B-B14F-4D97-AF65-F5344CB8AC3E}">
        <p14:creationId xmlns:p14="http://schemas.microsoft.com/office/powerpoint/2010/main" val="2920210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Cyberbullying has far-reaching consequences for both victims and perpetrators. This section highlights the enduring nature of online actions and their impact.</a:t>
            </a:r>
          </a:p>
        </p:txBody>
      </p:sp>
      <p:sp>
        <p:nvSpPr>
          <p:cNvPr id="4" name="Slide Number Placeholder 3"/>
          <p:cNvSpPr>
            <a:spLocks noGrp="1"/>
          </p:cNvSpPr>
          <p:nvPr>
            <p:ph type="sldNum" sz="quarter" idx="5"/>
          </p:nvPr>
        </p:nvSpPr>
        <p:spPr/>
        <p:txBody>
          <a:bodyPr/>
          <a:lstStyle/>
          <a:p>
            <a:fld id="{A63EB00B-1786-4112-A797-72BDAB81E280}" type="slidenum">
              <a:rPr lang="en-NZ" smtClean="0"/>
              <a:t>17</a:t>
            </a:fld>
            <a:endParaRPr lang="en-NZ"/>
          </a:p>
        </p:txBody>
      </p:sp>
    </p:spTree>
    <p:extLst>
      <p:ext uri="{BB962C8B-B14F-4D97-AF65-F5344CB8AC3E}">
        <p14:creationId xmlns:p14="http://schemas.microsoft.com/office/powerpoint/2010/main" val="913491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Online content can remain accessible indefinitely. This permanence means harmful messages can continue to affect individuals long after they are posted.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18</a:t>
            </a:fld>
            <a:endParaRPr lang="en-NZ"/>
          </a:p>
        </p:txBody>
      </p:sp>
    </p:spTree>
    <p:extLst>
      <p:ext uri="{BB962C8B-B14F-4D97-AF65-F5344CB8AC3E}">
        <p14:creationId xmlns:p14="http://schemas.microsoft.com/office/powerpoint/2010/main" val="2772208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Victims may suffer from emotional distress, social withdrawal, and a decline in academic performance, emphasising the importance of timely support and intervention.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19</a:t>
            </a:fld>
            <a:endParaRPr lang="en-NZ"/>
          </a:p>
        </p:txBody>
      </p:sp>
    </p:spTree>
    <p:extLst>
      <p:ext uri="{BB962C8B-B14F-4D97-AF65-F5344CB8AC3E}">
        <p14:creationId xmlns:p14="http://schemas.microsoft.com/office/powerpoint/2010/main" val="3379444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607-E9ED-9119-624D-DCF351CDF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A2BC7-3734-C61E-7E98-E0B042FBF3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C735A-54CB-C88E-8F86-AF1264BA7FE3}"/>
              </a:ext>
            </a:extLst>
          </p:cNvPr>
          <p:cNvSpPr>
            <a:spLocks noGrp="1"/>
          </p:cNvSpPr>
          <p:nvPr>
            <p:ph type="body" idx="1"/>
          </p:nvPr>
        </p:nvSpPr>
        <p:spPr/>
        <p:txBody>
          <a:bodyPr/>
          <a:lstStyle/>
          <a:p>
            <a:pPr marL="0" indent="0">
              <a:lnSpc>
                <a:spcPct val="100000"/>
              </a:lnSpc>
              <a:buNone/>
            </a:pPr>
            <a:endParaRPr lang="en-AU" sz="1200" dirty="0"/>
          </a:p>
          <a:p>
            <a:pPr marL="0" indent="0">
              <a:lnSpc>
                <a:spcPct val="100000"/>
              </a:lnSpc>
              <a:buNone/>
            </a:pPr>
            <a:endParaRPr lang="en-AU"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What do you think the difference is between obvious bullying and hidden bullying?</a:t>
            </a:r>
          </a:p>
          <a:p>
            <a:pPr marL="0" indent="0">
              <a:lnSpc>
                <a:spcPct val="100000"/>
              </a:lnSpc>
              <a:buNone/>
            </a:pPr>
            <a:endParaRPr lang="en-NZ" dirty="0"/>
          </a:p>
        </p:txBody>
      </p:sp>
      <p:sp>
        <p:nvSpPr>
          <p:cNvPr id="4" name="Slide Number Placeholder 3">
            <a:extLst>
              <a:ext uri="{FF2B5EF4-FFF2-40B4-BE49-F238E27FC236}">
                <a16:creationId xmlns:a16="http://schemas.microsoft.com/office/drawing/2014/main" id="{5918B50D-EFB5-7FBC-4B38-B0C9F83C51A7}"/>
              </a:ext>
            </a:extLst>
          </p:cNvPr>
          <p:cNvSpPr>
            <a:spLocks noGrp="1"/>
          </p:cNvSpPr>
          <p:nvPr>
            <p:ph type="sldNum" sz="quarter" idx="5"/>
          </p:nvPr>
        </p:nvSpPr>
        <p:spPr/>
        <p:txBody>
          <a:bodyPr/>
          <a:lstStyle/>
          <a:p>
            <a:fld id="{D4438BE6-16C2-48AC-A247-C8A4ADE6A128}" type="slidenum">
              <a:rPr lang="en-NZ" smtClean="0"/>
              <a:t>20</a:t>
            </a:fld>
            <a:endParaRPr lang="en-NZ"/>
          </a:p>
        </p:txBody>
      </p:sp>
    </p:spTree>
    <p:extLst>
      <p:ext uri="{BB962C8B-B14F-4D97-AF65-F5344CB8AC3E}">
        <p14:creationId xmlns:p14="http://schemas.microsoft.com/office/powerpoint/2010/main" val="1004887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Perpetrators of cyberbullying can face legal actions, school disciplinary measures, and damage to their reputation and relationships.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21</a:t>
            </a:fld>
            <a:endParaRPr lang="en-NZ"/>
          </a:p>
        </p:txBody>
      </p:sp>
    </p:spTree>
    <p:extLst>
      <p:ext uri="{BB962C8B-B14F-4D97-AF65-F5344CB8AC3E}">
        <p14:creationId xmlns:p14="http://schemas.microsoft.com/office/powerpoint/2010/main" val="4034416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Effective responses and prevention strategies empower young people to protect themselves and others from cyberbullying.</a:t>
            </a:r>
          </a:p>
        </p:txBody>
      </p:sp>
      <p:sp>
        <p:nvSpPr>
          <p:cNvPr id="4" name="Slide Number Placeholder 3"/>
          <p:cNvSpPr>
            <a:spLocks noGrp="1"/>
          </p:cNvSpPr>
          <p:nvPr>
            <p:ph type="sldNum" sz="quarter" idx="5"/>
          </p:nvPr>
        </p:nvSpPr>
        <p:spPr/>
        <p:txBody>
          <a:bodyPr/>
          <a:lstStyle/>
          <a:p>
            <a:fld id="{A63EB00B-1786-4112-A797-72BDAB81E280}" type="slidenum">
              <a:rPr lang="en-NZ" smtClean="0"/>
              <a:t>22</a:t>
            </a:fld>
            <a:endParaRPr lang="en-NZ"/>
          </a:p>
        </p:txBody>
      </p:sp>
    </p:spTree>
    <p:extLst>
      <p:ext uri="{BB962C8B-B14F-4D97-AF65-F5344CB8AC3E}">
        <p14:creationId xmlns:p14="http://schemas.microsoft.com/office/powerpoint/2010/main" val="928325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
---
Blocking offenders, reporting incidents to platform authorities, and reaching out to trusted adults or support services are key steps in managing cyberbullying.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23</a:t>
            </a:fld>
            <a:endParaRPr lang="en-NZ" dirty="0"/>
          </a:p>
        </p:txBody>
      </p:sp>
    </p:spTree>
    <p:extLst>
      <p:ext uri="{BB962C8B-B14F-4D97-AF65-F5344CB8AC3E}">
        <p14:creationId xmlns:p14="http://schemas.microsoft.com/office/powerpoint/2010/main" val="1393424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Image source: Microsoft 365 content library
Encourage open communication with trusted adults to share online concerns. Safeguard personal information and use privacy settings on all social media platforms. If cyberbullying occurs, do not respond emotionally; instead, save evidence, block the bully, and report incidents to the platform or authorities for appropriate action.</a:t>
            </a:r>
          </a:p>
        </p:txBody>
      </p:sp>
      <p:sp>
        <p:nvSpPr>
          <p:cNvPr id="4" name="Slide Number Placeholder 3"/>
          <p:cNvSpPr>
            <a:spLocks noGrp="1"/>
          </p:cNvSpPr>
          <p:nvPr>
            <p:ph type="sldNum" sz="quarter" idx="5"/>
          </p:nvPr>
        </p:nvSpPr>
        <p:spPr/>
        <p:txBody>
          <a:bodyPr/>
          <a:lstStyle/>
          <a:p>
            <a:fld id="{D4438BE6-16C2-48AC-A247-C8A4ADE6A128}" type="slidenum">
              <a:rPr lang="en-NZ" smtClean="0"/>
              <a:t>24</a:t>
            </a:fld>
            <a:endParaRPr lang="en-NZ"/>
          </a:p>
        </p:txBody>
      </p:sp>
    </p:spTree>
    <p:extLst>
      <p:ext uri="{BB962C8B-B14F-4D97-AF65-F5344CB8AC3E}">
        <p14:creationId xmlns:p14="http://schemas.microsoft.com/office/powerpoint/2010/main" val="1344713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
---
Offering empathy, standing against bullying, and encouraging victims to seek help can make a significant positive difference.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25</a:t>
            </a:fld>
            <a:endParaRPr lang="en-NZ" dirty="0"/>
          </a:p>
        </p:txBody>
      </p:sp>
    </p:spTree>
    <p:extLst>
      <p:ext uri="{BB962C8B-B14F-4D97-AF65-F5344CB8AC3E}">
        <p14:creationId xmlns:p14="http://schemas.microsoft.com/office/powerpoint/2010/main" val="418908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Practising responses through role-play prepares individuals to handle bullying situations calmly and safely.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26</a:t>
            </a:fld>
            <a:endParaRPr lang="en-NZ"/>
          </a:p>
        </p:txBody>
      </p:sp>
    </p:spTree>
    <p:extLst>
      <p:ext uri="{BB962C8B-B14F-4D97-AF65-F5344CB8AC3E}">
        <p14:creationId xmlns:p14="http://schemas.microsoft.com/office/powerpoint/2010/main" val="954159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Your online actions create a digital footprint that can influence your future. Knowing how it works is key to maintaining control over your online presence.</a:t>
            </a:r>
          </a:p>
        </p:txBody>
      </p:sp>
      <p:sp>
        <p:nvSpPr>
          <p:cNvPr id="4" name="Slide Number Placeholder 3"/>
          <p:cNvSpPr>
            <a:spLocks noGrp="1"/>
          </p:cNvSpPr>
          <p:nvPr>
            <p:ph type="sldNum" sz="quarter" idx="5"/>
          </p:nvPr>
        </p:nvSpPr>
        <p:spPr/>
        <p:txBody>
          <a:bodyPr/>
          <a:lstStyle/>
          <a:p>
            <a:fld id="{A63EB00B-1786-4112-A797-72BDAB81E280}" type="slidenum">
              <a:rPr lang="en-NZ" smtClean="0"/>
              <a:t>27</a:t>
            </a:fld>
            <a:endParaRPr lang="en-NZ"/>
          </a:p>
        </p:txBody>
      </p:sp>
    </p:spTree>
    <p:extLst>
      <p:ext uri="{BB962C8B-B14F-4D97-AF65-F5344CB8AC3E}">
        <p14:creationId xmlns:p14="http://schemas.microsoft.com/office/powerpoint/2010/main" val="4064800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CADCD-F447-A1F1-E4BD-FBE56EA37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77D86-1B15-1385-1E51-332DABE67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EA403-626D-561F-ED16-A5068F3A9171}"/>
              </a:ext>
            </a:extLst>
          </p:cNvPr>
          <p:cNvSpPr>
            <a:spLocks noGrp="1"/>
          </p:cNvSpPr>
          <p:nvPr>
            <p:ph type="body" idx="1"/>
          </p:nvPr>
        </p:nvSpPr>
        <p:spPr/>
        <p:txBody>
          <a:bodyPr/>
          <a:lstStyle/>
          <a:p>
            <a:br>
              <a:rPr lang="en-NZ" dirty="0"/>
            </a:br>
            <a:endParaRPr lang="en-NZ" dirty="0"/>
          </a:p>
        </p:txBody>
      </p:sp>
      <p:sp>
        <p:nvSpPr>
          <p:cNvPr id="4" name="Slide Number Placeholder 3">
            <a:extLst>
              <a:ext uri="{FF2B5EF4-FFF2-40B4-BE49-F238E27FC236}">
                <a16:creationId xmlns:a16="http://schemas.microsoft.com/office/drawing/2014/main" id="{A10F9C51-C51E-0788-7815-6AA907556638}"/>
              </a:ext>
            </a:extLst>
          </p:cNvPr>
          <p:cNvSpPr>
            <a:spLocks noGrp="1"/>
          </p:cNvSpPr>
          <p:nvPr>
            <p:ph type="sldNum" sz="quarter" idx="5"/>
          </p:nvPr>
        </p:nvSpPr>
        <p:spPr/>
        <p:txBody>
          <a:bodyPr/>
          <a:lstStyle/>
          <a:p>
            <a:fld id="{D4438BE6-16C2-48AC-A247-C8A4ADE6A128}" type="slidenum">
              <a:rPr lang="en-NZ" smtClean="0"/>
              <a:t>28</a:t>
            </a:fld>
            <a:endParaRPr lang="en-NZ"/>
          </a:p>
        </p:txBody>
      </p:sp>
    </p:spTree>
    <p:extLst>
      <p:ext uri="{BB962C8B-B14F-4D97-AF65-F5344CB8AC3E}">
        <p14:creationId xmlns:p14="http://schemas.microsoft.com/office/powerpoint/2010/main" val="3504854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Even deleted content may be saved or shared, making it important to think carefully before posting anything online.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29</a:t>
            </a:fld>
            <a:endParaRPr lang="en-NZ"/>
          </a:p>
        </p:txBody>
      </p:sp>
    </p:spTree>
    <p:extLst>
      <p:ext uri="{BB962C8B-B14F-4D97-AF65-F5344CB8AC3E}">
        <p14:creationId xmlns:p14="http://schemas.microsoft.com/office/powerpoint/2010/main" val="2827809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Your digital footprint can be accessed by employers, educational institutions, and people you don’t know, affecting opportunities and your privacy.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31</a:t>
            </a:fld>
            <a:endParaRPr lang="en-NZ"/>
          </a:p>
        </p:txBody>
      </p:sp>
    </p:spTree>
    <p:extLst>
      <p:ext uri="{BB962C8B-B14F-4D97-AF65-F5344CB8AC3E}">
        <p14:creationId xmlns:p14="http://schemas.microsoft.com/office/powerpoint/2010/main" val="290567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This section focuses on how past online behaviour can influence real-life outcomes and offers practical tips for managing online safety.</a:t>
            </a:r>
          </a:p>
        </p:txBody>
      </p:sp>
      <p:sp>
        <p:nvSpPr>
          <p:cNvPr id="4" name="Slide Number Placeholder 3"/>
          <p:cNvSpPr>
            <a:spLocks noGrp="1"/>
          </p:cNvSpPr>
          <p:nvPr>
            <p:ph type="sldNum" sz="quarter" idx="5"/>
          </p:nvPr>
        </p:nvSpPr>
        <p:spPr/>
        <p:txBody>
          <a:bodyPr/>
          <a:lstStyle/>
          <a:p>
            <a:fld id="{A63EB00B-1786-4112-A797-72BDAB81E280}" type="slidenum">
              <a:rPr lang="en-NZ" smtClean="0"/>
              <a:t>32</a:t>
            </a:fld>
            <a:endParaRPr lang="en-NZ"/>
          </a:p>
        </p:txBody>
      </p:sp>
    </p:spTree>
    <p:extLst>
      <p:ext uri="{BB962C8B-B14F-4D97-AF65-F5344CB8AC3E}">
        <p14:creationId xmlns:p14="http://schemas.microsoft.com/office/powerpoint/2010/main" val="1718425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Instances where old posts have affected job prospects or relationships demonstrate the importance of mindful online behaviour.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33</a:t>
            </a:fld>
            <a:endParaRPr lang="en-NZ"/>
          </a:p>
        </p:txBody>
      </p:sp>
    </p:spTree>
    <p:extLst>
      <p:ext uri="{BB962C8B-B14F-4D97-AF65-F5344CB8AC3E}">
        <p14:creationId xmlns:p14="http://schemas.microsoft.com/office/powerpoint/2010/main" val="22246502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Regularly reviewing privacy settings and being selective about what you share helps protect your digital reputation.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34</a:t>
            </a:fld>
            <a:endParaRPr lang="en-NZ"/>
          </a:p>
        </p:txBody>
      </p:sp>
    </p:spTree>
    <p:extLst>
      <p:ext uri="{BB962C8B-B14F-4D97-AF65-F5344CB8AC3E}">
        <p14:creationId xmlns:p14="http://schemas.microsoft.com/office/powerpoint/2010/main" val="23373847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
---
Creating a thoughtful and respectful online presence can open doors and reflect your true character positively.
Image source: Microsoft 365 content library
</a:t>
            </a:r>
          </a:p>
        </p:txBody>
      </p:sp>
      <p:sp>
        <p:nvSpPr>
          <p:cNvPr id="4" name="Slide Number Placeholder 3"/>
          <p:cNvSpPr>
            <a:spLocks noGrp="1"/>
          </p:cNvSpPr>
          <p:nvPr>
            <p:ph type="sldNum" sz="quarter" idx="5"/>
          </p:nvPr>
        </p:nvSpPr>
        <p:spPr/>
        <p:txBody>
          <a:bodyPr/>
          <a:lstStyle/>
          <a:p>
            <a:fld id="{A63EB00B-1786-4112-A797-72BDAB81E280}" type="slidenum">
              <a:rPr lang="en-NZ" smtClean="0"/>
              <a:t>35</a:t>
            </a:fld>
            <a:endParaRPr lang="en-NZ"/>
          </a:p>
        </p:txBody>
      </p:sp>
    </p:spTree>
    <p:extLst>
      <p:ext uri="{BB962C8B-B14F-4D97-AF65-F5344CB8AC3E}">
        <p14:creationId xmlns:p14="http://schemas.microsoft.com/office/powerpoint/2010/main" val="24578913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a:t>By understanding cyberbullying and your digital footprint, you can take control of your online experience, support others, and build a positive digital future.</a:t>
            </a:r>
          </a:p>
        </p:txBody>
      </p:sp>
      <p:sp>
        <p:nvSpPr>
          <p:cNvPr id="4" name="Slide Number Placeholder 3"/>
          <p:cNvSpPr>
            <a:spLocks noGrp="1"/>
          </p:cNvSpPr>
          <p:nvPr>
            <p:ph type="sldNum" sz="quarter" idx="5"/>
          </p:nvPr>
        </p:nvSpPr>
        <p:spPr/>
        <p:txBody>
          <a:bodyPr/>
          <a:lstStyle/>
          <a:p>
            <a:fld id="{A63EB00B-1786-4112-A797-72BDAB81E280}" type="slidenum">
              <a:rPr lang="en-NZ" smtClean="0"/>
              <a:t>36</a:t>
            </a:fld>
            <a:endParaRPr lang="en-NZ"/>
          </a:p>
        </p:txBody>
      </p:sp>
    </p:spTree>
    <p:extLst>
      <p:ext uri="{BB962C8B-B14F-4D97-AF65-F5344CB8AC3E}">
        <p14:creationId xmlns:p14="http://schemas.microsoft.com/office/powerpoint/2010/main" val="3629777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5F533-EC64-3FF8-82F2-B573CA3F7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039AD-327A-3F5A-1A47-6A05E0D39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6AD81-CE3E-9F48-6F05-21A532D0DBC3}"/>
              </a:ext>
            </a:extLst>
          </p:cNvPr>
          <p:cNvSpPr>
            <a:spLocks noGrp="1"/>
          </p:cNvSpPr>
          <p:nvPr>
            <p:ph type="body" idx="1"/>
          </p:nvPr>
        </p:nvSpPr>
        <p:spPr/>
        <p:txBody>
          <a:bodyPr/>
          <a:lstStyle/>
          <a:p>
            <a:r>
              <a:rPr lang="en-NZ"/>
              <a:t>By understanding cyberbullying and your digital footprint, you can take control of your online experience, support others, and build a positive digital future.</a:t>
            </a:r>
          </a:p>
        </p:txBody>
      </p:sp>
      <p:sp>
        <p:nvSpPr>
          <p:cNvPr id="4" name="Slide Number Placeholder 3">
            <a:extLst>
              <a:ext uri="{FF2B5EF4-FFF2-40B4-BE49-F238E27FC236}">
                <a16:creationId xmlns:a16="http://schemas.microsoft.com/office/drawing/2014/main" id="{256AB802-48EE-DD81-08A5-8DFDACC56304}"/>
              </a:ext>
            </a:extLst>
          </p:cNvPr>
          <p:cNvSpPr>
            <a:spLocks noGrp="1"/>
          </p:cNvSpPr>
          <p:nvPr>
            <p:ph type="sldNum" sz="quarter" idx="5"/>
          </p:nvPr>
        </p:nvSpPr>
        <p:spPr/>
        <p:txBody>
          <a:bodyPr/>
          <a:lstStyle/>
          <a:p>
            <a:fld id="{A63EB00B-1786-4112-A797-72BDAB81E280}" type="slidenum">
              <a:rPr lang="en-NZ" smtClean="0"/>
              <a:t>37</a:t>
            </a:fld>
            <a:endParaRPr lang="en-NZ"/>
          </a:p>
        </p:txBody>
      </p:sp>
    </p:spTree>
    <p:extLst>
      <p:ext uri="{BB962C8B-B14F-4D97-AF65-F5344CB8AC3E}">
        <p14:creationId xmlns:p14="http://schemas.microsoft.com/office/powerpoint/2010/main" val="1775703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A2DC-6375-7D27-8747-3FAA49239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E941A-C2D9-D6B1-4443-82CF6FE65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7A108-DADF-B093-2DE1-2E4E9D81B31E}"/>
              </a:ext>
            </a:extLst>
          </p:cNvPr>
          <p:cNvSpPr>
            <a:spLocks noGrp="1"/>
          </p:cNvSpPr>
          <p:nvPr>
            <p:ph type="body" idx="1"/>
          </p:nvPr>
        </p:nvSpPr>
        <p:spPr/>
        <p:txBody>
          <a:bodyPr/>
          <a:lstStyle/>
          <a:p>
            <a:r>
              <a:rPr lang="en-NZ"/>
              <a:t>By understanding cyberbullying and your digital footprint, you can take control of your online experience, support others, and build a positive digital future.</a:t>
            </a:r>
          </a:p>
        </p:txBody>
      </p:sp>
      <p:sp>
        <p:nvSpPr>
          <p:cNvPr id="4" name="Slide Number Placeholder 3">
            <a:extLst>
              <a:ext uri="{FF2B5EF4-FFF2-40B4-BE49-F238E27FC236}">
                <a16:creationId xmlns:a16="http://schemas.microsoft.com/office/drawing/2014/main" id="{655D2C63-CF81-2328-814A-749460D5C7FB}"/>
              </a:ext>
            </a:extLst>
          </p:cNvPr>
          <p:cNvSpPr>
            <a:spLocks noGrp="1"/>
          </p:cNvSpPr>
          <p:nvPr>
            <p:ph type="sldNum" sz="quarter" idx="5"/>
          </p:nvPr>
        </p:nvSpPr>
        <p:spPr/>
        <p:txBody>
          <a:bodyPr/>
          <a:lstStyle/>
          <a:p>
            <a:fld id="{A63EB00B-1786-4112-A797-72BDAB81E280}" type="slidenum">
              <a:rPr lang="en-NZ" smtClean="0"/>
              <a:t>38</a:t>
            </a:fld>
            <a:endParaRPr lang="en-NZ"/>
          </a:p>
        </p:txBody>
      </p:sp>
    </p:spTree>
    <p:extLst>
      <p:ext uri="{BB962C8B-B14F-4D97-AF65-F5344CB8AC3E}">
        <p14:creationId xmlns:p14="http://schemas.microsoft.com/office/powerpoint/2010/main" val="4008945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7/25/2025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04977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7/25/2025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1785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7/25/2025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98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7/25/2025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30580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7/25/2025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8596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7/25/2025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3984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7/25/2025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4989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7/25/2025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52525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7/25/2025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3789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7/25/2025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419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7/25/2025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969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7/25/2025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38123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guardian.com/technology/2025/jul/23/sharepoint-targeted-by-chinese-threat-actor-hackers-says-microsoft" TargetMode="External"/><Relationship Id="rId2" Type="http://schemas.openxmlformats.org/officeDocument/2006/relationships/hyperlink" Target="https://www.bbc.com/news/articles/cx2gx28815w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www.commonsense.org/education/digital-passport" TargetMode="Externa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hyperlink" Target="https://www.pbs.org/wgbh/nova/labs/lab/cyb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9AE54DAE-637A-B4F6-AD1F-D78FA23BA2ED}"/>
              </a:ext>
            </a:extLst>
          </p:cNvPr>
          <p:cNvSpPr>
            <a:spLocks noGrp="1"/>
          </p:cNvSpPr>
          <p:nvPr>
            <p:ph type="ctrTitle"/>
          </p:nvPr>
        </p:nvSpPr>
        <p:spPr>
          <a:xfrm>
            <a:off x="574400" y="997527"/>
            <a:ext cx="4053018" cy="3505057"/>
          </a:xfrm>
        </p:spPr>
        <p:txBody>
          <a:bodyPr anchor="t">
            <a:normAutofit/>
          </a:bodyPr>
          <a:lstStyle/>
          <a:p>
            <a:pPr>
              <a:lnSpc>
                <a:spcPct val="90000"/>
              </a:lnSpc>
            </a:pPr>
            <a:r>
              <a:rPr lang="en-NZ" sz="4000" dirty="0"/>
              <a:t>Cyber Safety:</a:t>
            </a:r>
            <a:br>
              <a:rPr lang="en-NZ" sz="4000" dirty="0"/>
            </a:br>
            <a:r>
              <a:rPr lang="en-NZ" sz="4000" dirty="0"/>
              <a:t>Cyber Bullying and Digital Footprints</a:t>
            </a:r>
          </a:p>
        </p:txBody>
      </p:sp>
      <p:sp>
        <p:nvSpPr>
          <p:cNvPr id="3" name="Subtitle 2">
            <a:extLst>
              <a:ext uri="{FF2B5EF4-FFF2-40B4-BE49-F238E27FC236}">
                <a16:creationId xmlns:a16="http://schemas.microsoft.com/office/drawing/2014/main" id="{6CE00EB1-DF46-B9F3-3576-86AE8663D408}"/>
              </a:ext>
            </a:extLst>
          </p:cNvPr>
          <p:cNvSpPr>
            <a:spLocks noGrp="1"/>
          </p:cNvSpPr>
          <p:nvPr>
            <p:ph type="subTitle" idx="1"/>
          </p:nvPr>
        </p:nvSpPr>
        <p:spPr>
          <a:xfrm>
            <a:off x="574399" y="4608945"/>
            <a:ext cx="3919961" cy="1334655"/>
          </a:xfrm>
        </p:spPr>
        <p:txBody>
          <a:bodyPr anchor="b">
            <a:normAutofit/>
          </a:bodyPr>
          <a:lstStyle/>
          <a:p>
            <a:r>
              <a:rPr lang="en-NZ" dirty="0"/>
              <a:t>Protecting yourself online and managing digital reputation</a:t>
            </a:r>
          </a:p>
        </p:txBody>
      </p:sp>
      <p:pic>
        <p:nvPicPr>
          <p:cNvPr id="4" name="Picture 3" descr="A man typing on a laptop and authenticating to trade crypto currency.">
            <a:extLst>
              <a:ext uri="{FF2B5EF4-FFF2-40B4-BE49-F238E27FC236}">
                <a16:creationId xmlns:a16="http://schemas.microsoft.com/office/drawing/2014/main" id="{26B75200-AD37-4267-8034-050E94CF6E46}"/>
              </a:ext>
            </a:extLst>
          </p:cNvPr>
          <p:cNvPicPr>
            <a:picLocks noChangeAspect="1"/>
          </p:cNvPicPr>
          <p:nvPr/>
        </p:nvPicPr>
        <p:blipFill>
          <a:blip r:embed="rId3"/>
          <a:srcRect r="16825" b="-1"/>
          <a:stretch>
            <a:fillRect/>
          </a:stretch>
        </p:blipFill>
        <p:spPr>
          <a:xfrm>
            <a:off x="5218980" y="672912"/>
            <a:ext cx="6973019" cy="5596128"/>
          </a:xfrm>
          <a:prstGeom prst="rect">
            <a:avLst/>
          </a:prstGeom>
        </p:spPr>
      </p:pic>
      <p:cxnSp>
        <p:nvCxnSpPr>
          <p:cNvPr id="11" name="Straight Connector 10">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215128" y="6274446"/>
            <a:ext cx="697687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98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277CE-556E-1282-9EB6-2FDE04229150}"/>
              </a:ext>
            </a:extLst>
          </p:cNvPr>
          <p:cNvSpPr>
            <a:spLocks noGrp="1"/>
          </p:cNvSpPr>
          <p:nvPr>
            <p:ph type="title"/>
          </p:nvPr>
        </p:nvSpPr>
        <p:spPr/>
        <p:txBody>
          <a:bodyPr/>
          <a:lstStyle/>
          <a:p>
            <a:r>
              <a:rPr lang="en-NZ" dirty="0"/>
              <a:t>News</a:t>
            </a:r>
          </a:p>
        </p:txBody>
      </p:sp>
      <p:sp>
        <p:nvSpPr>
          <p:cNvPr id="3" name="Content Placeholder 2">
            <a:extLst>
              <a:ext uri="{FF2B5EF4-FFF2-40B4-BE49-F238E27FC236}">
                <a16:creationId xmlns:a16="http://schemas.microsoft.com/office/drawing/2014/main" id="{1034AE3E-ABE2-6380-4A4D-7678BF347952}"/>
              </a:ext>
            </a:extLst>
          </p:cNvPr>
          <p:cNvSpPr>
            <a:spLocks noGrp="1"/>
          </p:cNvSpPr>
          <p:nvPr>
            <p:ph idx="1"/>
          </p:nvPr>
        </p:nvSpPr>
        <p:spPr/>
        <p:txBody>
          <a:bodyPr/>
          <a:lstStyle/>
          <a:p>
            <a:r>
              <a:rPr lang="en-NZ" dirty="0">
                <a:hlinkClick r:id="rId2"/>
              </a:rPr>
              <a:t>https://www.bbc.com/news/articles/cx2gx28815wo</a:t>
            </a:r>
            <a:r>
              <a:rPr lang="en-NZ" dirty="0"/>
              <a:t> - </a:t>
            </a:r>
            <a:r>
              <a:rPr lang="en-US" dirty="0"/>
              <a:t>Weak password allowed hackers to sink a 158-year-old company</a:t>
            </a:r>
            <a:r>
              <a:rPr lang="en-NZ" dirty="0"/>
              <a:t> -&gt; “</a:t>
            </a:r>
            <a:r>
              <a:rPr lang="en-US" dirty="0"/>
              <a:t>In KNP's case, it's thought the hackers managed to gain entry to the computer system by guessing an employee's password,”</a:t>
            </a:r>
          </a:p>
          <a:p>
            <a:r>
              <a:rPr lang="en-US" dirty="0">
                <a:hlinkClick r:id="rId3"/>
              </a:rPr>
              <a:t>https://www.theguardian.com/technology/2025/jul/23/sharepoint-targeted-by-chinese-threat-actor-hackers-says-microsoft</a:t>
            </a:r>
            <a:r>
              <a:rPr lang="en-US" dirty="0"/>
              <a:t> - Microsoft </a:t>
            </a:r>
            <a:r>
              <a:rPr lang="en-US" dirty="0" err="1"/>
              <a:t>Sharepoint</a:t>
            </a:r>
            <a:r>
              <a:rPr lang="en-US" dirty="0"/>
              <a:t> had a vulnerability that was exploited leading to the breach of 400 </a:t>
            </a:r>
            <a:r>
              <a:rPr lang="en-US" dirty="0" err="1"/>
              <a:t>organisations</a:t>
            </a:r>
            <a:r>
              <a:rPr lang="en-US" dirty="0"/>
              <a:t>, focused on attacking </a:t>
            </a:r>
            <a:r>
              <a:rPr lang="en-US" dirty="0" err="1"/>
              <a:t>Sharepoint</a:t>
            </a:r>
            <a:r>
              <a:rPr lang="en-US" dirty="0"/>
              <a:t> severs via on-premises </a:t>
            </a:r>
            <a:r>
              <a:rPr lang="en-US" dirty="0" err="1"/>
              <a:t>Sharepoint</a:t>
            </a:r>
            <a:r>
              <a:rPr lang="en-US" dirty="0"/>
              <a:t> servers (Business websites that use </a:t>
            </a:r>
            <a:r>
              <a:rPr lang="en-US" dirty="0" err="1"/>
              <a:t>Sharepoint</a:t>
            </a:r>
            <a:r>
              <a:rPr lang="en-US" dirty="0"/>
              <a:t>)</a:t>
            </a:r>
          </a:p>
        </p:txBody>
      </p:sp>
    </p:spTree>
    <p:extLst>
      <p:ext uri="{BB962C8B-B14F-4D97-AF65-F5344CB8AC3E}">
        <p14:creationId xmlns:p14="http://schemas.microsoft.com/office/powerpoint/2010/main" val="417670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6F24-3866-9BA7-271A-8EE2EDC8FA69}"/>
              </a:ext>
            </a:extLst>
          </p:cNvPr>
          <p:cNvSpPr>
            <a:spLocks noGrp="1"/>
          </p:cNvSpPr>
          <p:nvPr>
            <p:ph type="title"/>
          </p:nvPr>
        </p:nvSpPr>
        <p:spPr/>
        <p:txBody>
          <a:bodyPr/>
          <a:lstStyle/>
          <a:p>
            <a:r>
              <a:rPr lang="en-NZ" dirty="0"/>
              <a:t>Questions?</a:t>
            </a:r>
          </a:p>
        </p:txBody>
      </p:sp>
      <p:sp>
        <p:nvSpPr>
          <p:cNvPr id="3" name="Content Placeholder 2">
            <a:extLst>
              <a:ext uri="{FF2B5EF4-FFF2-40B4-BE49-F238E27FC236}">
                <a16:creationId xmlns:a16="http://schemas.microsoft.com/office/drawing/2014/main" id="{E85C5E0C-1EB6-22FF-81CE-029CB272019D}"/>
              </a:ext>
            </a:extLst>
          </p:cNvPr>
          <p:cNvSpPr>
            <a:spLocks noGrp="1"/>
          </p:cNvSpPr>
          <p:nvPr>
            <p:ph idx="1"/>
          </p:nvPr>
        </p:nvSpPr>
        <p:spPr/>
        <p:txBody>
          <a:bodyPr/>
          <a:lstStyle/>
          <a:p>
            <a:r>
              <a:rPr lang="en-NZ" dirty="0"/>
              <a:t>Summary of last week?</a:t>
            </a:r>
          </a:p>
          <a:p>
            <a:r>
              <a:rPr lang="en-NZ" dirty="0"/>
              <a:t>Any questions from last week?</a:t>
            </a:r>
          </a:p>
          <a:p>
            <a:r>
              <a:rPr lang="en-NZ" dirty="0"/>
              <a:t>Homework/assignment feedback?</a:t>
            </a:r>
          </a:p>
          <a:p>
            <a:r>
              <a:rPr lang="en-NZ" dirty="0"/>
              <a:t>Any questions in general?</a:t>
            </a:r>
          </a:p>
        </p:txBody>
      </p:sp>
    </p:spTree>
    <p:extLst>
      <p:ext uri="{BB962C8B-B14F-4D97-AF65-F5344CB8AC3E}">
        <p14:creationId xmlns:p14="http://schemas.microsoft.com/office/powerpoint/2010/main" val="2504097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E5091-9FA1-4C35-8BB1-6A9439162138}"/>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3100"/>
              <a:t>Agenda Overview: Cyber Safety Essentials</a:t>
            </a:r>
          </a:p>
        </p:txBody>
      </p:sp>
      <p:pic>
        <p:nvPicPr>
          <p:cNvPr id="5" name="Content Placeholder 4" descr="Digital security concept on binary data code">
            <a:extLst>
              <a:ext uri="{FF2B5EF4-FFF2-40B4-BE49-F238E27FC236}">
                <a16:creationId xmlns:a16="http://schemas.microsoft.com/office/drawing/2014/main" id="{32CEA097-B654-4D95-8A7E-6A32C5572091}"/>
              </a:ext>
            </a:extLst>
          </p:cNvPr>
          <p:cNvPicPr>
            <a:picLocks noGrp="1" noChangeAspect="1"/>
          </p:cNvPicPr>
          <p:nvPr>
            <p:ph sz="half" idx="1"/>
          </p:nvPr>
        </p:nvPicPr>
        <p:blipFill>
          <a:blip r:embed="rId3"/>
          <a:srcRect r="673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64420AC1-CF3E-BFE3-9819-0BA88096C472}"/>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pPr>
              <a:lnSpc>
                <a:spcPct val="110000"/>
              </a:lnSpc>
            </a:pPr>
            <a:r>
              <a:rPr lang="en-US"/>
              <a:t>Recognising and Understanding Cyberbullying</a:t>
            </a:r>
          </a:p>
          <a:p>
            <a:pPr>
              <a:lnSpc>
                <a:spcPct val="110000"/>
              </a:lnSpc>
            </a:pPr>
            <a:r>
              <a:rPr lang="en-US"/>
              <a:t>Consequences of Cyberbullying: Lasting Effects and Outcomes</a:t>
            </a:r>
          </a:p>
          <a:p>
            <a:pPr>
              <a:lnSpc>
                <a:spcPct val="110000"/>
              </a:lnSpc>
            </a:pPr>
            <a:r>
              <a:rPr lang="en-US"/>
              <a:t>Responding to and Preventing Cyberbullying</a:t>
            </a:r>
          </a:p>
          <a:p>
            <a:pPr>
              <a:lnSpc>
                <a:spcPct val="110000"/>
              </a:lnSpc>
            </a:pPr>
            <a:r>
              <a:rPr lang="en-US"/>
              <a:t>Understanding Your Digital Footprint</a:t>
            </a:r>
          </a:p>
          <a:p>
            <a:pPr>
              <a:lnSpc>
                <a:spcPct val="110000"/>
              </a:lnSpc>
            </a:pPr>
            <a:r>
              <a:rPr lang="en-US"/>
              <a:t>Real-World Consequences and Staying Safe Online</a:t>
            </a:r>
          </a:p>
        </p:txBody>
      </p:sp>
    </p:spTree>
    <p:extLst>
      <p:ext uri="{BB962C8B-B14F-4D97-AF65-F5344CB8AC3E}">
        <p14:creationId xmlns:p14="http://schemas.microsoft.com/office/powerpoint/2010/main" val="1664155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3F426-EA20-2CB5-797A-59D36968961D}"/>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4E0EEFE-5FE1-56E4-FF64-B39CF4A279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AE549CB7-F8E8-BC11-E8AD-84F0EED80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8546DC-3F77-286A-AE2D-9BE5874FC2A3}"/>
              </a:ext>
            </a:extLst>
          </p:cNvPr>
          <p:cNvSpPr>
            <a:spLocks noGrp="1"/>
          </p:cNvSpPr>
          <p:nvPr>
            <p:ph type="title"/>
          </p:nvPr>
        </p:nvSpPr>
        <p:spPr>
          <a:xfrm>
            <a:off x="8278351" y="2352765"/>
            <a:ext cx="2549010" cy="666206"/>
          </a:xfrm>
        </p:spPr>
        <p:txBody>
          <a:bodyPr vert="horz" lIns="91440" tIns="45720" rIns="91440" bIns="45720" rtlCol="0" anchor="t">
            <a:normAutofit fontScale="90000"/>
          </a:bodyPr>
          <a:lstStyle/>
          <a:p>
            <a:pPr>
              <a:lnSpc>
                <a:spcPct val="90000"/>
              </a:lnSpc>
            </a:pPr>
            <a:r>
              <a:rPr lang="en-US" sz="4800" dirty="0">
                <a:latin typeface="ADLaM Display" panose="020F0502020204030204" pitchFamily="2" charset="0"/>
                <a:ea typeface="ADLaM Display" panose="020F0502020204030204" pitchFamily="2" charset="0"/>
                <a:cs typeface="ADLaM Display" panose="020F0502020204030204" pitchFamily="2" charset="0"/>
              </a:rPr>
              <a:t>WHAT?</a:t>
            </a:r>
          </a:p>
        </p:txBody>
      </p:sp>
      <p:pic>
        <p:nvPicPr>
          <p:cNvPr id="5" name="Content Placeholder 4" descr="Digital security concept on binary data code">
            <a:extLst>
              <a:ext uri="{FF2B5EF4-FFF2-40B4-BE49-F238E27FC236}">
                <a16:creationId xmlns:a16="http://schemas.microsoft.com/office/drawing/2014/main" id="{859AD06C-5994-3AED-D2AB-EFC62A9B0EE4}"/>
              </a:ext>
            </a:extLst>
          </p:cNvPr>
          <p:cNvPicPr>
            <a:picLocks noGrp="1" noChangeAspect="1"/>
          </p:cNvPicPr>
          <p:nvPr>
            <p:ph sz="half" idx="1"/>
          </p:nvPr>
        </p:nvPicPr>
        <p:blipFill>
          <a:blip r:embed="rId3"/>
          <a:srcRect r="673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C20B62A5-B45A-177D-B937-D3A7D1DD22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A3FEF26-672D-428D-47D3-9AD725173C25}"/>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pPr>
              <a:lnSpc>
                <a:spcPct val="110000"/>
              </a:lnSpc>
            </a:pPr>
            <a:r>
              <a:rPr lang="en-US" dirty="0" err="1"/>
              <a:t>Recognising</a:t>
            </a:r>
            <a:r>
              <a:rPr lang="en-US" dirty="0"/>
              <a:t> and Understanding Cyberbullying</a:t>
            </a:r>
          </a:p>
          <a:p>
            <a:pPr>
              <a:lnSpc>
                <a:spcPct val="110000"/>
              </a:lnSpc>
            </a:pPr>
            <a:r>
              <a:rPr lang="en-US" dirty="0"/>
              <a:t>Consequences of Cyberbullying: Lasting Effects and Outcomes</a:t>
            </a:r>
          </a:p>
          <a:p>
            <a:pPr>
              <a:lnSpc>
                <a:spcPct val="110000"/>
              </a:lnSpc>
            </a:pPr>
            <a:r>
              <a:rPr lang="en-US" dirty="0"/>
              <a:t>Responding to and Preventing Cyberbullying</a:t>
            </a:r>
          </a:p>
          <a:p>
            <a:pPr>
              <a:lnSpc>
                <a:spcPct val="110000"/>
              </a:lnSpc>
            </a:pPr>
            <a:r>
              <a:rPr lang="en-US" dirty="0"/>
              <a:t>Understanding Your Digital Footprint</a:t>
            </a:r>
          </a:p>
          <a:p>
            <a:pPr>
              <a:lnSpc>
                <a:spcPct val="110000"/>
              </a:lnSpc>
            </a:pPr>
            <a:r>
              <a:rPr lang="en-US" dirty="0"/>
              <a:t>Real-World Consequences and Staying Safe Online</a:t>
            </a:r>
          </a:p>
        </p:txBody>
      </p:sp>
      <p:sp>
        <p:nvSpPr>
          <p:cNvPr id="3" name="Title 1">
            <a:extLst>
              <a:ext uri="{FF2B5EF4-FFF2-40B4-BE49-F238E27FC236}">
                <a16:creationId xmlns:a16="http://schemas.microsoft.com/office/drawing/2014/main" id="{3DC9FF7D-E44B-4C83-2854-0E301AD4C1D1}"/>
              </a:ext>
            </a:extLst>
          </p:cNvPr>
          <p:cNvSpPr txBox="1">
            <a:spLocks/>
          </p:cNvSpPr>
          <p:nvPr/>
        </p:nvSpPr>
        <p:spPr>
          <a:xfrm>
            <a:off x="7422304" y="1066800"/>
            <a:ext cx="4261104" cy="10972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pPr>
              <a:lnSpc>
                <a:spcPct val="90000"/>
              </a:lnSpc>
            </a:pPr>
            <a:r>
              <a:rPr lang="en-US" sz="3100"/>
              <a:t>Agenda Overview: Cyber Safety Essentials</a:t>
            </a:r>
            <a:endParaRPr lang="en-US" sz="3100" dirty="0"/>
          </a:p>
        </p:txBody>
      </p:sp>
      <p:sp>
        <p:nvSpPr>
          <p:cNvPr id="6" name="Title 1">
            <a:extLst>
              <a:ext uri="{FF2B5EF4-FFF2-40B4-BE49-F238E27FC236}">
                <a16:creationId xmlns:a16="http://schemas.microsoft.com/office/drawing/2014/main" id="{C3885F88-2B4B-EED8-436D-507B6912FE84}"/>
              </a:ext>
            </a:extLst>
          </p:cNvPr>
          <p:cNvSpPr txBox="1">
            <a:spLocks/>
          </p:cNvSpPr>
          <p:nvPr/>
        </p:nvSpPr>
        <p:spPr>
          <a:xfrm>
            <a:off x="8213037" y="3137350"/>
            <a:ext cx="2549010" cy="666206"/>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pPr>
              <a:lnSpc>
                <a:spcPct val="90000"/>
              </a:lnSpc>
            </a:pPr>
            <a:r>
              <a:rPr lang="en-US" sz="4800" dirty="0">
                <a:latin typeface="ADLaM Display" panose="020F0502020204030204" pitchFamily="2" charset="0"/>
                <a:ea typeface="ADLaM Display" panose="020F0502020204030204" pitchFamily="2" charset="0"/>
                <a:cs typeface="ADLaM Display" panose="020F0502020204030204" pitchFamily="2" charset="0"/>
              </a:rPr>
              <a:t>WHY?</a:t>
            </a:r>
          </a:p>
        </p:txBody>
      </p:sp>
      <p:sp>
        <p:nvSpPr>
          <p:cNvPr id="7" name="Title 1">
            <a:extLst>
              <a:ext uri="{FF2B5EF4-FFF2-40B4-BE49-F238E27FC236}">
                <a16:creationId xmlns:a16="http://schemas.microsoft.com/office/drawing/2014/main" id="{F9303855-6EF9-F48C-A7DA-676B6D584CC3}"/>
              </a:ext>
            </a:extLst>
          </p:cNvPr>
          <p:cNvSpPr txBox="1">
            <a:spLocks/>
          </p:cNvSpPr>
          <p:nvPr/>
        </p:nvSpPr>
        <p:spPr>
          <a:xfrm>
            <a:off x="8186465" y="3903876"/>
            <a:ext cx="2549010" cy="666206"/>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pPr>
              <a:lnSpc>
                <a:spcPct val="90000"/>
              </a:lnSpc>
            </a:pPr>
            <a:r>
              <a:rPr lang="en-US" sz="4800" dirty="0">
                <a:latin typeface="ADLaM Display" panose="020F0502020204030204" pitchFamily="2" charset="0"/>
                <a:ea typeface="ADLaM Display" panose="020F0502020204030204" pitchFamily="2" charset="0"/>
                <a:cs typeface="ADLaM Display" panose="020F0502020204030204" pitchFamily="2" charset="0"/>
              </a:rPr>
              <a:t>HOW?</a:t>
            </a:r>
          </a:p>
        </p:txBody>
      </p:sp>
    </p:spTree>
    <p:extLst>
      <p:ext uri="{BB962C8B-B14F-4D97-AF65-F5344CB8AC3E}">
        <p14:creationId xmlns:p14="http://schemas.microsoft.com/office/powerpoint/2010/main" val="2444969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D6821F99-8D9F-1464-8013-D983D2CB3A30}"/>
              </a:ext>
            </a:extLst>
          </p:cNvPr>
          <p:cNvSpPr>
            <a:spLocks noGrp="1"/>
          </p:cNvSpPr>
          <p:nvPr>
            <p:ph type="ctrTitle"/>
          </p:nvPr>
        </p:nvSpPr>
        <p:spPr>
          <a:xfrm>
            <a:off x="559219" y="1115844"/>
            <a:ext cx="7680960" cy="4631911"/>
          </a:xfrm>
        </p:spPr>
        <p:txBody>
          <a:bodyPr anchor="b">
            <a:normAutofit/>
          </a:bodyPr>
          <a:lstStyle/>
          <a:p>
            <a:r>
              <a:rPr lang="en-NZ" sz="6500"/>
              <a:t>Recognising and Understanding Cyberbullying</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937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58538-0A6F-F4EF-267E-DAD9F94FF4C1}"/>
              </a:ext>
            </a:extLst>
          </p:cNvPr>
          <p:cNvSpPr>
            <a:spLocks noGrp="1"/>
          </p:cNvSpPr>
          <p:nvPr>
            <p:ph type="title"/>
          </p:nvPr>
        </p:nvSpPr>
        <p:spPr/>
        <p:txBody>
          <a:bodyPr/>
          <a:lstStyle/>
          <a:p>
            <a:r>
              <a:rPr lang="en-NZ" dirty="0"/>
              <a:t>What is Cyber Bullying?</a:t>
            </a:r>
          </a:p>
        </p:txBody>
      </p:sp>
      <p:sp>
        <p:nvSpPr>
          <p:cNvPr id="3" name="Content Placeholder 2">
            <a:extLst>
              <a:ext uri="{FF2B5EF4-FFF2-40B4-BE49-F238E27FC236}">
                <a16:creationId xmlns:a16="http://schemas.microsoft.com/office/drawing/2014/main" id="{6A628EEF-AF37-84F7-342D-354F92832750}"/>
              </a:ext>
            </a:extLst>
          </p:cNvPr>
          <p:cNvSpPr>
            <a:spLocks noGrp="1"/>
          </p:cNvSpPr>
          <p:nvPr>
            <p:ph idx="1"/>
          </p:nvPr>
        </p:nvSpPr>
        <p:spPr/>
        <p:txBody>
          <a:bodyPr/>
          <a:lstStyle/>
          <a:p>
            <a:r>
              <a:rPr lang="en-NZ" dirty="0"/>
              <a:t>Cyber: </a:t>
            </a:r>
            <a:r>
              <a:rPr lang="en-US" dirty="0"/>
              <a:t>relating to or characteristic of the culture of computers, information technology, and virtual reality.</a:t>
            </a:r>
          </a:p>
          <a:p>
            <a:r>
              <a:rPr lang="en-US" dirty="0"/>
              <a:t>Bullying: seek to harm, intimidate, or coerce (someone perceived as vulnerable).</a:t>
            </a:r>
          </a:p>
          <a:p>
            <a:r>
              <a:rPr lang="en-US" dirty="0"/>
              <a:t>Cyber Bullying: Cyberbullying is the use of technology to harass, threaten, embarrass, or target another person</a:t>
            </a:r>
          </a:p>
          <a:p>
            <a:endParaRPr lang="en-NZ" dirty="0"/>
          </a:p>
        </p:txBody>
      </p:sp>
    </p:spTree>
    <p:extLst>
      <p:ext uri="{BB962C8B-B14F-4D97-AF65-F5344CB8AC3E}">
        <p14:creationId xmlns:p14="http://schemas.microsoft.com/office/powerpoint/2010/main" val="73176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988AE-0CF4-713F-CB13-E1B4C6324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8FE85-D3E1-969B-3B91-7408E53B5FD4}"/>
              </a:ext>
            </a:extLst>
          </p:cNvPr>
          <p:cNvSpPr>
            <a:spLocks noGrp="1"/>
          </p:cNvSpPr>
          <p:nvPr>
            <p:ph type="title"/>
          </p:nvPr>
        </p:nvSpPr>
        <p:spPr/>
        <p:txBody>
          <a:bodyPr/>
          <a:lstStyle/>
          <a:p>
            <a:r>
              <a:rPr lang="en-NZ" dirty="0"/>
              <a:t>Example:</a:t>
            </a:r>
          </a:p>
        </p:txBody>
      </p:sp>
      <p:sp>
        <p:nvSpPr>
          <p:cNvPr id="3" name="Content Placeholder 2">
            <a:extLst>
              <a:ext uri="{FF2B5EF4-FFF2-40B4-BE49-F238E27FC236}">
                <a16:creationId xmlns:a16="http://schemas.microsoft.com/office/drawing/2014/main" id="{3435191B-74EA-3AA5-95CB-E6ADA87AF2E5}"/>
              </a:ext>
            </a:extLst>
          </p:cNvPr>
          <p:cNvSpPr>
            <a:spLocks noGrp="1"/>
          </p:cNvSpPr>
          <p:nvPr>
            <p:ph idx="1"/>
          </p:nvPr>
        </p:nvSpPr>
        <p:spPr/>
        <p:txBody>
          <a:bodyPr>
            <a:normAutofit fontScale="77500" lnSpcReduction="20000"/>
          </a:bodyPr>
          <a:lstStyle/>
          <a:p>
            <a:pPr fontAlgn="base"/>
            <a:r>
              <a:rPr lang="en-US" dirty="0"/>
              <a:t>Posting comments or rumors about someone online that are mean, hurtful, or embarrassing.</a:t>
            </a:r>
          </a:p>
          <a:p>
            <a:pPr fontAlgn="base"/>
            <a:r>
              <a:rPr lang="en-US" dirty="0"/>
              <a:t>Threatening to hurt someone or telling them to kill themselves.</a:t>
            </a:r>
          </a:p>
          <a:p>
            <a:pPr fontAlgn="base"/>
            <a:r>
              <a:rPr lang="en-US" dirty="0"/>
              <a:t>Posting a mean or hurtful picture or video.</a:t>
            </a:r>
          </a:p>
          <a:p>
            <a:pPr fontAlgn="base"/>
            <a:r>
              <a:rPr lang="en-US" dirty="0"/>
              <a:t>Pretending to be someone else online in order to solicit or post personal or false information about someone else.</a:t>
            </a:r>
          </a:p>
          <a:p>
            <a:pPr fontAlgn="base"/>
            <a:r>
              <a:rPr lang="en-US" dirty="0"/>
              <a:t>Posting mean or hateful names, comments, or content about any race, religion, ethnicity, or other personal characteristics online.</a:t>
            </a:r>
          </a:p>
          <a:p>
            <a:pPr fontAlgn="base"/>
            <a:r>
              <a:rPr lang="en-US" dirty="0"/>
              <a:t>Creating a mean or hurtful webpage about someone.</a:t>
            </a:r>
          </a:p>
          <a:p>
            <a:pPr fontAlgn="base"/>
            <a:r>
              <a:rPr lang="en-US" dirty="0"/>
              <a:t>Doxing, an abbreviated form of the word documents, is a form of online harassment used to exact revenge and to threaten and destroy the privacy of individuals by making their personal information public, including addresses, social security, credit card and phone numbers, links to social media accounts, and other private data.</a:t>
            </a:r>
          </a:p>
          <a:p>
            <a:endParaRPr lang="en-NZ" dirty="0"/>
          </a:p>
        </p:txBody>
      </p:sp>
    </p:spTree>
    <p:extLst>
      <p:ext uri="{BB962C8B-B14F-4D97-AF65-F5344CB8AC3E}">
        <p14:creationId xmlns:p14="http://schemas.microsoft.com/office/powerpoint/2010/main" val="2471316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D26B-91C4-70D4-73E1-6AF7D3C8F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B460E-66FD-ED8F-4AB9-F2E196223087}"/>
              </a:ext>
            </a:extLst>
          </p:cNvPr>
          <p:cNvSpPr>
            <a:spLocks noGrp="1"/>
          </p:cNvSpPr>
          <p:nvPr>
            <p:ph type="title"/>
          </p:nvPr>
        </p:nvSpPr>
        <p:spPr/>
        <p:txBody>
          <a:bodyPr/>
          <a:lstStyle/>
          <a:p>
            <a:r>
              <a:rPr lang="en-NZ" dirty="0"/>
              <a:t>What is Cyber Bullying not?</a:t>
            </a:r>
          </a:p>
        </p:txBody>
      </p:sp>
      <p:sp>
        <p:nvSpPr>
          <p:cNvPr id="3" name="Content Placeholder 2">
            <a:extLst>
              <a:ext uri="{FF2B5EF4-FFF2-40B4-BE49-F238E27FC236}">
                <a16:creationId xmlns:a16="http://schemas.microsoft.com/office/drawing/2014/main" id="{700C3757-9302-C083-6520-619AF8A5A991}"/>
              </a:ext>
            </a:extLst>
          </p:cNvPr>
          <p:cNvSpPr>
            <a:spLocks noGrp="1"/>
          </p:cNvSpPr>
          <p:nvPr>
            <p:ph idx="1"/>
          </p:nvPr>
        </p:nvSpPr>
        <p:spPr>
          <a:xfrm>
            <a:off x="640080" y="2633472"/>
            <a:ext cx="5184792" cy="3566160"/>
          </a:xfrm>
        </p:spPr>
        <p:txBody>
          <a:bodyPr/>
          <a:lstStyle/>
          <a:p>
            <a:r>
              <a:rPr lang="en-AU" b="1" dirty="0"/>
              <a:t>Single incidents </a:t>
            </a:r>
            <a:r>
              <a:rPr lang="en-AU" dirty="0"/>
              <a:t>and conflict or fights between equals, whether in person or online, are not defined as bullying. – Bullying Go Away (</a:t>
            </a:r>
            <a:r>
              <a:rPr lang="en-AU" dirty="0" err="1"/>
              <a:t>Au.Gov</a:t>
            </a:r>
            <a:r>
              <a:rPr lang="en-AU" dirty="0"/>
              <a:t>)</a:t>
            </a:r>
          </a:p>
          <a:p>
            <a:r>
              <a:rPr lang="en-US" dirty="0"/>
              <a:t>A one-off comment, no matter how defamatory or hurtful, is not considered cyberbullying if it is not repeated or it was not intended to cause harm. – Tech Target</a:t>
            </a:r>
            <a:endParaRPr lang="en-AU" dirty="0"/>
          </a:p>
        </p:txBody>
      </p:sp>
      <p:pic>
        <p:nvPicPr>
          <p:cNvPr id="4" name="Content Placeholder 8">
            <a:extLst>
              <a:ext uri="{FF2B5EF4-FFF2-40B4-BE49-F238E27FC236}">
                <a16:creationId xmlns:a16="http://schemas.microsoft.com/office/drawing/2014/main" id="{5B8BB79C-FDC4-D344-ACD7-0A209FD011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1472" y="3185108"/>
            <a:ext cx="4428031" cy="2199400"/>
          </a:xfrm>
          <a:prstGeom prst="rect">
            <a:avLst/>
          </a:prstGeom>
          <a:solidFill>
            <a:schemeClr val="bg1"/>
          </a:solidFill>
        </p:spPr>
      </p:pic>
    </p:spTree>
    <p:extLst>
      <p:ext uri="{BB962C8B-B14F-4D97-AF65-F5344CB8AC3E}">
        <p14:creationId xmlns:p14="http://schemas.microsoft.com/office/powerpoint/2010/main" val="167050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F370-58EC-95C7-5334-526CFE8C5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C3195-9E3F-195C-B69B-C585F33FE3E5}"/>
              </a:ext>
            </a:extLst>
          </p:cNvPr>
          <p:cNvSpPr>
            <a:spLocks noGrp="1"/>
          </p:cNvSpPr>
          <p:nvPr>
            <p:ph type="title"/>
          </p:nvPr>
        </p:nvSpPr>
        <p:spPr/>
        <p:txBody>
          <a:bodyPr/>
          <a:lstStyle/>
          <a:p>
            <a:r>
              <a:rPr lang="en-NZ" dirty="0"/>
              <a:t>Activity:</a:t>
            </a:r>
          </a:p>
        </p:txBody>
      </p:sp>
      <p:sp>
        <p:nvSpPr>
          <p:cNvPr id="7" name="Rectangle 6">
            <a:extLst>
              <a:ext uri="{FF2B5EF4-FFF2-40B4-BE49-F238E27FC236}">
                <a16:creationId xmlns:a16="http://schemas.microsoft.com/office/drawing/2014/main" id="{E3F19FCF-34BE-6A4B-B17B-723194862EC0}"/>
              </a:ext>
            </a:extLst>
          </p:cNvPr>
          <p:cNvSpPr/>
          <p:nvPr/>
        </p:nvSpPr>
        <p:spPr>
          <a:xfrm>
            <a:off x="399186" y="1996724"/>
            <a:ext cx="11059801" cy="4315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9" name="Table 8">
            <a:extLst>
              <a:ext uri="{FF2B5EF4-FFF2-40B4-BE49-F238E27FC236}">
                <a16:creationId xmlns:a16="http://schemas.microsoft.com/office/drawing/2014/main" id="{7D2D4093-7A63-7810-9A89-32A155C6B2F7}"/>
              </a:ext>
            </a:extLst>
          </p:cNvPr>
          <p:cNvGraphicFramePr>
            <a:graphicFrameLocks noGrp="1"/>
          </p:cNvGraphicFramePr>
          <p:nvPr>
            <p:extLst>
              <p:ext uri="{D42A27DB-BD31-4B8C-83A1-F6EECF244321}">
                <p14:modId xmlns:p14="http://schemas.microsoft.com/office/powerpoint/2010/main" val="73748695"/>
              </p:ext>
            </p:extLst>
          </p:nvPr>
        </p:nvGraphicFramePr>
        <p:xfrm>
          <a:off x="640079" y="2352322"/>
          <a:ext cx="10325464" cy="3960381"/>
        </p:xfrm>
        <a:graphic>
          <a:graphicData uri="http://schemas.openxmlformats.org/drawingml/2006/table">
            <a:tbl>
              <a:tblPr firstRow="1" bandRow="1">
                <a:tableStyleId>{5C22544A-7EE6-4342-B048-85BDC9FD1C3A}</a:tableStyleId>
              </a:tblPr>
              <a:tblGrid>
                <a:gridCol w="5162732">
                  <a:extLst>
                    <a:ext uri="{9D8B030D-6E8A-4147-A177-3AD203B41FA5}">
                      <a16:colId xmlns:a16="http://schemas.microsoft.com/office/drawing/2014/main" val="1295974667"/>
                    </a:ext>
                  </a:extLst>
                </a:gridCol>
                <a:gridCol w="5162732">
                  <a:extLst>
                    <a:ext uri="{9D8B030D-6E8A-4147-A177-3AD203B41FA5}">
                      <a16:colId xmlns:a16="http://schemas.microsoft.com/office/drawing/2014/main" val="2497031093"/>
                    </a:ext>
                  </a:extLst>
                </a:gridCol>
              </a:tblGrid>
              <a:tr h="1177768">
                <a:tc>
                  <a:txBody>
                    <a:bodyPr/>
                    <a:lstStyle/>
                    <a:p>
                      <a:pPr algn="ctr"/>
                      <a:endParaRPr lang="en-NZ" dirty="0"/>
                    </a:p>
                    <a:p>
                      <a:pPr algn="ctr"/>
                      <a:r>
                        <a:rPr lang="en-NZ" sz="3600" dirty="0"/>
                        <a:t>Cyber Bullying</a:t>
                      </a:r>
                    </a:p>
                  </a:txBody>
                  <a:tcPr/>
                </a:tc>
                <a:tc>
                  <a:txBody>
                    <a:bodyPr/>
                    <a:lstStyle/>
                    <a:p>
                      <a:pPr algn="ctr"/>
                      <a:endParaRPr lang="en-NZ" dirty="0"/>
                    </a:p>
                    <a:p>
                      <a:pPr algn="ctr"/>
                      <a:r>
                        <a:rPr lang="en-NZ" sz="3600" dirty="0"/>
                        <a:t>Not Cyber Bullying</a:t>
                      </a:r>
                    </a:p>
                  </a:txBody>
                  <a:tcPr/>
                </a:tc>
                <a:extLst>
                  <a:ext uri="{0D108BD9-81ED-4DB2-BD59-A6C34878D82A}">
                    <a16:rowId xmlns:a16="http://schemas.microsoft.com/office/drawing/2014/main" val="2799202306"/>
                  </a:ext>
                </a:extLst>
              </a:tr>
              <a:tr h="2782613">
                <a:tc>
                  <a:txBody>
                    <a:bodyPr/>
                    <a:lstStyle/>
                    <a:p>
                      <a:endParaRPr lang="en-NZ"/>
                    </a:p>
                  </a:txBody>
                  <a:tcPr/>
                </a:tc>
                <a:tc>
                  <a:txBody>
                    <a:bodyPr/>
                    <a:lstStyle/>
                    <a:p>
                      <a:endParaRPr lang="en-NZ" dirty="0"/>
                    </a:p>
                  </a:txBody>
                  <a:tcPr/>
                </a:tc>
                <a:extLst>
                  <a:ext uri="{0D108BD9-81ED-4DB2-BD59-A6C34878D82A}">
                    <a16:rowId xmlns:a16="http://schemas.microsoft.com/office/drawing/2014/main" val="3432316020"/>
                  </a:ext>
                </a:extLst>
              </a:tr>
            </a:tbl>
          </a:graphicData>
        </a:graphic>
      </p:graphicFrame>
    </p:spTree>
    <p:extLst>
      <p:ext uri="{BB962C8B-B14F-4D97-AF65-F5344CB8AC3E}">
        <p14:creationId xmlns:p14="http://schemas.microsoft.com/office/powerpoint/2010/main" val="262754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163A-CBAB-1E59-615F-D54F0218C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1217A-3471-1024-8DFA-5B52C7A9ACB4}"/>
              </a:ext>
            </a:extLst>
          </p:cNvPr>
          <p:cNvSpPr>
            <a:spLocks noGrp="1"/>
          </p:cNvSpPr>
          <p:nvPr>
            <p:ph type="title"/>
          </p:nvPr>
        </p:nvSpPr>
        <p:spPr/>
        <p:txBody>
          <a:bodyPr/>
          <a:lstStyle/>
          <a:p>
            <a:r>
              <a:rPr lang="en-NZ" dirty="0"/>
              <a:t>Where can Cyber Bullying happen?</a:t>
            </a:r>
          </a:p>
        </p:txBody>
      </p:sp>
      <p:pic>
        <p:nvPicPr>
          <p:cNvPr id="1028" name="Picture 4" descr="Download Snapchat Logo in SVG Vector or PNG File Format ...">
            <a:extLst>
              <a:ext uri="{FF2B5EF4-FFF2-40B4-BE49-F238E27FC236}">
                <a16:creationId xmlns:a16="http://schemas.microsoft.com/office/drawing/2014/main" id="{FA85322C-CA0B-6533-34CE-41723C336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2118" y="2794559"/>
            <a:ext cx="2895825" cy="1694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stagram Logo png and symbol, meaning, history">
            <a:extLst>
              <a:ext uri="{FF2B5EF4-FFF2-40B4-BE49-F238E27FC236}">
                <a16:creationId xmlns:a16="http://schemas.microsoft.com/office/drawing/2014/main" id="{22D6AAB2-CCE2-ABA5-228D-B24998E668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1003" y="4488559"/>
            <a:ext cx="2086654" cy="17851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9E3BC99-163E-409B-9CCE-B96BA7F92744}"/>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7231402" y="2970008"/>
            <a:ext cx="1353798" cy="135379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3C9C216-E74B-5ED6-45E7-BA4B97DF74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1402" y="4488559"/>
            <a:ext cx="1676400" cy="16838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62C5DCB-4228-39AB-8F26-19BEBF3653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9257" y="2970008"/>
            <a:ext cx="1807390" cy="135379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ownload Youtube, Logo, Media. Royalty ...">
            <a:extLst>
              <a:ext uri="{FF2B5EF4-FFF2-40B4-BE49-F238E27FC236}">
                <a16:creationId xmlns:a16="http://schemas.microsoft.com/office/drawing/2014/main" id="{CFFED929-982B-9DDA-2156-A30574B81B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3937" y="4425626"/>
            <a:ext cx="2524125" cy="18097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0CA60248-6E6C-C902-53BA-BD4746A47F34}"/>
              </a:ext>
            </a:extLst>
          </p:cNvPr>
          <p:cNvSpPr txBox="1">
            <a:spLocks/>
          </p:cNvSpPr>
          <p:nvPr/>
        </p:nvSpPr>
        <p:spPr>
          <a:xfrm>
            <a:off x="804681" y="4260872"/>
            <a:ext cx="4918892" cy="629735"/>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en-NZ" dirty="0"/>
              <a:t>Anywhere Online</a:t>
            </a:r>
          </a:p>
        </p:txBody>
      </p:sp>
    </p:spTree>
    <p:extLst>
      <p:ext uri="{BB962C8B-B14F-4D97-AF65-F5344CB8AC3E}">
        <p14:creationId xmlns:p14="http://schemas.microsoft.com/office/powerpoint/2010/main" val="156600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3BFDCE-9AAA-E861-2B35-13F08568F924}"/>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2800"/>
              <a:t>Common Forms of Cyberbullying (Social Media, Messaging Apps, Group Chats)</a:t>
            </a:r>
          </a:p>
        </p:txBody>
      </p:sp>
      <p:pic>
        <p:nvPicPr>
          <p:cNvPr id="5" name="Content Placeholder 4" descr="Painters paint the comment icon (User Interface UI UX / Web Design concept)">
            <a:extLst>
              <a:ext uri="{FF2B5EF4-FFF2-40B4-BE49-F238E27FC236}">
                <a16:creationId xmlns:a16="http://schemas.microsoft.com/office/drawing/2014/main" id="{970F746A-5CBC-4943-85FA-137D74CEA898}"/>
              </a:ext>
            </a:extLst>
          </p:cNvPr>
          <p:cNvPicPr>
            <a:picLocks noGrp="1" noChangeAspect="1"/>
          </p:cNvPicPr>
          <p:nvPr>
            <p:ph sz="half" idx="1"/>
          </p:nvPr>
        </p:nvPicPr>
        <p:blipFill>
          <a:blip r:embed="rId3"/>
          <a:srcRect l="21456" r="23683"/>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A4CFA486-17D6-CAA1-1DA4-218D228117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NZ" sz="1400" b="1"/>
              <a:t>Social Media Harassment</a:t>
            </a:r>
          </a:p>
          <a:p>
            <a:pPr marL="0" lvl="1" indent="0">
              <a:buNone/>
            </a:pPr>
            <a:r>
              <a:rPr lang="en-NZ" sz="1400"/>
              <a:t>Hurtful comments and negative interactions on social media platforms contribute significantly to cyberbullying.</a:t>
            </a:r>
          </a:p>
          <a:p>
            <a:pPr marL="0" indent="0">
              <a:spcBef>
                <a:spcPts val="2500"/>
              </a:spcBef>
              <a:buNone/>
            </a:pPr>
            <a:r>
              <a:rPr lang="en-NZ" sz="1400" b="1"/>
              <a:t>Messaging Apps Abuse</a:t>
            </a:r>
          </a:p>
          <a:p>
            <a:pPr marL="0" lvl="1" indent="0">
              <a:buNone/>
            </a:pPr>
            <a:r>
              <a:rPr lang="en-NZ" sz="1400"/>
              <a:t>Hostile or threatening messages exchanged privately through messaging apps often lead to cyberbullying incidents.</a:t>
            </a:r>
          </a:p>
          <a:p>
            <a:pPr marL="0" indent="0">
              <a:spcBef>
                <a:spcPts val="2500"/>
              </a:spcBef>
              <a:buNone/>
            </a:pPr>
            <a:r>
              <a:rPr lang="en-NZ" sz="1400" b="1"/>
              <a:t>Group Chat Bullying</a:t>
            </a:r>
          </a:p>
          <a:p>
            <a:pPr marL="0" lvl="1" indent="0">
              <a:buNone/>
            </a:pPr>
            <a:r>
              <a:rPr lang="en-NZ" sz="1400"/>
              <a:t>Cyberbullying also occurs within group chats where victims face exclusion or targeted negative remarks.</a:t>
            </a:r>
          </a:p>
        </p:txBody>
      </p:sp>
    </p:spTree>
    <p:extLst>
      <p:ext uri="{BB962C8B-B14F-4D97-AF65-F5344CB8AC3E}">
        <p14:creationId xmlns:p14="http://schemas.microsoft.com/office/powerpoint/2010/main" val="179387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43A7-250E-05FF-49F9-59B9567D5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8BDC2-62EE-30C1-BCBA-0230D66DAA19}"/>
              </a:ext>
            </a:extLst>
          </p:cNvPr>
          <p:cNvSpPr>
            <a:spLocks noGrp="1"/>
          </p:cNvSpPr>
          <p:nvPr>
            <p:ph type="title"/>
          </p:nvPr>
        </p:nvSpPr>
        <p:spPr/>
        <p:txBody>
          <a:bodyPr/>
          <a:lstStyle/>
          <a:p>
            <a:r>
              <a:rPr lang="en-NZ" dirty="0"/>
              <a:t>Why can Cyber Bullying happen?</a:t>
            </a:r>
          </a:p>
        </p:txBody>
      </p:sp>
      <p:sp>
        <p:nvSpPr>
          <p:cNvPr id="3" name="Content Placeholder 2">
            <a:extLst>
              <a:ext uri="{FF2B5EF4-FFF2-40B4-BE49-F238E27FC236}">
                <a16:creationId xmlns:a16="http://schemas.microsoft.com/office/drawing/2014/main" id="{40F1E407-F123-E60F-5F0E-336C71BCB7F1}"/>
              </a:ext>
            </a:extLst>
          </p:cNvPr>
          <p:cNvSpPr>
            <a:spLocks noGrp="1"/>
          </p:cNvSpPr>
          <p:nvPr>
            <p:ph idx="1"/>
          </p:nvPr>
        </p:nvSpPr>
        <p:spPr>
          <a:xfrm>
            <a:off x="640080" y="2633472"/>
            <a:ext cx="10325463" cy="3566160"/>
          </a:xfrm>
        </p:spPr>
        <p:txBody>
          <a:bodyPr/>
          <a:lstStyle/>
          <a:p>
            <a:r>
              <a:rPr lang="en-NZ" dirty="0"/>
              <a:t>Attacker: An attacker may seek to harm, embarrass, annoy, rage bait, or bully someone for amusement, out of peer pressure, or for some other unmotivated reason, etc</a:t>
            </a:r>
          </a:p>
          <a:p>
            <a:r>
              <a:rPr lang="en-NZ" dirty="0"/>
              <a:t>Victim: Although not the fault of the victim, a victim can take steps to minimize what damage can be caused by a cyber bully</a:t>
            </a:r>
          </a:p>
        </p:txBody>
      </p:sp>
    </p:spTree>
    <p:extLst>
      <p:ext uri="{BB962C8B-B14F-4D97-AF65-F5344CB8AC3E}">
        <p14:creationId xmlns:p14="http://schemas.microsoft.com/office/powerpoint/2010/main" val="207710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3A60B1-5317-2D28-384D-FB6136F59592}"/>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300"/>
              <a:t>Motivations Behind Cyberbullying and Its Emotional Impact</a:t>
            </a:r>
          </a:p>
        </p:txBody>
      </p:sp>
      <p:pic>
        <p:nvPicPr>
          <p:cNvPr id="5" name="Content Placeholder 4" descr="Eavesdropping. Modern Communications Weaknesses.">
            <a:extLst>
              <a:ext uri="{FF2B5EF4-FFF2-40B4-BE49-F238E27FC236}">
                <a16:creationId xmlns:a16="http://schemas.microsoft.com/office/drawing/2014/main" id="{71BF98A6-BE32-4D21-AE5F-9F13A3D08CAF}"/>
              </a:ext>
            </a:extLst>
          </p:cNvPr>
          <p:cNvPicPr>
            <a:picLocks noGrp="1" noChangeAspect="1"/>
          </p:cNvPicPr>
          <p:nvPr>
            <p:ph sz="half" idx="1"/>
          </p:nvPr>
        </p:nvPicPr>
        <p:blipFill>
          <a:blip r:embed="rId3"/>
          <a:srcRect l="12122" r="4874"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A26F64F-6C0B-1E9D-7B08-C384C9042CF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Reasons for Cyberbullying</a:t>
            </a:r>
          </a:p>
          <a:p>
            <a:pPr marL="0" lvl="1" indent="0">
              <a:buNone/>
            </a:pPr>
            <a:r>
              <a:rPr lang="en-US" sz="1400"/>
              <a:t>Individuals cyberbully often to seek power or retaliate against others, driven by complex motives.</a:t>
            </a:r>
          </a:p>
          <a:p>
            <a:pPr marL="0" indent="0">
              <a:spcBef>
                <a:spcPts val="2500"/>
              </a:spcBef>
              <a:buNone/>
            </a:pPr>
            <a:r>
              <a:rPr lang="en-US" sz="1400" b="1"/>
              <a:t>Emotional Impact on Victims</a:t>
            </a:r>
          </a:p>
          <a:p>
            <a:pPr marL="0" lvl="1" indent="0">
              <a:buNone/>
            </a:pPr>
            <a:r>
              <a:rPr lang="en-US" sz="1400"/>
              <a:t>Victims of cyberbullying frequently experience anxiety, depression, and social isolation.</a:t>
            </a:r>
            <a:endParaRPr lang="en-NZ" sz="1400"/>
          </a:p>
        </p:txBody>
      </p:sp>
    </p:spTree>
    <p:extLst>
      <p:ext uri="{BB962C8B-B14F-4D97-AF65-F5344CB8AC3E}">
        <p14:creationId xmlns:p14="http://schemas.microsoft.com/office/powerpoint/2010/main" val="3200032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F7DC6-7C6F-EBF2-D372-642519521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1427D-3F9D-45E0-3DA3-E7F7B83863CB}"/>
              </a:ext>
            </a:extLst>
          </p:cNvPr>
          <p:cNvSpPr>
            <a:spLocks noGrp="1"/>
          </p:cNvSpPr>
          <p:nvPr>
            <p:ph type="title"/>
          </p:nvPr>
        </p:nvSpPr>
        <p:spPr/>
        <p:txBody>
          <a:bodyPr/>
          <a:lstStyle/>
          <a:p>
            <a:r>
              <a:rPr lang="en-NZ" dirty="0"/>
              <a:t>Activity:</a:t>
            </a:r>
          </a:p>
        </p:txBody>
      </p:sp>
      <p:sp>
        <p:nvSpPr>
          <p:cNvPr id="3" name="Content Placeholder 2">
            <a:extLst>
              <a:ext uri="{FF2B5EF4-FFF2-40B4-BE49-F238E27FC236}">
                <a16:creationId xmlns:a16="http://schemas.microsoft.com/office/drawing/2014/main" id="{10777551-AC39-2457-F6A0-F0332122AFC3}"/>
              </a:ext>
            </a:extLst>
          </p:cNvPr>
          <p:cNvSpPr>
            <a:spLocks noGrp="1"/>
          </p:cNvSpPr>
          <p:nvPr>
            <p:ph idx="1"/>
          </p:nvPr>
        </p:nvSpPr>
        <p:spPr>
          <a:xfrm>
            <a:off x="640080" y="2633472"/>
            <a:ext cx="10325463" cy="3566160"/>
          </a:xfrm>
        </p:spPr>
        <p:txBody>
          <a:bodyPr>
            <a:normAutofit lnSpcReduction="10000"/>
          </a:bodyPr>
          <a:lstStyle/>
          <a:p>
            <a:r>
              <a:rPr lang="en-NZ" dirty="0"/>
              <a:t>Why would you be Cyber Bullied?</a:t>
            </a:r>
          </a:p>
          <a:p>
            <a:pPr lvl="1"/>
            <a:r>
              <a:rPr lang="en-NZ" dirty="0"/>
              <a:t>Think of a reason as to why someone would want to Cyber Bully you</a:t>
            </a:r>
          </a:p>
          <a:p>
            <a:pPr lvl="1"/>
            <a:r>
              <a:rPr lang="en-NZ" dirty="0"/>
              <a:t>Take note of what that person might use to do so</a:t>
            </a:r>
          </a:p>
          <a:p>
            <a:pPr lvl="1"/>
            <a:r>
              <a:rPr lang="en-NZ" dirty="0"/>
              <a:t>What will you do to ensure that person cant do that?</a:t>
            </a:r>
          </a:p>
          <a:p>
            <a:r>
              <a:rPr lang="en-NZ" dirty="0"/>
              <a:t>Things to consider</a:t>
            </a:r>
          </a:p>
          <a:p>
            <a:pPr lvl="1"/>
            <a:r>
              <a:rPr lang="en-NZ" dirty="0"/>
              <a:t>What private information of yours is accessible to public viewers?</a:t>
            </a:r>
          </a:p>
          <a:p>
            <a:pPr lvl="1"/>
            <a:r>
              <a:rPr lang="en-NZ" dirty="0"/>
              <a:t>What information do you have on your page are you comfortable with having on the internet forever?</a:t>
            </a:r>
          </a:p>
          <a:p>
            <a:pPr lvl="1"/>
            <a:r>
              <a:rPr lang="en-NZ" dirty="0"/>
              <a:t>What percentage of your messages are you comfortable with sharing with the public?</a:t>
            </a:r>
          </a:p>
        </p:txBody>
      </p:sp>
    </p:spTree>
    <p:extLst>
      <p:ext uri="{BB962C8B-B14F-4D97-AF65-F5344CB8AC3E}">
        <p14:creationId xmlns:p14="http://schemas.microsoft.com/office/powerpoint/2010/main" val="951126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51FF71-BE75-AEDB-F737-79B77CF5478D}"/>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Case Studies and Real-Life Examples of Cyberbullying</a:t>
            </a:r>
          </a:p>
        </p:txBody>
      </p:sp>
      <p:pic>
        <p:nvPicPr>
          <p:cNvPr id="5" name="Content Placeholder 4" descr="Modern background">
            <a:extLst>
              <a:ext uri="{FF2B5EF4-FFF2-40B4-BE49-F238E27FC236}">
                <a16:creationId xmlns:a16="http://schemas.microsoft.com/office/drawing/2014/main" id="{E60237DA-57DB-463B-9579-B0E677AEC536}"/>
              </a:ext>
            </a:extLst>
          </p:cNvPr>
          <p:cNvPicPr>
            <a:picLocks noGrp="1" noChangeAspect="1"/>
          </p:cNvPicPr>
          <p:nvPr>
            <p:ph sz="half" idx="1"/>
          </p:nvPr>
        </p:nvPicPr>
        <p:blipFill>
          <a:blip r:embed="rId3"/>
          <a:srcRect l="26773" r="18161"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8652F46-BE49-B766-882B-129798CE13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Understanding Cyberbullying Impact</a:t>
            </a:r>
          </a:p>
          <a:p>
            <a:pPr marL="0" lvl="1" indent="0">
              <a:buNone/>
            </a:pPr>
            <a:r>
              <a:rPr lang="en-US" sz="1400"/>
              <a:t>Real-life cases highlight how cyberbullying deeply affects mental health and daily life of young people.</a:t>
            </a:r>
          </a:p>
          <a:p>
            <a:pPr marL="0" indent="0">
              <a:spcBef>
                <a:spcPts val="2500"/>
              </a:spcBef>
              <a:buNone/>
            </a:pPr>
            <a:r>
              <a:rPr lang="en-US" sz="1400" b="1"/>
              <a:t>Varied Forms of Cyberbullying</a:t>
            </a:r>
          </a:p>
          <a:p>
            <a:pPr marL="0" lvl="1" indent="0">
              <a:buNone/>
            </a:pPr>
            <a:r>
              <a:rPr lang="en-US" sz="1400"/>
              <a:t>Examples show cyberbullying can include harassment, exclusion, and spreading rumours on social platforms.</a:t>
            </a:r>
          </a:p>
          <a:p>
            <a:pPr marL="0" indent="0">
              <a:spcBef>
                <a:spcPts val="2500"/>
              </a:spcBef>
              <a:buNone/>
            </a:pPr>
            <a:r>
              <a:rPr lang="en-US" sz="1400" b="1"/>
              <a:t>Importance of Awareness</a:t>
            </a:r>
          </a:p>
          <a:p>
            <a:pPr marL="0" lvl="1" indent="0">
              <a:buNone/>
            </a:pPr>
            <a:r>
              <a:rPr lang="en-US" sz="1400"/>
              <a:t>Case studies emphasise the need for education to prevent and address cyberbullying effectively.</a:t>
            </a:r>
            <a:endParaRPr lang="en-NZ" sz="1400"/>
          </a:p>
        </p:txBody>
      </p:sp>
    </p:spTree>
    <p:extLst>
      <p:ext uri="{BB962C8B-B14F-4D97-AF65-F5344CB8AC3E}">
        <p14:creationId xmlns:p14="http://schemas.microsoft.com/office/powerpoint/2010/main" val="2857263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E6D08248-52B0-2A2B-0206-96C832AD9214}"/>
              </a:ext>
            </a:extLst>
          </p:cNvPr>
          <p:cNvSpPr>
            <a:spLocks noGrp="1"/>
          </p:cNvSpPr>
          <p:nvPr>
            <p:ph type="ctrTitle"/>
          </p:nvPr>
        </p:nvSpPr>
        <p:spPr>
          <a:xfrm>
            <a:off x="559219" y="1115844"/>
            <a:ext cx="7680960" cy="4631911"/>
          </a:xfrm>
        </p:spPr>
        <p:txBody>
          <a:bodyPr anchor="b">
            <a:normAutofit/>
          </a:bodyPr>
          <a:lstStyle/>
          <a:p>
            <a:r>
              <a:rPr lang="en-NZ" sz="6500"/>
              <a:t>Consequences of Cyberbullying: Lasting Effects and Outcomes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0527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601B06-0406-8900-0AEF-D6478B9A00DE}"/>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500"/>
              <a:t>The Lasting Lifetime of Online Messages and Actions</a:t>
            </a:r>
          </a:p>
        </p:txBody>
      </p:sp>
      <p:pic>
        <p:nvPicPr>
          <p:cNvPr id="5" name="Content Placeholder 4" descr="Email marketing online message network security internet">
            <a:extLst>
              <a:ext uri="{FF2B5EF4-FFF2-40B4-BE49-F238E27FC236}">
                <a16:creationId xmlns:a16="http://schemas.microsoft.com/office/drawing/2014/main" id="{36FA89F9-5B21-4249-AE29-01C6F468E367}"/>
              </a:ext>
            </a:extLst>
          </p:cNvPr>
          <p:cNvPicPr>
            <a:picLocks noGrp="1" noChangeAspect="1"/>
          </p:cNvPicPr>
          <p:nvPr>
            <p:ph sz="half" idx="1"/>
          </p:nvPr>
        </p:nvPicPr>
        <p:blipFill>
          <a:blip r:embed="rId3"/>
          <a:srcRect l="29627" r="423"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1789F80-EAD3-CF6C-EF61-FE4FE1FE77D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dirty="0"/>
              <a:t>Indefinite Accessibility</a:t>
            </a:r>
          </a:p>
          <a:p>
            <a:pPr marL="0" lvl="1" indent="0">
              <a:buNone/>
            </a:pPr>
            <a:r>
              <a:rPr lang="en-US" sz="1400" dirty="0"/>
              <a:t>Online content often remains accessible forever, making digital footprints permanent and widespread.</a:t>
            </a:r>
          </a:p>
          <a:p>
            <a:pPr marL="0" indent="0">
              <a:spcBef>
                <a:spcPts val="2500"/>
              </a:spcBef>
              <a:buNone/>
            </a:pPr>
            <a:r>
              <a:rPr lang="en-US" sz="1400" b="1" dirty="0"/>
              <a:t>Impact of Harmful Messages</a:t>
            </a:r>
          </a:p>
          <a:p>
            <a:pPr marL="0" lvl="1" indent="0">
              <a:buNone/>
            </a:pPr>
            <a:r>
              <a:rPr lang="en-US" sz="1400" dirty="0"/>
              <a:t>Harmful online messages can continue to negatively affect individuals long after initial posting.</a:t>
            </a:r>
          </a:p>
          <a:p>
            <a:pPr marL="0" lvl="1" indent="0">
              <a:buNone/>
            </a:pPr>
            <a:endParaRPr lang="en-US" sz="1400" dirty="0"/>
          </a:p>
          <a:p>
            <a:pPr marL="0" lvl="1" indent="0">
              <a:buNone/>
            </a:pPr>
            <a:r>
              <a:rPr lang="en-US" sz="1400" b="1" dirty="0"/>
              <a:t>Constantly Present</a:t>
            </a:r>
          </a:p>
          <a:p>
            <a:pPr marL="0" lvl="1" indent="0">
              <a:buNone/>
            </a:pPr>
            <a:r>
              <a:rPr lang="en-US" sz="1400" dirty="0"/>
              <a:t>Unlike bullying where it stops when you are away from the bully or at home, cyber bullying follows you everywhere, making it at times more dangerous than in person bullying.</a:t>
            </a:r>
          </a:p>
          <a:p>
            <a:pPr marL="0" lvl="1" indent="0">
              <a:buNone/>
            </a:pPr>
            <a:endParaRPr lang="en-US" sz="1400" dirty="0"/>
          </a:p>
          <a:p>
            <a:pPr marL="0" lvl="1" indent="0">
              <a:buNone/>
            </a:pPr>
            <a:endParaRPr lang="en-NZ" sz="1400" dirty="0"/>
          </a:p>
        </p:txBody>
      </p:sp>
    </p:spTree>
    <p:extLst>
      <p:ext uri="{BB962C8B-B14F-4D97-AF65-F5344CB8AC3E}">
        <p14:creationId xmlns:p14="http://schemas.microsoft.com/office/powerpoint/2010/main" val="3563526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B5034-48FA-F97E-2F7A-A30BCD8D01FC}"/>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2800"/>
              <a:t>Potential Outcomes for Victims: Emotional, Social, and Academic Impact</a:t>
            </a:r>
          </a:p>
        </p:txBody>
      </p:sp>
      <p:pic>
        <p:nvPicPr>
          <p:cNvPr id="5" name="Content Placeholder 4" descr="Young man enjoying waterfall. Happiness">
            <a:extLst>
              <a:ext uri="{FF2B5EF4-FFF2-40B4-BE49-F238E27FC236}">
                <a16:creationId xmlns:a16="http://schemas.microsoft.com/office/drawing/2014/main" id="{79580F30-CA5B-4DF1-9ABF-9034EAC73E7D}"/>
              </a:ext>
            </a:extLst>
          </p:cNvPr>
          <p:cNvPicPr>
            <a:picLocks noGrp="1" noChangeAspect="1"/>
          </p:cNvPicPr>
          <p:nvPr>
            <p:ph sz="half" idx="1"/>
          </p:nvPr>
        </p:nvPicPr>
        <p:blipFill>
          <a:blip r:embed="rId3"/>
          <a:srcRect l="29282" r="24312"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3CB2671-4A91-05C5-2148-B967F61D20A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lnSpcReduction="10000"/>
          </a:bodyPr>
          <a:lstStyle/>
          <a:p>
            <a:pPr marL="0" indent="0">
              <a:spcBef>
                <a:spcPts val="2500"/>
              </a:spcBef>
              <a:buNone/>
            </a:pPr>
            <a:r>
              <a:rPr lang="en-US" sz="1400" b="1" dirty="0"/>
              <a:t>Emotional Distress</a:t>
            </a:r>
          </a:p>
          <a:p>
            <a:pPr marL="0" lvl="1" indent="0">
              <a:buNone/>
            </a:pPr>
            <a:r>
              <a:rPr lang="en-US" sz="1400" dirty="0"/>
              <a:t>Victims often experience significant emotional distress that affects their mental wellbeing and daily life.</a:t>
            </a:r>
          </a:p>
          <a:p>
            <a:pPr marL="0" indent="0">
              <a:spcBef>
                <a:spcPts val="2500"/>
              </a:spcBef>
              <a:buNone/>
            </a:pPr>
            <a:r>
              <a:rPr lang="en-US" sz="1400" b="1" dirty="0"/>
              <a:t>Social Withdrawal</a:t>
            </a:r>
          </a:p>
          <a:p>
            <a:pPr marL="0" lvl="1" indent="0">
              <a:buNone/>
            </a:pPr>
            <a:r>
              <a:rPr lang="en-US" sz="1400" dirty="0"/>
              <a:t>Social withdrawal is common, leading victims to isolate themselves from friends and social activities.</a:t>
            </a:r>
          </a:p>
          <a:p>
            <a:pPr marL="0" indent="0">
              <a:spcBef>
                <a:spcPts val="2500"/>
              </a:spcBef>
              <a:buNone/>
            </a:pPr>
            <a:r>
              <a:rPr lang="en-US" sz="1400" b="1" dirty="0"/>
              <a:t>Academic Decline</a:t>
            </a:r>
          </a:p>
          <a:p>
            <a:pPr marL="0" lvl="1" indent="0">
              <a:buNone/>
            </a:pPr>
            <a:r>
              <a:rPr lang="en-US" sz="1400" dirty="0"/>
              <a:t>Emotional and social challenges can cause a decline in victims' academic performance and engagement.</a:t>
            </a:r>
          </a:p>
          <a:p>
            <a:pPr marL="0" indent="0">
              <a:spcBef>
                <a:spcPts val="2500"/>
              </a:spcBef>
              <a:buNone/>
            </a:pPr>
            <a:r>
              <a:rPr lang="en-US" sz="1400" b="1" dirty="0"/>
              <a:t>Anxiety</a:t>
            </a:r>
          </a:p>
          <a:p>
            <a:pPr marL="0" lvl="1" indent="0">
              <a:buNone/>
            </a:pPr>
            <a:r>
              <a:rPr lang="en-US" sz="1400" dirty="0"/>
              <a:t>Cyber Bullying can lead to constant anxious feelings related to comments or attacks made from cyber bullies online.</a:t>
            </a:r>
          </a:p>
          <a:p>
            <a:pPr marL="0" lvl="1" indent="0">
              <a:buNone/>
            </a:pPr>
            <a:endParaRPr lang="en-NZ" sz="1400" dirty="0"/>
          </a:p>
        </p:txBody>
      </p:sp>
    </p:spTree>
    <p:extLst>
      <p:ext uri="{BB962C8B-B14F-4D97-AF65-F5344CB8AC3E}">
        <p14:creationId xmlns:p14="http://schemas.microsoft.com/office/powerpoint/2010/main" val="1891194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E0BC1-E1D1-E777-4F9D-A6FCA9A61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A3D94-FB52-1ADE-88A6-400DC755D5A6}"/>
              </a:ext>
            </a:extLst>
          </p:cNvPr>
          <p:cNvSpPr>
            <a:spLocks noGrp="1"/>
          </p:cNvSpPr>
          <p:nvPr>
            <p:ph type="title"/>
          </p:nvPr>
        </p:nvSpPr>
        <p:spPr/>
        <p:txBody>
          <a:bodyPr/>
          <a:lstStyle/>
          <a:p>
            <a:r>
              <a:rPr lang="en-NZ" dirty="0"/>
              <a:t>Consider:</a:t>
            </a:r>
          </a:p>
        </p:txBody>
      </p:sp>
      <p:sp>
        <p:nvSpPr>
          <p:cNvPr id="3" name="Content Placeholder 2">
            <a:extLst>
              <a:ext uri="{FF2B5EF4-FFF2-40B4-BE49-F238E27FC236}">
                <a16:creationId xmlns:a16="http://schemas.microsoft.com/office/drawing/2014/main" id="{37909C43-3326-31E5-708D-C78B8E7047CA}"/>
              </a:ext>
            </a:extLst>
          </p:cNvPr>
          <p:cNvSpPr>
            <a:spLocks noGrp="1"/>
          </p:cNvSpPr>
          <p:nvPr>
            <p:ph idx="1"/>
          </p:nvPr>
        </p:nvSpPr>
        <p:spPr>
          <a:xfrm>
            <a:off x="640080" y="2633472"/>
            <a:ext cx="10325463" cy="3566160"/>
          </a:xfrm>
        </p:spPr>
        <p:txBody>
          <a:bodyPr>
            <a:normAutofit/>
          </a:bodyPr>
          <a:lstStyle/>
          <a:p>
            <a:r>
              <a:rPr lang="en-NZ" dirty="0"/>
              <a:t>The first or and old negative message, comment, or post you have received from someone online (doesn’t have to be bullying)</a:t>
            </a:r>
          </a:p>
          <a:p>
            <a:pPr lvl="1"/>
            <a:r>
              <a:rPr lang="en-NZ" dirty="0"/>
              <a:t>Can you still view that post/comment/message?</a:t>
            </a:r>
          </a:p>
          <a:p>
            <a:pPr lvl="1"/>
            <a:r>
              <a:rPr lang="en-NZ" dirty="0"/>
              <a:t>Is this person still in your life? (Do you see them?)</a:t>
            </a:r>
          </a:p>
          <a:p>
            <a:pPr lvl="1"/>
            <a:r>
              <a:rPr lang="en-NZ" dirty="0"/>
              <a:t>How does this comment/message affect you now?</a:t>
            </a:r>
          </a:p>
        </p:txBody>
      </p:sp>
    </p:spTree>
    <p:extLst>
      <p:ext uri="{BB962C8B-B14F-4D97-AF65-F5344CB8AC3E}">
        <p14:creationId xmlns:p14="http://schemas.microsoft.com/office/powerpoint/2010/main" val="3813245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9363C6D-DF6B-B6A4-28D8-686C8CAE6337}"/>
              </a:ext>
            </a:extLst>
          </p:cNvPr>
          <p:cNvSpPr>
            <a:spLocks noGrp="1"/>
          </p:cNvSpPr>
          <p:nvPr>
            <p:ph type="title"/>
          </p:nvPr>
        </p:nvSpPr>
        <p:spPr>
          <a:xfrm>
            <a:off x="640080" y="914400"/>
            <a:ext cx="3412998" cy="1839433"/>
          </a:xfrm>
        </p:spPr>
        <p:txBody>
          <a:bodyPr>
            <a:normAutofit/>
          </a:bodyPr>
          <a:lstStyle/>
          <a:p>
            <a:pPr>
              <a:lnSpc>
                <a:spcPct val="90000"/>
              </a:lnSpc>
            </a:pPr>
            <a:r>
              <a:rPr lang="en-NZ" sz="2500"/>
              <a:t>Potential Outcomes for Attackers: Legal, Educational, and Personal Consequences</a:t>
            </a:r>
          </a:p>
        </p:txBody>
      </p:sp>
      <p:graphicFrame>
        <p:nvGraphicFramePr>
          <p:cNvPr id="4" name="Content Placeholder 4">
            <a:extLst>
              <a:ext uri="{FF2B5EF4-FFF2-40B4-BE49-F238E27FC236}">
                <a16:creationId xmlns:a16="http://schemas.microsoft.com/office/drawing/2014/main" id="{DBA53BA7-95E2-4391-B8F8-AE6E48F0C865}"/>
              </a:ext>
            </a:extLst>
          </p:cNvPr>
          <p:cNvGraphicFramePr>
            <a:graphicFrameLocks noGrp="1"/>
          </p:cNvGraphicFramePr>
          <p:nvPr>
            <p:ph idx="1"/>
            <p:extLst>
              <p:ext uri="{D42A27DB-BD31-4B8C-83A1-F6EECF244321}">
                <p14:modId xmlns:p14="http://schemas.microsoft.com/office/powerpoint/2010/main" val="129359917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827015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A70FAB4-B93C-3F48-BB62-CF07444D174A}"/>
              </a:ext>
            </a:extLst>
          </p:cNvPr>
          <p:cNvSpPr>
            <a:spLocks noGrp="1"/>
          </p:cNvSpPr>
          <p:nvPr>
            <p:ph type="ctrTitle"/>
          </p:nvPr>
        </p:nvSpPr>
        <p:spPr>
          <a:xfrm>
            <a:off x="559219" y="1115844"/>
            <a:ext cx="7680960" cy="4631911"/>
          </a:xfrm>
        </p:spPr>
        <p:txBody>
          <a:bodyPr anchor="b">
            <a:normAutofit/>
          </a:bodyPr>
          <a:lstStyle/>
          <a:p>
            <a:r>
              <a:rPr lang="en-NZ" sz="6500"/>
              <a:t>Responding to and Preventing Cyberbullying</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030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CE1D7321-BE54-AC56-9558-0B6A25F2E950}"/>
              </a:ext>
            </a:extLst>
          </p:cNvPr>
          <p:cNvSpPr>
            <a:spLocks noGrp="1"/>
          </p:cNvSpPr>
          <p:nvPr>
            <p:ph type="title"/>
          </p:nvPr>
        </p:nvSpPr>
        <p:spPr>
          <a:xfrm>
            <a:off x="640080" y="914400"/>
            <a:ext cx="3412998" cy="1839433"/>
          </a:xfrm>
        </p:spPr>
        <p:txBody>
          <a:bodyPr>
            <a:normAutofit/>
          </a:bodyPr>
          <a:lstStyle/>
          <a:p>
            <a:pPr>
              <a:lnSpc>
                <a:spcPct val="90000"/>
              </a:lnSpc>
            </a:pPr>
            <a:r>
              <a:rPr lang="en-NZ" sz="3100" dirty="0"/>
              <a:t>Practical Steps: Blocking, Reporting, and Seeking Help</a:t>
            </a:r>
          </a:p>
        </p:txBody>
      </p:sp>
      <p:graphicFrame>
        <p:nvGraphicFramePr>
          <p:cNvPr id="4" name="Content Placeholder 4">
            <a:extLst>
              <a:ext uri="{FF2B5EF4-FFF2-40B4-BE49-F238E27FC236}">
                <a16:creationId xmlns:a16="http://schemas.microsoft.com/office/drawing/2014/main" id="{8AAB0ACA-15AE-47FA-9E7B-A77ACC7A5E43}"/>
              </a:ext>
            </a:extLst>
          </p:cNvPr>
          <p:cNvGraphicFramePr>
            <a:graphicFrameLocks noGrp="1"/>
          </p:cNvGraphicFramePr>
          <p:nvPr>
            <p:ph idx="1"/>
            <p:extLst>
              <p:ext uri="{D42A27DB-BD31-4B8C-83A1-F6EECF244321}">
                <p14:modId xmlns:p14="http://schemas.microsoft.com/office/powerpoint/2010/main" val="234213943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2" name="Picture 4" descr="Parents Teens Phone Royalty-Free Images ...">
            <a:extLst>
              <a:ext uri="{FF2B5EF4-FFF2-40B4-BE49-F238E27FC236}">
                <a16:creationId xmlns:a16="http://schemas.microsoft.com/office/drawing/2014/main" id="{DA90719A-6E9E-5921-9BD5-0890A388585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916" b="7190"/>
          <a:stretch>
            <a:fillRect/>
          </a:stretch>
        </p:blipFill>
        <p:spPr bwMode="auto">
          <a:xfrm>
            <a:off x="4632670" y="4717143"/>
            <a:ext cx="1788689" cy="1612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3631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7C67D0-BE25-DB47-3A54-F173C1F326C7}"/>
              </a:ext>
            </a:extLst>
          </p:cNvPr>
          <p:cNvSpPr>
            <a:spLocks noGrp="1"/>
          </p:cNvSpPr>
          <p:nvPr>
            <p:ph type="title"/>
          </p:nvPr>
        </p:nvSpPr>
        <p:spPr>
          <a:xfrm>
            <a:off x="640080" y="914400"/>
            <a:ext cx="3155406" cy="1097280"/>
          </a:xfrm>
        </p:spPr>
        <p:txBody>
          <a:bodyPr vert="horz" lIns="91440" tIns="45720" rIns="91440" bIns="45720" rtlCol="0" anchor="t">
            <a:normAutofit fontScale="90000"/>
          </a:bodyPr>
          <a:lstStyle/>
          <a:p>
            <a:pPr>
              <a:lnSpc>
                <a:spcPct val="90000"/>
              </a:lnSpc>
            </a:pPr>
            <a:r>
              <a:rPr lang="en-NZ" sz="3600" dirty="0"/>
              <a:t>Practical Steps: Blocking, Reporting, and Seeking Help</a:t>
            </a:r>
            <a:endParaRPr lang="en-US" sz="3400" dirty="0"/>
          </a:p>
        </p:txBody>
      </p:sp>
      <p:sp>
        <p:nvSpPr>
          <p:cNvPr id="4" name="Content Placeholder 3">
            <a:extLst>
              <a:ext uri="{FF2B5EF4-FFF2-40B4-BE49-F238E27FC236}">
                <a16:creationId xmlns:a16="http://schemas.microsoft.com/office/drawing/2014/main" id="{44FC956D-E13A-F498-52C8-11C745E15B5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 y="3224395"/>
            <a:ext cx="6291472" cy="4123944"/>
          </a:xfrm>
        </p:spPr>
        <p:txBody>
          <a:bodyPr>
            <a:normAutofit/>
          </a:bodyPr>
          <a:lstStyle/>
          <a:p>
            <a:pPr marL="0" indent="0">
              <a:spcBef>
                <a:spcPts val="2500"/>
              </a:spcBef>
              <a:buNone/>
            </a:pPr>
            <a:r>
              <a:rPr lang="en-US" sz="1400" b="1" dirty="0"/>
              <a:t>Protect Personal Information</a:t>
            </a:r>
          </a:p>
          <a:p>
            <a:pPr marL="0" lvl="1" indent="0">
              <a:buNone/>
            </a:pPr>
            <a:r>
              <a:rPr lang="en-US" sz="1400" dirty="0"/>
              <a:t>Keep personal details secure and enable privacy settings on social media to reduce potential risks and exposure to cyberbullying.</a:t>
            </a:r>
          </a:p>
          <a:p>
            <a:pPr marL="0" indent="0">
              <a:spcBef>
                <a:spcPts val="2500"/>
              </a:spcBef>
              <a:buNone/>
            </a:pPr>
            <a:r>
              <a:rPr lang="en-US" sz="1400" b="1" dirty="0"/>
              <a:t>Warn friends</a:t>
            </a:r>
          </a:p>
          <a:p>
            <a:pPr marL="0" lvl="1" indent="0">
              <a:buNone/>
            </a:pPr>
            <a:r>
              <a:rPr lang="en-US" sz="1400" dirty="0"/>
              <a:t>If it is from a mutual friend or account you can warn your friends or mutuals you trust to ensure they don’t go through the same thing.</a:t>
            </a:r>
            <a:endParaRPr lang="en-NZ" sz="1400" dirty="0"/>
          </a:p>
        </p:txBody>
      </p:sp>
      <p:pic>
        <p:nvPicPr>
          <p:cNvPr id="5" name="Content Placeholder 4" descr="Social media marketing network communication mobile phone app">
            <a:extLst>
              <a:ext uri="{FF2B5EF4-FFF2-40B4-BE49-F238E27FC236}">
                <a16:creationId xmlns:a16="http://schemas.microsoft.com/office/drawing/2014/main" id="{EB277104-E7C5-4889-A768-D402BFD1FE4A}"/>
              </a:ext>
            </a:extLst>
          </p:cNvPr>
          <p:cNvPicPr>
            <a:picLocks noGrp="1" noChangeAspect="1"/>
          </p:cNvPicPr>
          <p:nvPr>
            <p:ph sz="half" idx="1"/>
          </p:nvPr>
        </p:nvPicPr>
        <p:blipFill>
          <a:blip r:embed="rId3"/>
          <a:srcRect l="25165" r="19829"/>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15735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B205FA-1E5D-1B8F-5A68-53DE2E049305}"/>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dirty="0"/>
              <a:t>How to Support Peers Who Are Being Targeted</a:t>
            </a:r>
          </a:p>
        </p:txBody>
      </p:sp>
      <p:pic>
        <p:nvPicPr>
          <p:cNvPr id="5" name="Content Placeholder 4" descr="Group of students reading open books, standing and sitting on stairs indoors">
            <a:extLst>
              <a:ext uri="{FF2B5EF4-FFF2-40B4-BE49-F238E27FC236}">
                <a16:creationId xmlns:a16="http://schemas.microsoft.com/office/drawing/2014/main" id="{7F7F58C2-BE4D-4DEC-A4A9-8AD9E98F0FDA}"/>
              </a:ext>
            </a:extLst>
          </p:cNvPr>
          <p:cNvPicPr>
            <a:picLocks noGrp="1" noChangeAspect="1"/>
          </p:cNvPicPr>
          <p:nvPr>
            <p:ph sz="half" idx="1"/>
          </p:nvPr>
        </p:nvPicPr>
        <p:blipFill>
          <a:blip r:embed="rId3"/>
          <a:srcRect t="2829" b="13533"/>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0FF2E34-C79E-D7DE-2C92-62B9D97ECF1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dirty="0"/>
              <a:t>Offer Empathy</a:t>
            </a:r>
          </a:p>
          <a:p>
            <a:pPr marL="0" lvl="1" indent="0">
              <a:buNone/>
            </a:pPr>
            <a:r>
              <a:rPr lang="en-US" sz="1400" dirty="0"/>
              <a:t>Showing empathy helps victims feel understood and supported during difficult times.</a:t>
            </a:r>
          </a:p>
          <a:p>
            <a:pPr marL="0" indent="0">
              <a:spcBef>
                <a:spcPts val="2500"/>
              </a:spcBef>
              <a:buNone/>
            </a:pPr>
            <a:r>
              <a:rPr lang="en-US" sz="1400" b="1" dirty="0"/>
              <a:t>Stand Against Bullying</a:t>
            </a:r>
          </a:p>
          <a:p>
            <a:pPr marL="0" lvl="1" indent="0">
              <a:buNone/>
            </a:pPr>
            <a:r>
              <a:rPr lang="en-US" sz="1400" dirty="0"/>
              <a:t>Actively opposing bullying promotes a safer and more inclusive community.</a:t>
            </a:r>
          </a:p>
          <a:p>
            <a:pPr marL="0" indent="0">
              <a:spcBef>
                <a:spcPts val="2500"/>
              </a:spcBef>
              <a:buNone/>
            </a:pPr>
            <a:r>
              <a:rPr lang="en-US" sz="1400" b="1" dirty="0"/>
              <a:t>Encourage Seeking Help</a:t>
            </a:r>
          </a:p>
          <a:p>
            <a:pPr marL="0" lvl="1" indent="0">
              <a:buNone/>
            </a:pPr>
            <a:r>
              <a:rPr lang="en-US" sz="1400" dirty="0"/>
              <a:t>Motivating victims to seek help connects them to necessary resources and assistance.</a:t>
            </a:r>
            <a:endParaRPr lang="en-NZ" sz="1400" dirty="0"/>
          </a:p>
        </p:txBody>
      </p:sp>
    </p:spTree>
    <p:extLst>
      <p:ext uri="{BB962C8B-B14F-4D97-AF65-F5344CB8AC3E}">
        <p14:creationId xmlns:p14="http://schemas.microsoft.com/office/powerpoint/2010/main" val="25582662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3A1805-295B-A514-4908-BBD4DFA5D1DD}"/>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dirty="0"/>
              <a:t>Activity:</a:t>
            </a:r>
          </a:p>
        </p:txBody>
      </p:sp>
      <p:sp>
        <p:nvSpPr>
          <p:cNvPr id="4" name="Content Placeholder 3">
            <a:extLst>
              <a:ext uri="{FF2B5EF4-FFF2-40B4-BE49-F238E27FC236}">
                <a16:creationId xmlns:a16="http://schemas.microsoft.com/office/drawing/2014/main" id="{D079EDD1-8DE3-56C5-D28A-BE39E168097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400" b="1" dirty="0"/>
              <a:t>Victim:</a:t>
            </a:r>
          </a:p>
          <a:p>
            <a:pPr marL="0" lvl="1" indent="0">
              <a:buNone/>
            </a:pPr>
            <a:r>
              <a:rPr lang="en-US" sz="1400" dirty="0"/>
              <a:t>You are being cyber bullied by someone online, how do you address it?</a:t>
            </a:r>
          </a:p>
          <a:p>
            <a:pPr marL="0" indent="0">
              <a:spcBef>
                <a:spcPts val="2500"/>
              </a:spcBef>
              <a:buNone/>
            </a:pPr>
            <a:r>
              <a:rPr lang="en-US" sz="1400" b="1" dirty="0"/>
              <a:t>Friend of a Victim:</a:t>
            </a:r>
          </a:p>
          <a:p>
            <a:pPr marL="0" lvl="1" indent="0">
              <a:buNone/>
            </a:pPr>
            <a:r>
              <a:rPr lang="en-US" sz="1400" dirty="0"/>
              <a:t>A friend of yours has come to you saying they were a victim of cyber bullying, how do you help them?</a:t>
            </a:r>
          </a:p>
          <a:p>
            <a:pPr marL="0" indent="0">
              <a:spcBef>
                <a:spcPts val="2500"/>
              </a:spcBef>
              <a:buNone/>
            </a:pPr>
            <a:r>
              <a:rPr lang="en-US" sz="1400" b="1" dirty="0"/>
              <a:t>Witness of a Victim:</a:t>
            </a:r>
          </a:p>
          <a:p>
            <a:pPr marL="0" lvl="1" indent="0">
              <a:buNone/>
            </a:pPr>
            <a:r>
              <a:rPr lang="en-NZ" sz="1400" dirty="0"/>
              <a:t>You are scrolling on </a:t>
            </a:r>
            <a:r>
              <a:rPr lang="en-NZ" sz="1400" dirty="0" err="1"/>
              <a:t>tikbook</a:t>
            </a:r>
            <a:r>
              <a:rPr lang="en-NZ" sz="1400" dirty="0"/>
              <a:t> and see someone has commented harmful things on another’s post, you are not close with the victim but you can tell it is not a joke, what do you do?</a:t>
            </a:r>
          </a:p>
          <a:p>
            <a:pPr marL="0" lvl="1" indent="0">
              <a:buNone/>
            </a:pPr>
            <a:endParaRPr lang="en-NZ" sz="1400" dirty="0"/>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8" name="Content Placeholder 7" descr="A colourful pile of yarn turned into a yellow yarn light bulb">
            <a:extLst>
              <a:ext uri="{FF2B5EF4-FFF2-40B4-BE49-F238E27FC236}">
                <a16:creationId xmlns:a16="http://schemas.microsoft.com/office/drawing/2014/main" id="{97774AB3-37F5-11A4-D34B-B95C2D047DA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940710" y="1463040"/>
            <a:ext cx="5211762" cy="3473659"/>
          </a:xfrm>
        </p:spPr>
      </p:pic>
    </p:spTree>
    <p:extLst>
      <p:ext uri="{BB962C8B-B14F-4D97-AF65-F5344CB8AC3E}">
        <p14:creationId xmlns:p14="http://schemas.microsoft.com/office/powerpoint/2010/main" val="3569160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F089E16-1633-2C5F-EF73-14ECC7AA7164}"/>
              </a:ext>
            </a:extLst>
          </p:cNvPr>
          <p:cNvSpPr>
            <a:spLocks noGrp="1"/>
          </p:cNvSpPr>
          <p:nvPr>
            <p:ph type="ctrTitle"/>
          </p:nvPr>
        </p:nvSpPr>
        <p:spPr>
          <a:xfrm>
            <a:off x="559219" y="1115844"/>
            <a:ext cx="7680960" cy="4631911"/>
          </a:xfrm>
        </p:spPr>
        <p:txBody>
          <a:bodyPr anchor="b">
            <a:normAutofit/>
          </a:bodyPr>
          <a:lstStyle/>
          <a:p>
            <a:r>
              <a:rPr lang="en-NZ" sz="6500"/>
              <a:t>Understanding Your Digital Footprint</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444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C156B-3B5A-B127-9D29-A52467E56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2FA8D-335D-D3E6-7710-2BC80E4ADE41}"/>
              </a:ext>
            </a:extLst>
          </p:cNvPr>
          <p:cNvSpPr>
            <a:spLocks noGrp="1"/>
          </p:cNvSpPr>
          <p:nvPr>
            <p:ph type="title"/>
          </p:nvPr>
        </p:nvSpPr>
        <p:spPr/>
        <p:txBody>
          <a:bodyPr/>
          <a:lstStyle/>
          <a:p>
            <a:r>
              <a:rPr lang="en-NZ" dirty="0"/>
              <a:t>What is your Digital Footprint?</a:t>
            </a:r>
          </a:p>
        </p:txBody>
      </p:sp>
      <p:sp>
        <p:nvSpPr>
          <p:cNvPr id="3" name="Content Placeholder 2">
            <a:extLst>
              <a:ext uri="{FF2B5EF4-FFF2-40B4-BE49-F238E27FC236}">
                <a16:creationId xmlns:a16="http://schemas.microsoft.com/office/drawing/2014/main" id="{21B62BB0-C544-77C8-3DD0-54AED524B34F}"/>
              </a:ext>
            </a:extLst>
          </p:cNvPr>
          <p:cNvSpPr>
            <a:spLocks noGrp="1"/>
          </p:cNvSpPr>
          <p:nvPr>
            <p:ph idx="1"/>
          </p:nvPr>
        </p:nvSpPr>
        <p:spPr/>
        <p:txBody>
          <a:bodyPr/>
          <a:lstStyle/>
          <a:p>
            <a:r>
              <a:rPr lang="en-NZ" dirty="0"/>
              <a:t>A digital history of what you have posted or done while on a device</a:t>
            </a:r>
          </a:p>
          <a:p>
            <a:r>
              <a:rPr lang="en-NZ" dirty="0"/>
              <a:t>Cyber Security: Non – Repudiation -&gt; The inability to deny that an action was carried out by someone as a history is kept.</a:t>
            </a:r>
          </a:p>
        </p:txBody>
      </p:sp>
    </p:spTree>
    <p:extLst>
      <p:ext uri="{BB962C8B-B14F-4D97-AF65-F5344CB8AC3E}">
        <p14:creationId xmlns:p14="http://schemas.microsoft.com/office/powerpoint/2010/main" val="1771373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D06C86-0812-66F1-982F-6EAD57771AFE}"/>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300"/>
              <a:t>How Online Posts, Pictures, and Comments Can Be Permanent</a:t>
            </a:r>
          </a:p>
        </p:txBody>
      </p:sp>
      <p:pic>
        <p:nvPicPr>
          <p:cNvPr id="5" name="Content Placeholder 4" descr="imprint">
            <a:extLst>
              <a:ext uri="{FF2B5EF4-FFF2-40B4-BE49-F238E27FC236}">
                <a16:creationId xmlns:a16="http://schemas.microsoft.com/office/drawing/2014/main" id="{8CA78ADA-2865-4261-BC8C-D1DD0777F53D}"/>
              </a:ext>
            </a:extLst>
          </p:cNvPr>
          <p:cNvPicPr>
            <a:picLocks noGrp="1" noChangeAspect="1"/>
          </p:cNvPicPr>
          <p:nvPr>
            <p:ph sz="half" idx="1"/>
          </p:nvPr>
        </p:nvPicPr>
        <p:blipFill>
          <a:blip r:embed="rId3"/>
          <a:srcRect l="673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01DBCA6-DAC0-69AD-A30C-223C9984AC6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Permanence of Online Content</a:t>
            </a:r>
          </a:p>
          <a:p>
            <a:pPr marL="0" lvl="1" indent="0">
              <a:buNone/>
            </a:pPr>
            <a:r>
              <a:rPr lang="en-US" sz="1400"/>
              <a:t>Content posted online can remain accessible even after deletion due to sharing and saving by others.</a:t>
            </a:r>
          </a:p>
          <a:p>
            <a:pPr marL="0" indent="0">
              <a:spcBef>
                <a:spcPts val="2500"/>
              </a:spcBef>
              <a:buNone/>
            </a:pPr>
            <a:r>
              <a:rPr lang="en-US" sz="1400" b="1"/>
              <a:t>Importance of Caution</a:t>
            </a:r>
          </a:p>
          <a:p>
            <a:pPr marL="0" lvl="1" indent="0">
              <a:buNone/>
            </a:pPr>
            <a:r>
              <a:rPr lang="en-US" sz="1400"/>
              <a:t>Thinking carefully before posting helps prevent unintended lasting consequences in digital spaces.</a:t>
            </a:r>
            <a:endParaRPr lang="en-NZ" sz="1400"/>
          </a:p>
        </p:txBody>
      </p:sp>
    </p:spTree>
    <p:extLst>
      <p:ext uri="{BB962C8B-B14F-4D97-AF65-F5344CB8AC3E}">
        <p14:creationId xmlns:p14="http://schemas.microsoft.com/office/powerpoint/2010/main" val="614865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7FC0-F9C1-5720-1562-50B4DA5BCC15}"/>
              </a:ext>
            </a:extLst>
          </p:cNvPr>
          <p:cNvSpPr>
            <a:spLocks noGrp="1"/>
          </p:cNvSpPr>
          <p:nvPr>
            <p:ph type="title"/>
          </p:nvPr>
        </p:nvSpPr>
        <p:spPr/>
        <p:txBody>
          <a:bodyPr/>
          <a:lstStyle/>
          <a:p>
            <a:r>
              <a:rPr lang="en-NZ" dirty="0"/>
              <a:t>Activity:</a:t>
            </a:r>
          </a:p>
        </p:txBody>
      </p:sp>
      <p:sp>
        <p:nvSpPr>
          <p:cNvPr id="3" name="Content Placeholder 2">
            <a:extLst>
              <a:ext uri="{FF2B5EF4-FFF2-40B4-BE49-F238E27FC236}">
                <a16:creationId xmlns:a16="http://schemas.microsoft.com/office/drawing/2014/main" id="{F7EAA885-4D82-A04F-1617-5B40EB51B8E0}"/>
              </a:ext>
            </a:extLst>
          </p:cNvPr>
          <p:cNvSpPr>
            <a:spLocks noGrp="1"/>
          </p:cNvSpPr>
          <p:nvPr>
            <p:ph sz="half" idx="1"/>
          </p:nvPr>
        </p:nvSpPr>
        <p:spPr/>
        <p:txBody>
          <a:bodyPr/>
          <a:lstStyle/>
          <a:p>
            <a:r>
              <a:rPr lang="en-NZ" dirty="0"/>
              <a:t>Go onto </a:t>
            </a:r>
            <a:r>
              <a:rPr lang="en-NZ" dirty="0" err="1"/>
              <a:t>facebook</a:t>
            </a:r>
            <a:r>
              <a:rPr lang="en-NZ" dirty="0"/>
              <a:t>/Instagram and find the oldest photo of a family member or friend you can find.</a:t>
            </a:r>
          </a:p>
        </p:txBody>
      </p:sp>
      <p:sp>
        <p:nvSpPr>
          <p:cNvPr id="4" name="Content Placeholder 3">
            <a:extLst>
              <a:ext uri="{FF2B5EF4-FFF2-40B4-BE49-F238E27FC236}">
                <a16:creationId xmlns:a16="http://schemas.microsoft.com/office/drawing/2014/main" id="{AC8C5C44-D25D-E057-D3F3-3538C0028B3A}"/>
              </a:ext>
            </a:extLst>
          </p:cNvPr>
          <p:cNvSpPr>
            <a:spLocks noGrp="1"/>
          </p:cNvSpPr>
          <p:nvPr>
            <p:ph sz="half" idx="2"/>
          </p:nvPr>
        </p:nvSpPr>
        <p:spPr/>
        <p:txBody>
          <a:bodyPr/>
          <a:lstStyle/>
          <a:p>
            <a:r>
              <a:rPr lang="en-NZ" dirty="0"/>
              <a:t>Type up a family member’s or friend’s name into the google search bar.</a:t>
            </a:r>
          </a:p>
        </p:txBody>
      </p:sp>
    </p:spTree>
    <p:extLst>
      <p:ext uri="{BB962C8B-B14F-4D97-AF65-F5344CB8AC3E}">
        <p14:creationId xmlns:p14="http://schemas.microsoft.com/office/powerpoint/2010/main" val="4058344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39C3245-08D1-5E5E-57EA-7F713788DF08}"/>
              </a:ext>
            </a:extLst>
          </p:cNvPr>
          <p:cNvSpPr>
            <a:spLocks noGrp="1"/>
          </p:cNvSpPr>
          <p:nvPr>
            <p:ph type="title"/>
          </p:nvPr>
        </p:nvSpPr>
        <p:spPr>
          <a:xfrm>
            <a:off x="640080" y="914400"/>
            <a:ext cx="3412998" cy="1839433"/>
          </a:xfrm>
        </p:spPr>
        <p:txBody>
          <a:bodyPr>
            <a:normAutofit/>
          </a:bodyPr>
          <a:lstStyle/>
          <a:p>
            <a:pPr>
              <a:lnSpc>
                <a:spcPct val="90000"/>
              </a:lnSpc>
            </a:pPr>
            <a:r>
              <a:rPr lang="en-NZ" sz="2800"/>
              <a:t>Who Can See Your Digital Footprint: Companies, Schools, and Strangers</a:t>
            </a:r>
          </a:p>
        </p:txBody>
      </p:sp>
      <p:graphicFrame>
        <p:nvGraphicFramePr>
          <p:cNvPr id="4" name="Content Placeholder 4">
            <a:extLst>
              <a:ext uri="{FF2B5EF4-FFF2-40B4-BE49-F238E27FC236}">
                <a16:creationId xmlns:a16="http://schemas.microsoft.com/office/drawing/2014/main" id="{F5FF0D04-90FB-4DAB-B3B2-C78BA73A92AA}"/>
              </a:ext>
            </a:extLst>
          </p:cNvPr>
          <p:cNvGraphicFramePr>
            <a:graphicFrameLocks noGrp="1"/>
          </p:cNvGraphicFramePr>
          <p:nvPr>
            <p:ph idx="1"/>
            <p:extLst>
              <p:ext uri="{D42A27DB-BD31-4B8C-83A1-F6EECF244321}">
                <p14:modId xmlns:p14="http://schemas.microsoft.com/office/powerpoint/2010/main" val="37791639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33623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10F57F1-0617-7755-6512-7E72B131E6AF}"/>
              </a:ext>
            </a:extLst>
          </p:cNvPr>
          <p:cNvSpPr>
            <a:spLocks noGrp="1"/>
          </p:cNvSpPr>
          <p:nvPr>
            <p:ph type="ctrTitle"/>
          </p:nvPr>
        </p:nvSpPr>
        <p:spPr>
          <a:xfrm>
            <a:off x="559219" y="1115844"/>
            <a:ext cx="7680960" cy="4631911"/>
          </a:xfrm>
        </p:spPr>
        <p:txBody>
          <a:bodyPr anchor="b">
            <a:normAutofit/>
          </a:bodyPr>
          <a:lstStyle/>
          <a:p>
            <a:r>
              <a:rPr lang="en-NZ" sz="6500"/>
              <a:t>Real-World Consequences and Staying Safe Online</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9267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F9028-7DD5-DF7D-FEE0-32C486EBB3A9}"/>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100"/>
              <a:t>Examples of Old Posts Resurfacing and Their Impact on Opportunities</a:t>
            </a:r>
          </a:p>
        </p:txBody>
      </p:sp>
      <p:pic>
        <p:nvPicPr>
          <p:cNvPr id="5" name="Content Placeholder 4" descr="The unrecognisable young adult woman uses her smart phone to pull up doctor reviews.  She is sitting at a cafe.">
            <a:extLst>
              <a:ext uri="{FF2B5EF4-FFF2-40B4-BE49-F238E27FC236}">
                <a16:creationId xmlns:a16="http://schemas.microsoft.com/office/drawing/2014/main" id="{CDC02A0E-7797-4D95-82A7-125E40A957F6}"/>
              </a:ext>
            </a:extLst>
          </p:cNvPr>
          <p:cNvPicPr>
            <a:picLocks noGrp="1" noChangeAspect="1"/>
          </p:cNvPicPr>
          <p:nvPr>
            <p:ph sz="half" idx="1"/>
          </p:nvPr>
        </p:nvPicPr>
        <p:blipFill>
          <a:blip r:embed="rId3"/>
          <a:srcRect l="31642" r="13292"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64E4123-7909-3CBB-B329-219B6EF3193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Impact on Job Prospects</a:t>
            </a:r>
          </a:p>
          <a:p>
            <a:pPr marL="0" lvl="1" indent="0">
              <a:buNone/>
            </a:pPr>
            <a:r>
              <a:rPr lang="en-US" sz="1400"/>
              <a:t>Old online posts can influence employers' decisions, affecting candidates' job opportunities negatively or positively.</a:t>
            </a:r>
          </a:p>
          <a:p>
            <a:pPr marL="0" indent="0">
              <a:spcBef>
                <a:spcPts val="2500"/>
              </a:spcBef>
              <a:buNone/>
            </a:pPr>
            <a:r>
              <a:rPr lang="en-US" sz="1400" b="1"/>
              <a:t>Effect on Personal Relationships</a:t>
            </a:r>
          </a:p>
          <a:p>
            <a:pPr marL="0" lvl="1" indent="0">
              <a:buNone/>
            </a:pPr>
            <a:r>
              <a:rPr lang="en-US" sz="1400"/>
              <a:t>Resurfaced posts may affect trust and perceptions within personal relationships, highlighting risks of past online behaviour.</a:t>
            </a:r>
          </a:p>
          <a:p>
            <a:pPr marL="0" indent="0">
              <a:spcBef>
                <a:spcPts val="2500"/>
              </a:spcBef>
              <a:buNone/>
            </a:pPr>
            <a:r>
              <a:rPr lang="en-US" sz="1400" b="1"/>
              <a:t>Need for Mindful Online Behaviour</a:t>
            </a:r>
          </a:p>
          <a:p>
            <a:pPr marL="0" lvl="1" indent="0">
              <a:buNone/>
            </a:pPr>
            <a:r>
              <a:rPr lang="en-US" sz="1400"/>
              <a:t>Being cautious about what is shared online is crucial to protect future opportunities and personal reputation.</a:t>
            </a:r>
            <a:endParaRPr lang="en-NZ" sz="1400"/>
          </a:p>
        </p:txBody>
      </p:sp>
    </p:spTree>
    <p:extLst>
      <p:ext uri="{BB962C8B-B14F-4D97-AF65-F5344CB8AC3E}">
        <p14:creationId xmlns:p14="http://schemas.microsoft.com/office/powerpoint/2010/main" val="1843801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70067B-0BB9-B42A-6E94-F72DC5A00B08}"/>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300"/>
              <a:t>Tips for Managing Your Online Presence and Privacy Settings</a:t>
            </a:r>
          </a:p>
        </p:txBody>
      </p:sp>
      <p:pic>
        <p:nvPicPr>
          <p:cNvPr id="5" name="Content Placeholder 4" descr="Daily medicine reminder app on smart phone screen, home interior. Hand wearing disposable latex glove holding phone.">
            <a:extLst>
              <a:ext uri="{FF2B5EF4-FFF2-40B4-BE49-F238E27FC236}">
                <a16:creationId xmlns:a16="http://schemas.microsoft.com/office/drawing/2014/main" id="{CD8FCA64-873F-41C8-9F49-6783F623A799}"/>
              </a:ext>
            </a:extLst>
          </p:cNvPr>
          <p:cNvPicPr>
            <a:picLocks noGrp="1" noChangeAspect="1"/>
          </p:cNvPicPr>
          <p:nvPr>
            <p:ph sz="half" idx="1"/>
          </p:nvPr>
        </p:nvPicPr>
        <p:blipFill>
          <a:blip r:embed="rId3"/>
          <a:srcRect l="15626" r="1370"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7A28906-6DA7-DB23-F3FE-D03B3048043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Review Privacy Settings</a:t>
            </a:r>
          </a:p>
          <a:p>
            <a:pPr marL="0" lvl="1" indent="0">
              <a:buNone/>
            </a:pPr>
            <a:r>
              <a:rPr lang="en-US" sz="1400"/>
              <a:t>Regularly check and update your privacy settings on social media platforms to control visibility.</a:t>
            </a:r>
          </a:p>
          <a:p>
            <a:pPr marL="0" indent="0">
              <a:spcBef>
                <a:spcPts val="2500"/>
              </a:spcBef>
              <a:buNone/>
            </a:pPr>
            <a:r>
              <a:rPr lang="en-US" sz="1400" b="1"/>
              <a:t>Be Selective Sharing</a:t>
            </a:r>
          </a:p>
          <a:p>
            <a:pPr marL="0" lvl="1" indent="0">
              <a:buNone/>
            </a:pPr>
            <a:r>
              <a:rPr lang="en-US" sz="1400"/>
              <a:t>Share personal information cautiously to protect your digital reputation and personal security.</a:t>
            </a:r>
            <a:endParaRPr lang="en-NZ" sz="1400"/>
          </a:p>
        </p:txBody>
      </p:sp>
    </p:spTree>
    <p:extLst>
      <p:ext uri="{BB962C8B-B14F-4D97-AF65-F5344CB8AC3E}">
        <p14:creationId xmlns:p14="http://schemas.microsoft.com/office/powerpoint/2010/main" val="395653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3C4A10-B922-BC0C-08D5-0E1BB877B006}"/>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100"/>
              <a:t>Building a Positive Digital Reputation and Making Informed Choices</a:t>
            </a:r>
          </a:p>
        </p:txBody>
      </p:sp>
      <p:pic>
        <p:nvPicPr>
          <p:cNvPr id="5" name="Content Placeholder 4" descr="Close-up of a man holding a mobile phone with user icons drawn on blackboard representing the concept of social networking.">
            <a:extLst>
              <a:ext uri="{FF2B5EF4-FFF2-40B4-BE49-F238E27FC236}">
                <a16:creationId xmlns:a16="http://schemas.microsoft.com/office/drawing/2014/main" id="{06716FCD-FC32-48F5-BC87-6EC49FD245C5}"/>
              </a:ext>
            </a:extLst>
          </p:cNvPr>
          <p:cNvPicPr>
            <a:picLocks noGrp="1" noChangeAspect="1"/>
          </p:cNvPicPr>
          <p:nvPr>
            <p:ph sz="half" idx="1"/>
          </p:nvPr>
        </p:nvPicPr>
        <p:blipFill>
          <a:blip r:embed="rId3"/>
          <a:srcRect l="23115" r="21818"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5B51069-7356-FBF6-7406-B8F57B3BFD8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Thoughtful Online Presence</a:t>
            </a:r>
          </a:p>
          <a:p>
            <a:pPr marL="0" lvl="1" indent="0">
              <a:buNone/>
            </a:pPr>
            <a:r>
              <a:rPr lang="en-US" sz="1400"/>
              <a:t>Being mindful about what you share online helps build a positive and respectful digital reputation.</a:t>
            </a:r>
          </a:p>
          <a:p>
            <a:pPr marL="0" indent="0">
              <a:spcBef>
                <a:spcPts val="2500"/>
              </a:spcBef>
              <a:buNone/>
            </a:pPr>
            <a:r>
              <a:rPr lang="en-US" sz="1400" b="1"/>
              <a:t>Reflecting True Character</a:t>
            </a:r>
          </a:p>
          <a:p>
            <a:pPr marL="0" lvl="1" indent="0">
              <a:buNone/>
            </a:pPr>
            <a:r>
              <a:rPr lang="en-US" sz="1400"/>
              <a:t>A positive digital reputation showcases your genuine values and influences opportunities positively.</a:t>
            </a:r>
          </a:p>
          <a:p>
            <a:pPr marL="0" indent="0">
              <a:spcBef>
                <a:spcPts val="2500"/>
              </a:spcBef>
              <a:buNone/>
            </a:pPr>
            <a:r>
              <a:rPr lang="en-US" sz="1400" b="1"/>
              <a:t>Making Informed Choices</a:t>
            </a:r>
          </a:p>
          <a:p>
            <a:pPr marL="0" lvl="1" indent="0">
              <a:buNone/>
            </a:pPr>
            <a:r>
              <a:rPr lang="en-US" sz="1400"/>
              <a:t>Careful decision-making online prevents misunderstandings and promotes constructive interactions.</a:t>
            </a:r>
            <a:endParaRPr lang="en-NZ" sz="1400"/>
          </a:p>
        </p:txBody>
      </p:sp>
    </p:spTree>
    <p:extLst>
      <p:ext uri="{BB962C8B-B14F-4D97-AF65-F5344CB8AC3E}">
        <p14:creationId xmlns:p14="http://schemas.microsoft.com/office/powerpoint/2010/main" val="2867339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642B2D5-155A-90DF-A99E-C19A8FE86A52}"/>
              </a:ext>
            </a:extLst>
          </p:cNvPr>
          <p:cNvSpPr>
            <a:spLocks noGrp="1"/>
          </p:cNvSpPr>
          <p:nvPr>
            <p:ph type="title"/>
          </p:nvPr>
        </p:nvSpPr>
        <p:spPr>
          <a:xfrm>
            <a:off x="640079" y="1572768"/>
            <a:ext cx="8162176" cy="1406993"/>
          </a:xfrm>
        </p:spPr>
        <p:txBody>
          <a:bodyPr anchor="b">
            <a:normAutofit/>
          </a:bodyPr>
          <a:lstStyle/>
          <a:p>
            <a:pPr>
              <a:lnSpc>
                <a:spcPct val="90000"/>
              </a:lnSpc>
            </a:pPr>
            <a:r>
              <a:rPr lang="en-NZ" sz="3800" dirty="0"/>
              <a:t>Conclusion: Empowering Yourself for Safe and Responsible Online Living</a:t>
            </a:r>
          </a:p>
        </p:txBody>
      </p:sp>
      <p:graphicFrame>
        <p:nvGraphicFramePr>
          <p:cNvPr id="11" name="Content Placeholder 2">
            <a:extLst>
              <a:ext uri="{FF2B5EF4-FFF2-40B4-BE49-F238E27FC236}">
                <a16:creationId xmlns:a16="http://schemas.microsoft.com/office/drawing/2014/main" id="{6409E621-256B-9DC8-1EC5-258D9E4BDDA1}"/>
              </a:ext>
            </a:extLst>
          </p:cNvPr>
          <p:cNvGraphicFramePr>
            <a:graphicFrameLocks noGrp="1"/>
          </p:cNvGraphicFramePr>
          <p:nvPr>
            <p:ph idx="1"/>
            <p:extLst>
              <p:ext uri="{D42A27DB-BD31-4B8C-83A1-F6EECF244321}">
                <p14:modId xmlns:p14="http://schemas.microsoft.com/office/powerpoint/2010/main" val="185820327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428285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140D42-1F8E-C39B-C544-64939D95D2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5CE6A1-22E5-E1A9-DF5B-C6B34882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27DAB88E-544F-4DA3-E64D-AA29CF3B5521}"/>
              </a:ext>
            </a:extLst>
          </p:cNvPr>
          <p:cNvSpPr>
            <a:spLocks noGrp="1"/>
          </p:cNvSpPr>
          <p:nvPr>
            <p:ph type="title"/>
          </p:nvPr>
        </p:nvSpPr>
        <p:spPr>
          <a:xfrm>
            <a:off x="640079" y="1572768"/>
            <a:ext cx="8162176" cy="1406993"/>
          </a:xfrm>
        </p:spPr>
        <p:txBody>
          <a:bodyPr anchor="b">
            <a:normAutofit/>
          </a:bodyPr>
          <a:lstStyle/>
          <a:p>
            <a:pPr>
              <a:lnSpc>
                <a:spcPct val="90000"/>
              </a:lnSpc>
            </a:pPr>
            <a:r>
              <a:rPr lang="en-NZ" sz="3800" dirty="0"/>
              <a:t>Assignments:</a:t>
            </a:r>
          </a:p>
        </p:txBody>
      </p:sp>
      <p:cxnSp>
        <p:nvCxnSpPr>
          <p:cNvPr id="10" name="Straight Connector 9">
            <a:extLst>
              <a:ext uri="{FF2B5EF4-FFF2-40B4-BE49-F238E27FC236}">
                <a16:creationId xmlns:a16="http://schemas.microsoft.com/office/drawing/2014/main" id="{7AD846C4-3FB1-9B2B-FBFD-E36521146B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03460B7-03AB-A9AD-7649-AD8A4FE30C67}"/>
              </a:ext>
            </a:extLst>
          </p:cNvPr>
          <p:cNvSpPr>
            <a:spLocks noGrp="1"/>
          </p:cNvSpPr>
          <p:nvPr>
            <p:ph idx="1"/>
          </p:nvPr>
        </p:nvSpPr>
        <p:spPr>
          <a:xfrm>
            <a:off x="640080" y="3534170"/>
            <a:ext cx="10890928" cy="2665462"/>
          </a:xfrm>
        </p:spPr>
        <p:txBody>
          <a:bodyPr/>
          <a:lstStyle/>
          <a:p>
            <a:r>
              <a:rPr lang="en-NZ" dirty="0"/>
              <a:t>Assignment 1: Make sure that only people you trust can see your page (Private) and delete anything you don’t want to be on the internet</a:t>
            </a:r>
          </a:p>
          <a:p>
            <a:r>
              <a:rPr lang="en-NZ" dirty="0"/>
              <a:t>Assignment 2: Share a plan you have with someone about what you will do if you get cyber bullied or find out someone you know is being cyber bullied</a:t>
            </a:r>
          </a:p>
        </p:txBody>
      </p:sp>
    </p:spTree>
    <p:extLst>
      <p:ext uri="{BB962C8B-B14F-4D97-AF65-F5344CB8AC3E}">
        <p14:creationId xmlns:p14="http://schemas.microsoft.com/office/powerpoint/2010/main" val="221102945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98B751-AB7E-6BC8-27CB-DAC43E418B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EE5E926-265A-8EA8-7468-218B3B936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E4DBC57-87D0-0DF6-85BB-7C4088FCEFB4}"/>
              </a:ext>
            </a:extLst>
          </p:cNvPr>
          <p:cNvSpPr>
            <a:spLocks noGrp="1"/>
          </p:cNvSpPr>
          <p:nvPr>
            <p:ph type="title"/>
          </p:nvPr>
        </p:nvSpPr>
        <p:spPr>
          <a:xfrm>
            <a:off x="640079" y="1572768"/>
            <a:ext cx="8162176" cy="1406993"/>
          </a:xfrm>
        </p:spPr>
        <p:txBody>
          <a:bodyPr anchor="b">
            <a:normAutofit/>
          </a:bodyPr>
          <a:lstStyle/>
          <a:p>
            <a:pPr>
              <a:lnSpc>
                <a:spcPct val="90000"/>
              </a:lnSpc>
            </a:pPr>
            <a:r>
              <a:rPr lang="en-NZ" sz="3800" dirty="0"/>
              <a:t>Spare Time:</a:t>
            </a:r>
          </a:p>
        </p:txBody>
      </p:sp>
      <p:graphicFrame>
        <p:nvGraphicFramePr>
          <p:cNvPr id="11" name="Content Placeholder 2">
            <a:extLst>
              <a:ext uri="{FF2B5EF4-FFF2-40B4-BE49-F238E27FC236}">
                <a16:creationId xmlns:a16="http://schemas.microsoft.com/office/drawing/2014/main" id="{94EDD5F8-43B8-BD5E-27AD-751583A3DD2E}"/>
              </a:ext>
            </a:extLst>
          </p:cNvPr>
          <p:cNvGraphicFramePr>
            <a:graphicFrameLocks noGrp="1"/>
          </p:cNvGraphicFramePr>
          <p:nvPr>
            <p:ph idx="1"/>
            <p:extLst>
              <p:ext uri="{D42A27DB-BD31-4B8C-83A1-F6EECF244321}">
                <p14:modId xmlns:p14="http://schemas.microsoft.com/office/powerpoint/2010/main" val="250518545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57735DA3-EB60-3942-587C-6E303AFCA5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F1B000C-FB99-C251-A92D-9FFBE9E68D08}"/>
              </a:ext>
            </a:extLst>
          </p:cNvPr>
          <p:cNvSpPr txBox="1"/>
          <p:nvPr/>
        </p:nvSpPr>
        <p:spPr>
          <a:xfrm>
            <a:off x="1879600" y="417052"/>
            <a:ext cx="8469087" cy="461665"/>
          </a:xfrm>
          <a:prstGeom prst="rect">
            <a:avLst/>
          </a:prstGeom>
          <a:noFill/>
        </p:spPr>
        <p:txBody>
          <a:bodyPr wrap="square">
            <a:spAutoFit/>
          </a:bodyPr>
          <a:lstStyle/>
          <a:p>
            <a:pPr lvl="0"/>
            <a:r>
              <a:rPr lang="en-NZ" sz="2400" dirty="0">
                <a:hlinkClick r:id="rId8"/>
              </a:rPr>
              <a:t>1 = https://www.commonsense.org/education/digital-passport</a:t>
            </a:r>
            <a:r>
              <a:rPr lang="en-NZ" sz="2400" dirty="0"/>
              <a:t> </a:t>
            </a:r>
          </a:p>
        </p:txBody>
      </p:sp>
      <p:sp>
        <p:nvSpPr>
          <p:cNvPr id="6" name="TextBox 5">
            <a:extLst>
              <a:ext uri="{FF2B5EF4-FFF2-40B4-BE49-F238E27FC236}">
                <a16:creationId xmlns:a16="http://schemas.microsoft.com/office/drawing/2014/main" id="{6B789613-B21F-384C-3DCB-BFB9C8D28672}"/>
              </a:ext>
            </a:extLst>
          </p:cNvPr>
          <p:cNvSpPr txBox="1"/>
          <p:nvPr/>
        </p:nvSpPr>
        <p:spPr>
          <a:xfrm>
            <a:off x="2056406" y="1123010"/>
            <a:ext cx="7552052" cy="461665"/>
          </a:xfrm>
          <a:prstGeom prst="rect">
            <a:avLst/>
          </a:prstGeom>
          <a:noFill/>
        </p:spPr>
        <p:txBody>
          <a:bodyPr wrap="square">
            <a:spAutoFit/>
          </a:bodyPr>
          <a:lstStyle/>
          <a:p>
            <a:pPr lvl="0"/>
            <a:r>
              <a:rPr lang="en-NZ" sz="2400" dirty="0">
                <a:hlinkClick r:id="rId9"/>
              </a:rPr>
              <a:t>2 = https://www.pbs.org/wgbh/nova/labs/lab/cyber/</a:t>
            </a:r>
            <a:endParaRPr lang="en-NZ" sz="2400" dirty="0"/>
          </a:p>
        </p:txBody>
      </p:sp>
    </p:spTree>
    <p:extLst>
      <p:ext uri="{BB962C8B-B14F-4D97-AF65-F5344CB8AC3E}">
        <p14:creationId xmlns:p14="http://schemas.microsoft.com/office/powerpoint/2010/main" val="3772831536"/>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6628</TotalTime>
  <Words>3413</Words>
  <Application>Microsoft Office PowerPoint</Application>
  <PresentationFormat>Widescreen</PresentationFormat>
  <Paragraphs>286</Paragraphs>
  <Slides>38</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ADLaM Display</vt:lpstr>
      <vt:lpstr>Aptos</vt:lpstr>
      <vt:lpstr>Arial</vt:lpstr>
      <vt:lpstr>Bierstadt</vt:lpstr>
      <vt:lpstr>Grandview Display</vt:lpstr>
      <vt:lpstr>DashVTI</vt:lpstr>
      <vt:lpstr>Cyber Safety: Cyber Bullying and Digital Footprints</vt:lpstr>
      <vt:lpstr>News</vt:lpstr>
      <vt:lpstr>Questions?</vt:lpstr>
      <vt:lpstr>Agenda Overview: Cyber Safety Essentials</vt:lpstr>
      <vt:lpstr>WHAT?</vt:lpstr>
      <vt:lpstr>Recognising and Understanding Cyberbullying</vt:lpstr>
      <vt:lpstr>What is Cyber Bullying?</vt:lpstr>
      <vt:lpstr>Example:</vt:lpstr>
      <vt:lpstr>What is Cyber Bullying not?</vt:lpstr>
      <vt:lpstr>Activity:</vt:lpstr>
      <vt:lpstr>Where can Cyber Bullying happen?</vt:lpstr>
      <vt:lpstr>Common Forms of Cyberbullying (Social Media, Messaging Apps, Group Chats)</vt:lpstr>
      <vt:lpstr>Why can Cyber Bullying happen?</vt:lpstr>
      <vt:lpstr>Motivations Behind Cyberbullying and Its Emotional Impact</vt:lpstr>
      <vt:lpstr>Activity:</vt:lpstr>
      <vt:lpstr>Case Studies and Real-Life Examples of Cyberbullying</vt:lpstr>
      <vt:lpstr>Consequences of Cyberbullying: Lasting Effects and Outcomes</vt:lpstr>
      <vt:lpstr>The Lasting Lifetime of Online Messages and Actions</vt:lpstr>
      <vt:lpstr>Potential Outcomes for Victims: Emotional, Social, and Academic Impact</vt:lpstr>
      <vt:lpstr>Consider:</vt:lpstr>
      <vt:lpstr>Potential Outcomes for Attackers: Legal, Educational, and Personal Consequences</vt:lpstr>
      <vt:lpstr>Responding to and Preventing Cyberbullying</vt:lpstr>
      <vt:lpstr>Practical Steps: Blocking, Reporting, and Seeking Help</vt:lpstr>
      <vt:lpstr>Practical Steps: Blocking, Reporting, and Seeking Help</vt:lpstr>
      <vt:lpstr>How to Support Peers Who Are Being Targeted</vt:lpstr>
      <vt:lpstr>Activity:</vt:lpstr>
      <vt:lpstr>Understanding Your Digital Footprint</vt:lpstr>
      <vt:lpstr>What is your Digital Footprint?</vt:lpstr>
      <vt:lpstr>How Online Posts, Pictures, and Comments Can Be Permanent</vt:lpstr>
      <vt:lpstr>Activity:</vt:lpstr>
      <vt:lpstr>Who Can See Your Digital Footprint: Companies, Schools, and Strangers</vt:lpstr>
      <vt:lpstr>Real-World Consequences and Staying Safe Online</vt:lpstr>
      <vt:lpstr>Examples of Old Posts Resurfacing and Their Impact on Opportunities</vt:lpstr>
      <vt:lpstr>Tips for Managing Your Online Presence and Privacy Settings</vt:lpstr>
      <vt:lpstr>Building a Positive Digital Reputation and Making Informed Choices</vt:lpstr>
      <vt:lpstr>Conclusion: Empowering Yourself for Safe and Responsible Online Living</vt:lpstr>
      <vt:lpstr>Assignments:</vt:lpstr>
      <vt:lpstr>Spare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Fermanis</dc:creator>
  <cp:lastModifiedBy>William Fermanis</cp:lastModifiedBy>
  <cp:revision>1</cp:revision>
  <dcterms:created xsi:type="dcterms:W3CDTF">2025-07-24T23:02:44Z</dcterms:created>
  <dcterms:modified xsi:type="dcterms:W3CDTF">2025-07-29T13:30:47Z</dcterms:modified>
</cp:coreProperties>
</file>